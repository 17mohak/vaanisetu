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VaaniSetu means 'bridge of voice'. It turns a photo of any document into a spoken explanation in the listener's own language, built entirely on serverless Google Cloud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struggle with printed documents: people with low vision or the elderly, people with limited literacy, and people facing a language barrier. The cost of misunderstanding is high: a missed bill deadline or a wrong dosage.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experience is three steps: snap, understand, listen. The output includes a plain-language summary, key facts and action items with deadlines. Seven output languages are supported: English, Hindi, Spanish, French, German, Japanese and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in the Mumbai region, asia-south1, except API Gateway, which is not offered there and runs in Tokyo. The frontend is a static website on Cloud Storage. The browser calls API Gateway, which invokes a single Cloud Run function. The function orchestrates Cloud Vision, Gemini on Vertex AI, Text-to-Speech, Cloud Storage and Firestore. Service accounts restrict permissions and Cloud Logging records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single request. The photo never passes through the API: it goes straight to Cloud Storage with a signed URL. Cloud Vision is a cheap gate, so a blank photo never reaches Gemini. Gemini does the heavy lifting in one multimodal call. Text-to-Speech speaks it, and Firestore stores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for at least three cloud services; VaaniSetu uses eight core Google Cloud services plus IAM and Cloud Logging, and no Azure services. Every service is serverless or fully managed, so there is nothing to patch and no idle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Python on a Cloud Run function using Google's client libraries, including google-genai for Gemini. The frontend is plain HTML, CSS and JavaScript with no framework, which keeps it fast. Deployment is automated with the gcloud CLI from Cloud Shell, and the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choose the college notice sample, select Hindi and click 'Read it to me'. The tracker lights up Cloud Storage, Cloud Vision, Vertex AI, Text-to-Speech and Firestore, and the Hindi audio plays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cross-language understanding: the input is Hindi and the output is English. Cloud Vision reads Devanagari too, with 94% confidence on this bill, and Gemini explains it correctly, including reading the consumer number digit by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Google Cloud console screenshots of the real deployment: the Cloud Run function's request metrics, the active API Gateway, the MP3 files Text-to-Speech generated in Cloud Storage, and a stored record in Firestore.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Timings come from the function's own measurements, which the app shows under each result. Switching from Gemini 3.8 Flash to 3.5 Flash-Lite with thinking off cut the AI step from about 16 seconds to about 3.5. Because everything is pay-per-use, the app costs nothing when nobody is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 design goal from the start. The browser never holds Google credentials; it only receives short-lived signed URLs. Each component has its own service account with only the roles it needs. The instance cap, the budget alert and the Vision gate protect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constraints shaped the design. The AWS account was suspended, so the whole stack was rebuilt on Google Cloud service for service. Benchmarking six Gemini models found a version four times faster and cheaper. Signing URLs without a private key was solved with the IAM signBlob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achievement and the roadmap, then offer the live URL for anyone who wants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Likely viva topics: why serverless, how signed URLs work, how service-account least privilege works, why Cloud Vision runs before Gemini, why API Gateway is in Tokyo, and what happens if Gemini returns malformed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A17"/>
        </a:solidFill>
      </p:bgPr>
    </p:bg>
    <p:spTree>
      <p:nvGrpSpPr>
        <p:cNvPr id="1" name=""/>
        <p:cNvGrpSpPr/>
        <p:nvPr/>
      </p:nvGrpSpPr>
      <p:grpSpPr>
        <a:xfrm>
          <a:off x="0" y="0"/>
          <a:ext cx="0" cy="0"/>
          <a:chOff x="0" y="0"/>
          <a:chExt cx="0" cy="0"/>
        </a:xfrm>
      </p:grpSpPr>
      <p:sp>
        <p:nvSpPr>
          <p:cNvPr id="2" name="Shape 0"/>
          <p:cNvSpPr/>
          <p:nvPr/>
        </p:nvSpPr>
        <p:spPr>
          <a:xfrm>
            <a:off x="6675120" y="1760220"/>
            <a:ext cx="118872" cy="320040"/>
          </a:xfrm>
          <a:prstGeom prst="roundRect">
            <a:avLst>
              <a:gd name="adj" fmla="val 46154"/>
            </a:avLst>
          </a:prstGeom>
          <a:solidFill>
            <a:srgbClr val="C2410C"/>
          </a:solidFill>
          <a:ln/>
        </p:spPr>
      </p:sp>
      <p:sp>
        <p:nvSpPr>
          <p:cNvPr id="3" name="Shape 1"/>
          <p:cNvSpPr/>
          <p:nvPr/>
        </p:nvSpPr>
        <p:spPr>
          <a:xfrm>
            <a:off x="6912864" y="1554480"/>
            <a:ext cx="118872" cy="731520"/>
          </a:xfrm>
          <a:prstGeom prst="roundRect">
            <a:avLst>
              <a:gd name="adj" fmla="val 46154"/>
            </a:avLst>
          </a:prstGeom>
          <a:solidFill>
            <a:srgbClr val="E26A35"/>
          </a:solidFill>
          <a:ln/>
        </p:spPr>
      </p:sp>
      <p:sp>
        <p:nvSpPr>
          <p:cNvPr id="4" name="Shape 2"/>
          <p:cNvSpPr/>
          <p:nvPr/>
        </p:nvSpPr>
        <p:spPr>
          <a:xfrm>
            <a:off x="7150608" y="1325880"/>
            <a:ext cx="118872" cy="1188720"/>
          </a:xfrm>
          <a:prstGeom prst="roundRect">
            <a:avLst>
              <a:gd name="adj" fmla="val 46154"/>
            </a:avLst>
          </a:prstGeom>
          <a:solidFill>
            <a:srgbClr val="C2410C"/>
          </a:solidFill>
          <a:ln/>
        </p:spPr>
      </p:sp>
      <p:sp>
        <p:nvSpPr>
          <p:cNvPr id="5" name="Shape 3"/>
          <p:cNvSpPr/>
          <p:nvPr/>
        </p:nvSpPr>
        <p:spPr>
          <a:xfrm>
            <a:off x="7388352" y="1508760"/>
            <a:ext cx="118872" cy="822960"/>
          </a:xfrm>
          <a:prstGeom prst="roundRect">
            <a:avLst>
              <a:gd name="adj" fmla="val 46154"/>
            </a:avLst>
          </a:prstGeom>
          <a:solidFill>
            <a:srgbClr val="E26A35"/>
          </a:solidFill>
          <a:ln/>
        </p:spPr>
      </p:sp>
      <p:sp>
        <p:nvSpPr>
          <p:cNvPr id="6" name="Shape 4"/>
          <p:cNvSpPr/>
          <p:nvPr/>
        </p:nvSpPr>
        <p:spPr>
          <a:xfrm>
            <a:off x="7626096" y="1188720"/>
            <a:ext cx="118872" cy="1463040"/>
          </a:xfrm>
          <a:prstGeom prst="roundRect">
            <a:avLst>
              <a:gd name="adj" fmla="val 46154"/>
            </a:avLst>
          </a:prstGeom>
          <a:solidFill>
            <a:srgbClr val="C2410C"/>
          </a:solidFill>
          <a:ln/>
        </p:spPr>
      </p:sp>
      <p:sp>
        <p:nvSpPr>
          <p:cNvPr id="7" name="Shape 5"/>
          <p:cNvSpPr/>
          <p:nvPr/>
        </p:nvSpPr>
        <p:spPr>
          <a:xfrm>
            <a:off x="7863840" y="1417320"/>
            <a:ext cx="118872" cy="1005840"/>
          </a:xfrm>
          <a:prstGeom prst="roundRect">
            <a:avLst>
              <a:gd name="adj" fmla="val 46154"/>
            </a:avLst>
          </a:prstGeom>
          <a:solidFill>
            <a:srgbClr val="E26A35"/>
          </a:solidFill>
          <a:ln/>
        </p:spPr>
      </p:sp>
      <p:sp>
        <p:nvSpPr>
          <p:cNvPr id="8" name="Shape 6"/>
          <p:cNvSpPr/>
          <p:nvPr/>
        </p:nvSpPr>
        <p:spPr>
          <a:xfrm>
            <a:off x="8101584" y="1645920"/>
            <a:ext cx="118872" cy="548640"/>
          </a:xfrm>
          <a:prstGeom prst="roundRect">
            <a:avLst>
              <a:gd name="adj" fmla="val 46154"/>
            </a:avLst>
          </a:prstGeom>
          <a:solidFill>
            <a:srgbClr val="C2410C"/>
          </a:solidFill>
          <a:ln/>
        </p:spPr>
      </p:sp>
      <p:sp>
        <p:nvSpPr>
          <p:cNvPr id="9" name="Shape 7"/>
          <p:cNvSpPr/>
          <p:nvPr/>
        </p:nvSpPr>
        <p:spPr>
          <a:xfrm>
            <a:off x="8339328" y="1463040"/>
            <a:ext cx="118872" cy="914400"/>
          </a:xfrm>
          <a:prstGeom prst="roundRect">
            <a:avLst>
              <a:gd name="adj" fmla="val 46154"/>
            </a:avLst>
          </a:prstGeom>
          <a:solidFill>
            <a:srgbClr val="E26A35"/>
          </a:solidFill>
          <a:ln/>
        </p:spPr>
      </p:sp>
      <p:sp>
        <p:nvSpPr>
          <p:cNvPr id="10" name="Shape 8"/>
          <p:cNvSpPr/>
          <p:nvPr/>
        </p:nvSpPr>
        <p:spPr>
          <a:xfrm>
            <a:off x="8577072" y="1714500"/>
            <a:ext cx="118872" cy="411480"/>
          </a:xfrm>
          <a:prstGeom prst="roundRect">
            <a:avLst>
              <a:gd name="adj" fmla="val 46154"/>
            </a:avLst>
          </a:prstGeom>
          <a:solidFill>
            <a:srgbClr val="C2410C"/>
          </a:solidFill>
          <a:ln/>
        </p:spPr>
      </p:sp>
      <p:sp>
        <p:nvSpPr>
          <p:cNvPr id="11" name="Text 9"/>
          <p:cNvSpPr txBox="1"/>
          <p:nvPr/>
        </p:nvSpPr>
        <p:spPr>
          <a:xfrm>
            <a:off x="548640" y="640080"/>
            <a:ext cx="5486400" cy="320040"/>
          </a:xfrm>
          <a:prstGeom prst="rect">
            <a:avLst/>
          </a:prstGeom>
          <a:noFill/>
          <a:ln/>
        </p:spPr>
        <p:txBody>
          <a:bodyPr wrap="square" lIns="0" tIns="0" rIns="0" bIns="0" rtlCol="0" anchor="ctr"/>
          <a:lstStyle/>
          <a:p>
            <a:pPr indent="0" marL="0">
              <a:buNone/>
            </a:pPr>
            <a:r>
              <a:rPr lang="en-US" sz="1400" dirty="0">
                <a:solidFill>
                  <a:srgbClr val="F4A57C"/>
                </a:solidFill>
                <a:latin typeface="Calibri" pitchFamily="34" charset="0"/>
                <a:ea typeface="Calibri" pitchFamily="34" charset="-122"/>
                <a:cs typeface="Calibri" pitchFamily="34" charset="-120"/>
              </a:rPr>
              <a:t>वाणी सेतु  ·  a bridge of voice</a:t>
            </a:r>
            <a:endParaRPr lang="en-US" sz="1400" dirty="0"/>
          </a:p>
        </p:txBody>
      </p:sp>
      <p:sp>
        <p:nvSpPr>
          <p:cNvPr id="12" name="Text 10"/>
          <p:cNvSpPr txBox="1"/>
          <p:nvPr/>
        </p:nvSpPr>
        <p:spPr>
          <a:xfrm>
            <a:off x="548640" y="1005840"/>
            <a:ext cx="5943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VaaniSetu</a:t>
            </a:r>
            <a:endParaRPr lang="en-US" sz="5400" dirty="0"/>
          </a:p>
        </p:txBody>
      </p:sp>
      <p:sp>
        <p:nvSpPr>
          <p:cNvPr id="13" name="Text 11"/>
          <p:cNvSpPr txBox="1"/>
          <p:nvPr/>
        </p:nvSpPr>
        <p:spPr>
          <a:xfrm>
            <a:off x="548640" y="1920240"/>
            <a:ext cx="5943600" cy="457200"/>
          </a:xfrm>
          <a:prstGeom prst="rect">
            <a:avLst/>
          </a:prstGeom>
          <a:noFill/>
          <a:ln/>
        </p:spPr>
        <p:txBody>
          <a:bodyPr wrap="square" lIns="0" tIns="0" rIns="0" bIns="0" rtlCol="0" anchor="ctr"/>
          <a:lstStyle/>
          <a:p>
            <a:pPr indent="0" marL="0">
              <a:buNone/>
            </a:pPr>
            <a:r>
              <a:rPr lang="en-US" sz="1800" dirty="0">
                <a:solidFill>
                  <a:srgbClr val="E5E7EB"/>
                </a:solidFill>
                <a:latin typeface="Calibri" pitchFamily="34" charset="0"/>
                <a:ea typeface="Calibri" pitchFamily="34" charset="-122"/>
                <a:cs typeface="Calibri" pitchFamily="34" charset="-120"/>
              </a:rPr>
              <a:t>A multilingual AI document reader on Google Cloud</a:t>
            </a:r>
            <a:endParaRPr lang="en-US" sz="1800" dirty="0"/>
          </a:p>
        </p:txBody>
      </p:sp>
      <p:sp>
        <p:nvSpPr>
          <p:cNvPr id="14" name="Text 12"/>
          <p:cNvSpPr txBox="1"/>
          <p:nvPr/>
        </p:nvSpPr>
        <p:spPr>
          <a:xfrm>
            <a:off x="548640" y="2423160"/>
            <a:ext cx="5852160" cy="502920"/>
          </a:xfrm>
          <a:prstGeom prst="rect">
            <a:avLst/>
          </a:prstGeom>
          <a:noFill/>
          <a:ln/>
        </p:spPr>
        <p:txBody>
          <a:bodyPr wrap="square" lIns="0" tIns="0" rIns="0" bIns="0" rtlCol="0" anchor="t"/>
          <a:lstStyle/>
          <a:p>
            <a:pPr indent="0" marL="0">
              <a:buNone/>
            </a:pPr>
            <a:r>
              <a:rPr lang="en-US" sz="1100" dirty="0">
                <a:solidFill>
                  <a:srgbClr val="9CA3AF"/>
                </a:solidFill>
                <a:latin typeface="Calibri" pitchFamily="34" charset="0"/>
                <a:ea typeface="Calibri" pitchFamily="34" charset="-122"/>
                <a:cs typeface="Calibri" pitchFamily="34" charset="-120"/>
              </a:rPr>
              <a:t>Vertex AI Gemini  ·  Cloud Vision  ·  Text-to-Speech  ·  Cloud Run functions  ·  API Gateway  ·  Cloud Storage  ·  Firestore</a:t>
            </a:r>
            <a:endParaRPr lang="en-US" sz="1100" dirty="0"/>
          </a:p>
        </p:txBody>
      </p:sp>
      <p:sp>
        <p:nvSpPr>
          <p:cNvPr id="15" name="Text 13"/>
          <p:cNvSpPr txBox="1"/>
          <p:nvPr/>
        </p:nvSpPr>
        <p:spPr>
          <a:xfrm>
            <a:off x="548640" y="3383280"/>
            <a:ext cx="8046720" cy="1005840"/>
          </a:xfrm>
          <a:prstGeom prst="rect">
            <a:avLst/>
          </a:prstGeom>
          <a:noFill/>
          <a:ln/>
        </p:spPr>
        <p:txBody>
          <a:bodyPr wrap="square" lIns="0" tIns="0" rIns="0" bIns="0" rtlCol="0" anchor="ctr"/>
          <a:lstStyle/>
          <a:p>
            <a:pPr indent="0" marL="0">
              <a:spcAft>
                <a:spcPts val="400"/>
              </a:spcAft>
              <a:buNone/>
            </a:pPr>
            <a:r>
              <a:rPr lang="en-US" sz="1200" b="1" dirty="0">
                <a:solidFill>
                  <a:srgbClr val="FFFFFF"/>
                </a:solidFill>
                <a:latin typeface="Calibri" pitchFamily="34" charset="0"/>
                <a:ea typeface="Calibri" pitchFamily="34" charset="-122"/>
                <a:cs typeface="Calibri" pitchFamily="34" charset="-120"/>
              </a:rPr>
              <a:t>Presented by: </a:t>
            </a:r>
            <a:pPr indent="0" marL="0">
              <a:spcAft>
                <a:spcPts val="400"/>
              </a:spcAft>
              <a:buNone/>
            </a:pPr>
            <a:r>
              <a:rPr lang="en-US" sz="1200" dirty="0">
                <a:solidFill>
                  <a:srgbClr val="D1D5DB"/>
                </a:solidFill>
                <a:latin typeface="Calibri" pitchFamily="34" charset="0"/>
                <a:ea typeface="Calibri" pitchFamily="34" charset="-122"/>
                <a:cs typeface="Calibri" pitchFamily="34" charset="-120"/>
              </a:rPr>
              <a:t>Mohak Mandwani (App ID: 2406506)</a:t>
            </a:r>
            <a:endParaRPr lang="en-US" sz="1200" dirty="0"/>
          </a:p>
          <a:p>
            <a:pPr indent="0" marL="0">
              <a:spcAft>
                <a:spcPts val="400"/>
              </a:spcAft>
              <a:buNone/>
            </a:pPr>
            <a:r>
              <a:rPr lang="en-US" sz="1200" b="1" dirty="0">
                <a:solidFill>
                  <a:srgbClr val="FFFFFF"/>
                </a:solidFill>
                <a:latin typeface="Calibri" pitchFamily="34" charset="0"/>
                <a:ea typeface="Calibri" pitchFamily="34" charset="-122"/>
                <a:cs typeface="Calibri" pitchFamily="34" charset="-120"/>
              </a:rPr>
              <a:t>Supervisor: </a:t>
            </a:r>
            <a:pPr indent="0" marL="0">
              <a:spcAft>
                <a:spcPts val="400"/>
              </a:spcAft>
              <a:buNone/>
            </a:pPr>
            <a:r>
              <a:rPr lang="en-US" sz="1200" dirty="0">
                <a:solidFill>
                  <a:srgbClr val="D1D5DB"/>
                </a:solidFill>
                <a:latin typeface="Calibri" pitchFamily="34" charset="0"/>
                <a:ea typeface="Calibri" pitchFamily="34" charset="-122"/>
                <a:cs typeface="Calibri" pitchFamily="34" charset="-120"/>
              </a:rPr>
              <a:t>Dr. Kunal Meher (Assistant Professor)</a:t>
            </a:r>
            <a:endParaRPr lang="en-US" sz="1200" dirty="0"/>
          </a:p>
          <a:p>
            <a:pPr indent="0" marL="0">
              <a:spcAft>
                <a:spcPts val="400"/>
              </a:spcAft>
              <a:buNone/>
            </a:pPr>
            <a:r>
              <a:rPr lang="en-US" sz="1200" dirty="0">
                <a:solidFill>
                  <a:srgbClr val="D1D5DB"/>
                </a:solidFill>
                <a:latin typeface="Calibri" pitchFamily="34" charset="0"/>
                <a:ea typeface="Calibri" pitchFamily="34" charset="-122"/>
                <a:cs typeface="Calibri" pitchFamily="34" charset="-120"/>
              </a:rPr>
              <a:t>Cloud Application Development (CAP 303)  ·  TY B.Tech Sem V  ·  uGDX School of Technology  ·  AY 2026-27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The problem</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B524B"/>
                </a:solidFill>
                <a:latin typeface="Calibri" pitchFamily="34" charset="0"/>
                <a:ea typeface="Calibri" pitchFamily="34" charset="-122"/>
                <a:cs typeface="Calibri" pitchFamily="34" charset="-120"/>
              </a:rPr>
              <a:t>Everyday life runs on paper, but not everyone can read it comfortably</a:t>
            </a:r>
            <a:endParaRPr lang="en-US" sz="1400" dirty="0"/>
          </a:p>
        </p:txBody>
      </p:sp>
      <p:sp>
        <p:nvSpPr>
          <p:cNvPr id="4" name="Shape 2"/>
          <p:cNvSpPr/>
          <p:nvPr/>
        </p:nvSpPr>
        <p:spPr>
          <a:xfrm>
            <a:off x="457200" y="1463040"/>
            <a:ext cx="2606040" cy="3017520"/>
          </a:xfrm>
          <a:prstGeom prst="roundRect">
            <a:avLst>
              <a:gd name="adj" fmla="val 4211"/>
            </a:avLst>
          </a:prstGeom>
          <a:solidFill>
            <a:srgbClr val="F3F4F6"/>
          </a:solidFill>
          <a:ln/>
        </p:spPr>
      </p:sp>
      <p:sp>
        <p:nvSpPr>
          <p:cNvPr id="5" name="Shape 3"/>
          <p:cNvSpPr/>
          <p:nvPr/>
        </p:nvSpPr>
        <p:spPr>
          <a:xfrm>
            <a:off x="731520" y="1737360"/>
            <a:ext cx="685800" cy="685800"/>
          </a:xfrm>
          <a:prstGeom prst="ellipse">
            <a:avLst/>
          </a:prstGeom>
          <a:solidFill>
            <a:srgbClr val="FBE6D9"/>
          </a:solidFill>
          <a:ln w="12700">
            <a:solidFill>
              <a:srgbClr val="FBE6D9"/>
            </a:solidFill>
            <a:prstDash val="solid"/>
          </a:ln>
        </p:spPr>
      </p:sp>
      <p:pic>
        <p:nvPicPr>
          <p:cNvPr id="6" name="Image 0" descr="preencoded.png">    </p:cNvPr>
          <p:cNvPicPr>
            <a:picLocks noChangeAspect="1"/>
          </p:cNvPicPr>
          <p:nvPr/>
        </p:nvPicPr>
        <p:blipFill>
          <a:blip r:embed="rId1"/>
          <a:stretch>
            <a:fillRect/>
          </a:stretch>
        </p:blipFill>
        <p:spPr>
          <a:xfrm>
            <a:off x="909828" y="1915668"/>
            <a:ext cx="329184" cy="329184"/>
          </a:xfrm>
          <a:prstGeom prst="rect">
            <a:avLst/>
          </a:prstGeom>
        </p:spPr>
      </p:pic>
      <p:sp>
        <p:nvSpPr>
          <p:cNvPr id="7" name="Text 4"/>
          <p:cNvSpPr txBox="1"/>
          <p:nvPr/>
        </p:nvSpPr>
        <p:spPr>
          <a:xfrm>
            <a:off x="731520" y="2560320"/>
            <a:ext cx="2148840" cy="411480"/>
          </a:xfrm>
          <a:prstGeom prst="rect">
            <a:avLst/>
          </a:prstGeom>
          <a:noFill/>
          <a:ln/>
        </p:spPr>
        <p:txBody>
          <a:bodyPr wrap="square" lIns="0" tIns="0" rIns="0" bIns="0" rtlCol="0" anchor="ctr"/>
          <a:lstStyle/>
          <a:p>
            <a:pPr indent="0" marL="0">
              <a:buNone/>
            </a:pPr>
            <a:r>
              <a:rPr lang="en-US" sz="1700" b="1" dirty="0">
                <a:solidFill>
                  <a:srgbClr val="1F1A17"/>
                </a:solidFill>
                <a:latin typeface="Cambria" pitchFamily="34" charset="0"/>
                <a:ea typeface="Cambria" pitchFamily="34" charset="-122"/>
                <a:cs typeface="Cambria" pitchFamily="34" charset="-120"/>
              </a:rPr>
              <a:t>Low vision &amp; elderly</a:t>
            </a:r>
            <a:endParaRPr lang="en-US" sz="1700" dirty="0"/>
          </a:p>
        </p:txBody>
      </p:sp>
      <p:sp>
        <p:nvSpPr>
          <p:cNvPr id="8" name="Text 5"/>
          <p:cNvSpPr txBox="1"/>
          <p:nvPr/>
        </p:nvSpPr>
        <p:spPr>
          <a:xfrm>
            <a:off x="731520" y="3017520"/>
            <a:ext cx="2148840" cy="1280160"/>
          </a:xfrm>
          <a:prstGeom prst="rect">
            <a:avLst/>
          </a:prstGeom>
          <a:noFill/>
          <a:ln/>
        </p:spPr>
        <p:txBody>
          <a:bodyPr wrap="square" lIns="0" tIns="0" rIns="0" bIns="0" rtlCol="0" anchor="t"/>
          <a:lstStyle/>
          <a:p>
            <a:pPr indent="0" marL="0">
              <a:buNone/>
            </a:pPr>
            <a:r>
              <a:rPr lang="en-US" sz="1300" dirty="0">
                <a:solidFill>
                  <a:srgbClr val="5B524B"/>
                </a:solidFill>
                <a:latin typeface="Calibri" pitchFamily="34" charset="0"/>
                <a:ea typeface="Calibri" pitchFamily="34" charset="-122"/>
                <a:cs typeface="Calibri" pitchFamily="34" charset="-120"/>
              </a:rPr>
              <a:t>Small print on prescriptions and bills is hard to read, and mistakes with doses or due dates have real consequences.</a:t>
            </a:r>
            <a:endParaRPr lang="en-US" sz="1300" dirty="0"/>
          </a:p>
        </p:txBody>
      </p:sp>
      <p:sp>
        <p:nvSpPr>
          <p:cNvPr id="9" name="Shape 6"/>
          <p:cNvSpPr/>
          <p:nvPr/>
        </p:nvSpPr>
        <p:spPr>
          <a:xfrm>
            <a:off x="3246120" y="1463040"/>
            <a:ext cx="2606040" cy="3017520"/>
          </a:xfrm>
          <a:prstGeom prst="roundRect">
            <a:avLst>
              <a:gd name="adj" fmla="val 4211"/>
            </a:avLst>
          </a:prstGeom>
          <a:solidFill>
            <a:srgbClr val="F3F4F6"/>
          </a:solidFill>
          <a:ln/>
        </p:spPr>
      </p:sp>
      <p:sp>
        <p:nvSpPr>
          <p:cNvPr id="10" name="Shape 7"/>
          <p:cNvSpPr/>
          <p:nvPr/>
        </p:nvSpPr>
        <p:spPr>
          <a:xfrm>
            <a:off x="3520440" y="1737360"/>
            <a:ext cx="685800" cy="685800"/>
          </a:xfrm>
          <a:prstGeom prst="ellipse">
            <a:avLst/>
          </a:prstGeom>
          <a:solidFill>
            <a:srgbClr val="FBE6D9"/>
          </a:solidFill>
          <a:ln w="12700">
            <a:solidFill>
              <a:srgbClr val="FBE6D9"/>
            </a:solidFill>
            <a:prstDash val="solid"/>
          </a:ln>
        </p:spPr>
      </p:sp>
      <p:pic>
        <p:nvPicPr>
          <p:cNvPr id="11" name="Image 1" descr="preencoded.png">    </p:cNvPr>
          <p:cNvPicPr>
            <a:picLocks noChangeAspect="1"/>
          </p:cNvPicPr>
          <p:nvPr/>
        </p:nvPicPr>
        <p:blipFill>
          <a:blip r:embed="rId2"/>
          <a:stretch>
            <a:fillRect/>
          </a:stretch>
        </p:blipFill>
        <p:spPr>
          <a:xfrm>
            <a:off x="3698748" y="1915668"/>
            <a:ext cx="329184" cy="329184"/>
          </a:xfrm>
          <a:prstGeom prst="rect">
            <a:avLst/>
          </a:prstGeom>
        </p:spPr>
      </p:pic>
      <p:sp>
        <p:nvSpPr>
          <p:cNvPr id="12" name="Text 8"/>
          <p:cNvSpPr txBox="1"/>
          <p:nvPr/>
        </p:nvSpPr>
        <p:spPr>
          <a:xfrm>
            <a:off x="3520440" y="2560320"/>
            <a:ext cx="2148840" cy="411480"/>
          </a:xfrm>
          <a:prstGeom prst="rect">
            <a:avLst/>
          </a:prstGeom>
          <a:noFill/>
          <a:ln/>
        </p:spPr>
        <p:txBody>
          <a:bodyPr wrap="square" lIns="0" tIns="0" rIns="0" bIns="0" rtlCol="0" anchor="ctr"/>
          <a:lstStyle/>
          <a:p>
            <a:pPr indent="0" marL="0">
              <a:buNone/>
            </a:pPr>
            <a:r>
              <a:rPr lang="en-US" sz="1700" b="1" dirty="0">
                <a:solidFill>
                  <a:srgbClr val="1F1A17"/>
                </a:solidFill>
                <a:latin typeface="Cambria" pitchFamily="34" charset="0"/>
                <a:ea typeface="Cambria" pitchFamily="34" charset="-122"/>
                <a:cs typeface="Cambria" pitchFamily="34" charset="-120"/>
              </a:rPr>
              <a:t>Limited literacy</a:t>
            </a:r>
            <a:endParaRPr lang="en-US" sz="1700" dirty="0"/>
          </a:p>
        </p:txBody>
      </p:sp>
      <p:sp>
        <p:nvSpPr>
          <p:cNvPr id="13" name="Text 9"/>
          <p:cNvSpPr txBox="1"/>
          <p:nvPr/>
        </p:nvSpPr>
        <p:spPr>
          <a:xfrm>
            <a:off x="3520440" y="3017520"/>
            <a:ext cx="2148840" cy="1280160"/>
          </a:xfrm>
          <a:prstGeom prst="rect">
            <a:avLst/>
          </a:prstGeom>
          <a:noFill/>
          <a:ln/>
        </p:spPr>
        <p:txBody>
          <a:bodyPr wrap="square" lIns="0" tIns="0" rIns="0" bIns="0" rtlCol="0" anchor="t"/>
          <a:lstStyle/>
          <a:p>
            <a:pPr indent="0" marL="0">
              <a:buNone/>
            </a:pPr>
            <a:r>
              <a:rPr lang="en-US" sz="1300" dirty="0">
                <a:solidFill>
                  <a:srgbClr val="5B524B"/>
                </a:solidFill>
                <a:latin typeface="Calibri" pitchFamily="34" charset="0"/>
                <a:ea typeface="Calibri" pitchFamily="34" charset="-122"/>
                <a:cs typeface="Calibri" pitchFamily="34" charset="-120"/>
              </a:rPr>
              <a:t>Official notices and forms use formal, technical language that is hard to understand even when it can be read.</a:t>
            </a:r>
            <a:endParaRPr lang="en-US" sz="1300" dirty="0"/>
          </a:p>
        </p:txBody>
      </p:sp>
      <p:sp>
        <p:nvSpPr>
          <p:cNvPr id="14" name="Shape 10"/>
          <p:cNvSpPr/>
          <p:nvPr/>
        </p:nvSpPr>
        <p:spPr>
          <a:xfrm>
            <a:off x="6035040" y="1463040"/>
            <a:ext cx="2606040" cy="3017520"/>
          </a:xfrm>
          <a:prstGeom prst="roundRect">
            <a:avLst>
              <a:gd name="adj" fmla="val 4211"/>
            </a:avLst>
          </a:prstGeom>
          <a:solidFill>
            <a:srgbClr val="F3F4F6"/>
          </a:solidFill>
          <a:ln/>
        </p:spPr>
      </p:sp>
      <p:sp>
        <p:nvSpPr>
          <p:cNvPr id="15" name="Shape 11"/>
          <p:cNvSpPr/>
          <p:nvPr/>
        </p:nvSpPr>
        <p:spPr>
          <a:xfrm>
            <a:off x="6309360" y="1737360"/>
            <a:ext cx="685800" cy="685800"/>
          </a:xfrm>
          <a:prstGeom prst="ellipse">
            <a:avLst/>
          </a:prstGeom>
          <a:solidFill>
            <a:srgbClr val="FBE6D9"/>
          </a:solidFill>
          <a:ln w="12700">
            <a:solidFill>
              <a:srgbClr val="FBE6D9"/>
            </a:solidFill>
            <a:prstDash val="solid"/>
          </a:ln>
        </p:spPr>
      </p:sp>
      <p:pic>
        <p:nvPicPr>
          <p:cNvPr id="16" name="Image 2" descr="preencoded.png">    </p:cNvPr>
          <p:cNvPicPr>
            <a:picLocks noChangeAspect="1"/>
          </p:cNvPicPr>
          <p:nvPr/>
        </p:nvPicPr>
        <p:blipFill>
          <a:blip r:embed="rId3"/>
          <a:stretch>
            <a:fillRect/>
          </a:stretch>
        </p:blipFill>
        <p:spPr>
          <a:xfrm>
            <a:off x="6487668" y="1915668"/>
            <a:ext cx="329184" cy="329184"/>
          </a:xfrm>
          <a:prstGeom prst="rect">
            <a:avLst/>
          </a:prstGeom>
        </p:spPr>
      </p:pic>
      <p:sp>
        <p:nvSpPr>
          <p:cNvPr id="17" name="Text 12"/>
          <p:cNvSpPr txBox="1"/>
          <p:nvPr/>
        </p:nvSpPr>
        <p:spPr>
          <a:xfrm>
            <a:off x="6309360" y="2560320"/>
            <a:ext cx="2148840" cy="411480"/>
          </a:xfrm>
          <a:prstGeom prst="rect">
            <a:avLst/>
          </a:prstGeom>
          <a:noFill/>
          <a:ln/>
        </p:spPr>
        <p:txBody>
          <a:bodyPr wrap="square" lIns="0" tIns="0" rIns="0" bIns="0" rtlCol="0" anchor="ctr"/>
          <a:lstStyle/>
          <a:p>
            <a:pPr indent="0" marL="0">
              <a:buNone/>
            </a:pPr>
            <a:r>
              <a:rPr lang="en-US" sz="1700" b="1" dirty="0">
                <a:solidFill>
                  <a:srgbClr val="1F1A17"/>
                </a:solidFill>
                <a:latin typeface="Cambria" pitchFamily="34" charset="0"/>
                <a:ea typeface="Cambria" pitchFamily="34" charset="-122"/>
                <a:cs typeface="Cambria" pitchFamily="34" charset="-120"/>
              </a:rPr>
              <a:t>Language barrier</a:t>
            </a:r>
            <a:endParaRPr lang="en-US" sz="1700" dirty="0"/>
          </a:p>
        </p:txBody>
      </p:sp>
      <p:sp>
        <p:nvSpPr>
          <p:cNvPr id="18" name="Text 13"/>
          <p:cNvSpPr txBox="1"/>
          <p:nvPr/>
        </p:nvSpPr>
        <p:spPr>
          <a:xfrm>
            <a:off x="6309360" y="3017520"/>
            <a:ext cx="2148840" cy="1280160"/>
          </a:xfrm>
          <a:prstGeom prst="rect">
            <a:avLst/>
          </a:prstGeom>
          <a:noFill/>
          <a:ln/>
        </p:spPr>
        <p:txBody>
          <a:bodyPr wrap="square" lIns="0" tIns="0" rIns="0" bIns="0" rtlCol="0" anchor="t"/>
          <a:lstStyle/>
          <a:p>
            <a:pPr indent="0" marL="0">
              <a:buNone/>
            </a:pPr>
            <a:r>
              <a:rPr lang="en-US" sz="1300" dirty="0">
                <a:solidFill>
                  <a:srgbClr val="5B524B"/>
                </a:solidFill>
                <a:latin typeface="Calibri" pitchFamily="34" charset="0"/>
                <a:ea typeface="Calibri" pitchFamily="34" charset="-122"/>
                <a:cs typeface="Calibri" pitchFamily="34" charset="-120"/>
              </a:rPr>
              <a:t>Migrants and students often receive documents in a language they do not read, such as a Hindi bill for a non-Hindi reader.</a:t>
            </a:r>
            <a:endParaRPr lang="en-US" sz="1300" dirty="0"/>
          </a:p>
        </p:txBody>
      </p:sp>
      <p:sp>
        <p:nvSpPr>
          <p:cNvPr id="19" name="Text 14"/>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Our solution: VaaniSetu</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B524B"/>
                </a:solidFill>
                <a:latin typeface="Calibri" pitchFamily="34" charset="0"/>
                <a:ea typeface="Calibri" pitchFamily="34" charset="-122"/>
                <a:cs typeface="Calibri" pitchFamily="34" charset="-120"/>
              </a:rPr>
              <a:t>Photograph a document and hear it explained in your language in about 10 seconds</a:t>
            </a:r>
            <a:endParaRPr lang="en-US" sz="1400" dirty="0"/>
          </a:p>
        </p:txBody>
      </p:sp>
      <p:sp>
        <p:nvSpPr>
          <p:cNvPr id="4" name="Shape 2"/>
          <p:cNvSpPr/>
          <p:nvPr/>
        </p:nvSpPr>
        <p:spPr>
          <a:xfrm>
            <a:off x="457200" y="1463040"/>
            <a:ext cx="640080" cy="640080"/>
          </a:xfrm>
          <a:prstGeom prst="ellipse">
            <a:avLst/>
          </a:prstGeom>
          <a:solidFill>
            <a:srgbClr val="C2410C"/>
          </a:solidFill>
          <a:ln w="12700">
            <a:solidFill>
              <a:srgbClr val="C2410C"/>
            </a:solidFill>
            <a:prstDash val="solid"/>
          </a:ln>
        </p:spPr>
      </p:sp>
      <p:pic>
        <p:nvPicPr>
          <p:cNvPr id="5" name="Image 0" descr="preencoded.png">    </p:cNvPr>
          <p:cNvPicPr>
            <a:picLocks noChangeAspect="1"/>
          </p:cNvPicPr>
          <p:nvPr/>
        </p:nvPicPr>
        <p:blipFill>
          <a:blip r:embed="rId1"/>
          <a:stretch>
            <a:fillRect/>
          </a:stretch>
        </p:blipFill>
        <p:spPr>
          <a:xfrm>
            <a:off x="623621" y="1629461"/>
            <a:ext cx="307238" cy="307238"/>
          </a:xfrm>
          <a:prstGeom prst="rect">
            <a:avLst/>
          </a:prstGeom>
        </p:spPr>
      </p:pic>
      <p:sp>
        <p:nvSpPr>
          <p:cNvPr id="6" name="Text 3"/>
          <p:cNvSpPr txBox="1"/>
          <p:nvPr/>
        </p:nvSpPr>
        <p:spPr>
          <a:xfrm>
            <a:off x="1280160" y="1481328"/>
            <a:ext cx="2560320" cy="320040"/>
          </a:xfrm>
          <a:prstGeom prst="rect">
            <a:avLst/>
          </a:prstGeom>
          <a:noFill/>
          <a:ln/>
        </p:spPr>
        <p:txBody>
          <a:bodyPr wrap="square" lIns="0" tIns="0" rIns="0" bIns="0" rtlCol="0" anchor="ctr"/>
          <a:lstStyle/>
          <a:p>
            <a:pPr indent="0" marL="0">
              <a:buNone/>
            </a:pPr>
            <a:r>
              <a:rPr lang="en-US" sz="1700" b="1" dirty="0">
                <a:solidFill>
                  <a:srgbClr val="1F1A17"/>
                </a:solidFill>
                <a:latin typeface="Cambria" pitchFamily="34" charset="0"/>
                <a:ea typeface="Cambria" pitchFamily="34" charset="-122"/>
                <a:cs typeface="Cambria" pitchFamily="34" charset="-120"/>
              </a:rPr>
              <a:t>Snap</a:t>
            </a:r>
            <a:endParaRPr lang="en-US" sz="1700" dirty="0"/>
          </a:p>
        </p:txBody>
      </p:sp>
      <p:sp>
        <p:nvSpPr>
          <p:cNvPr id="7" name="Text 4"/>
          <p:cNvSpPr txBox="1"/>
          <p:nvPr/>
        </p:nvSpPr>
        <p:spPr>
          <a:xfrm>
            <a:off x="1280160" y="1792224"/>
            <a:ext cx="2560320" cy="457200"/>
          </a:xfrm>
          <a:prstGeom prst="rect">
            <a:avLst/>
          </a:prstGeom>
          <a:noFill/>
          <a:ln/>
        </p:spPr>
        <p:txBody>
          <a:bodyPr wrap="square" lIns="0" tIns="0" rIns="0" bIns="0" rtlCol="0" anchor="t"/>
          <a:lstStyle/>
          <a:p>
            <a:pPr indent="0" marL="0">
              <a:buNone/>
            </a:pPr>
            <a:r>
              <a:rPr lang="en-US" sz="1250" dirty="0">
                <a:solidFill>
                  <a:srgbClr val="5B524B"/>
                </a:solidFill>
                <a:latin typeface="Calibri" pitchFamily="34" charset="0"/>
                <a:ea typeface="Calibri" pitchFamily="34" charset="-122"/>
                <a:cs typeface="Calibri" pitchFamily="34" charset="-120"/>
              </a:rPr>
              <a:t>Take a photo of a prescription, bill, notice or form</a:t>
            </a:r>
            <a:endParaRPr lang="en-US" sz="1250" dirty="0"/>
          </a:p>
        </p:txBody>
      </p:sp>
      <p:sp>
        <p:nvSpPr>
          <p:cNvPr id="8" name="Shape 5"/>
          <p:cNvSpPr/>
          <p:nvPr/>
        </p:nvSpPr>
        <p:spPr>
          <a:xfrm>
            <a:off x="457200" y="2487168"/>
            <a:ext cx="640080" cy="640080"/>
          </a:xfrm>
          <a:prstGeom prst="ellipse">
            <a:avLst/>
          </a:prstGeom>
          <a:solidFill>
            <a:srgbClr val="0F766E"/>
          </a:solidFill>
          <a:ln w="12700">
            <a:solidFill>
              <a:srgbClr val="0F766E"/>
            </a:solidFill>
            <a:prstDash val="solid"/>
          </a:ln>
        </p:spPr>
      </p:sp>
      <p:pic>
        <p:nvPicPr>
          <p:cNvPr id="9" name="Image 1" descr="preencoded.png">    </p:cNvPr>
          <p:cNvPicPr>
            <a:picLocks noChangeAspect="1"/>
          </p:cNvPicPr>
          <p:nvPr/>
        </p:nvPicPr>
        <p:blipFill>
          <a:blip r:embed="rId2"/>
          <a:stretch>
            <a:fillRect/>
          </a:stretch>
        </p:blipFill>
        <p:spPr>
          <a:xfrm>
            <a:off x="623621" y="2653589"/>
            <a:ext cx="307238" cy="307238"/>
          </a:xfrm>
          <a:prstGeom prst="rect">
            <a:avLst/>
          </a:prstGeom>
        </p:spPr>
      </p:pic>
      <p:sp>
        <p:nvSpPr>
          <p:cNvPr id="10" name="Text 6"/>
          <p:cNvSpPr txBox="1"/>
          <p:nvPr/>
        </p:nvSpPr>
        <p:spPr>
          <a:xfrm>
            <a:off x="1280160" y="2505456"/>
            <a:ext cx="2560320" cy="320040"/>
          </a:xfrm>
          <a:prstGeom prst="rect">
            <a:avLst/>
          </a:prstGeom>
          <a:noFill/>
          <a:ln/>
        </p:spPr>
        <p:txBody>
          <a:bodyPr wrap="square" lIns="0" tIns="0" rIns="0" bIns="0" rtlCol="0" anchor="ctr"/>
          <a:lstStyle/>
          <a:p>
            <a:pPr indent="0" marL="0">
              <a:buNone/>
            </a:pPr>
            <a:r>
              <a:rPr lang="en-US" sz="1700" b="1" dirty="0">
                <a:solidFill>
                  <a:srgbClr val="1F1A17"/>
                </a:solidFill>
                <a:latin typeface="Cambria" pitchFamily="34" charset="0"/>
                <a:ea typeface="Cambria" pitchFamily="34" charset="-122"/>
                <a:cs typeface="Cambria" pitchFamily="34" charset="-120"/>
              </a:rPr>
              <a:t>Understand</a:t>
            </a:r>
            <a:endParaRPr lang="en-US" sz="1700" dirty="0"/>
          </a:p>
        </p:txBody>
      </p:sp>
      <p:sp>
        <p:nvSpPr>
          <p:cNvPr id="11" name="Text 7"/>
          <p:cNvSpPr txBox="1"/>
          <p:nvPr/>
        </p:nvSpPr>
        <p:spPr>
          <a:xfrm>
            <a:off x="1280160" y="2816352"/>
            <a:ext cx="2560320" cy="457200"/>
          </a:xfrm>
          <a:prstGeom prst="rect">
            <a:avLst/>
          </a:prstGeom>
          <a:noFill/>
          <a:ln/>
        </p:spPr>
        <p:txBody>
          <a:bodyPr wrap="square" lIns="0" tIns="0" rIns="0" bIns="0" rtlCol="0" anchor="t"/>
          <a:lstStyle/>
          <a:p>
            <a:pPr indent="0" marL="0">
              <a:buNone/>
            </a:pPr>
            <a:r>
              <a:rPr lang="en-US" sz="1250" dirty="0">
                <a:solidFill>
                  <a:srgbClr val="5B524B"/>
                </a:solidFill>
                <a:latin typeface="Calibri" pitchFamily="34" charset="0"/>
                <a:ea typeface="Calibri" pitchFamily="34" charset="-122"/>
                <a:cs typeface="Calibri" pitchFamily="34" charset="-120"/>
              </a:rPr>
              <a:t>AI reads it and explains what it means and what to do</a:t>
            </a:r>
            <a:endParaRPr lang="en-US" sz="1250" dirty="0"/>
          </a:p>
        </p:txBody>
      </p:sp>
      <p:sp>
        <p:nvSpPr>
          <p:cNvPr id="12" name="Shape 8"/>
          <p:cNvSpPr/>
          <p:nvPr/>
        </p:nvSpPr>
        <p:spPr>
          <a:xfrm>
            <a:off x="457200" y="3511296"/>
            <a:ext cx="640080" cy="640080"/>
          </a:xfrm>
          <a:prstGeom prst="ellipse">
            <a:avLst/>
          </a:prstGeom>
          <a:solidFill>
            <a:srgbClr val="C2410C"/>
          </a:solidFill>
          <a:ln w="12700">
            <a:solidFill>
              <a:srgbClr val="C2410C"/>
            </a:solidFill>
            <a:prstDash val="solid"/>
          </a:ln>
        </p:spPr>
      </p:sp>
      <p:pic>
        <p:nvPicPr>
          <p:cNvPr id="13" name="Image 2" descr="preencoded.png">    </p:cNvPr>
          <p:cNvPicPr>
            <a:picLocks noChangeAspect="1"/>
          </p:cNvPicPr>
          <p:nvPr/>
        </p:nvPicPr>
        <p:blipFill>
          <a:blip r:embed="rId3"/>
          <a:stretch>
            <a:fillRect/>
          </a:stretch>
        </p:blipFill>
        <p:spPr>
          <a:xfrm>
            <a:off x="623621" y="3677717"/>
            <a:ext cx="307238" cy="307238"/>
          </a:xfrm>
          <a:prstGeom prst="rect">
            <a:avLst/>
          </a:prstGeom>
        </p:spPr>
      </p:pic>
      <p:sp>
        <p:nvSpPr>
          <p:cNvPr id="14" name="Text 9"/>
          <p:cNvSpPr txBox="1"/>
          <p:nvPr/>
        </p:nvSpPr>
        <p:spPr>
          <a:xfrm>
            <a:off x="1280160" y="3529584"/>
            <a:ext cx="2560320" cy="320040"/>
          </a:xfrm>
          <a:prstGeom prst="rect">
            <a:avLst/>
          </a:prstGeom>
          <a:noFill/>
          <a:ln/>
        </p:spPr>
        <p:txBody>
          <a:bodyPr wrap="square" lIns="0" tIns="0" rIns="0" bIns="0" rtlCol="0" anchor="ctr"/>
          <a:lstStyle/>
          <a:p>
            <a:pPr indent="0" marL="0">
              <a:buNone/>
            </a:pPr>
            <a:r>
              <a:rPr lang="en-US" sz="1700" b="1" dirty="0">
                <a:solidFill>
                  <a:srgbClr val="1F1A17"/>
                </a:solidFill>
                <a:latin typeface="Cambria" pitchFamily="34" charset="0"/>
                <a:ea typeface="Cambria" pitchFamily="34" charset="-122"/>
                <a:cs typeface="Cambria" pitchFamily="34" charset="-120"/>
              </a:rPr>
              <a:t>Listen</a:t>
            </a:r>
            <a:endParaRPr lang="en-US" sz="1700" dirty="0"/>
          </a:p>
        </p:txBody>
      </p:sp>
      <p:sp>
        <p:nvSpPr>
          <p:cNvPr id="15" name="Text 10"/>
          <p:cNvSpPr txBox="1"/>
          <p:nvPr/>
        </p:nvSpPr>
        <p:spPr>
          <a:xfrm>
            <a:off x="1280160" y="3840480"/>
            <a:ext cx="2560320" cy="457200"/>
          </a:xfrm>
          <a:prstGeom prst="rect">
            <a:avLst/>
          </a:prstGeom>
          <a:noFill/>
          <a:ln/>
        </p:spPr>
        <p:txBody>
          <a:bodyPr wrap="square" lIns="0" tIns="0" rIns="0" bIns="0" rtlCol="0" anchor="t"/>
          <a:lstStyle/>
          <a:p>
            <a:pPr indent="0" marL="0">
              <a:buNone/>
            </a:pPr>
            <a:r>
              <a:rPr lang="en-US" sz="1250" dirty="0">
                <a:solidFill>
                  <a:srgbClr val="5B524B"/>
                </a:solidFill>
                <a:latin typeface="Calibri" pitchFamily="34" charset="0"/>
                <a:ea typeface="Calibri" pitchFamily="34" charset="-122"/>
                <a:cs typeface="Calibri" pitchFamily="34" charset="-120"/>
              </a:rPr>
              <a:t>A natural neural voice reads the explanation aloud</a:t>
            </a:r>
            <a:endParaRPr lang="en-US" sz="1250" dirty="0"/>
          </a:p>
        </p:txBody>
      </p:sp>
      <p:pic>
        <p:nvPicPr>
          <p:cNvPr id="16" name="Image 3" descr="C:\Users\MOHAK\vaanisetu\report\screenshots\01-home.jpg">    </p:cNvPr>
          <p:cNvPicPr>
            <a:picLocks noChangeAspect="1"/>
          </p:cNvPicPr>
          <p:nvPr/>
        </p:nvPicPr>
        <p:blipFill>
          <a:blip r:embed="rId4"/>
          <a:stretch>
            <a:fillRect/>
          </a:stretch>
        </p:blipFill>
        <p:spPr>
          <a:xfrm>
            <a:off x="4160520" y="1417320"/>
            <a:ext cx="4526280" cy="2304288"/>
          </a:xfrm>
          <a:prstGeom prst="rect">
            <a:avLst/>
          </a:prstGeom>
          <a:effectLst>
            <a:outerShdw sx="100000" sy="100000" kx="0" ky="0" algn="bl" rotWithShape="0" blurRad="76200" dist="25400" dir="5400000">
              <a:srgbClr val="000000">
                <a:alpha val="18000"/>
              </a:srgbClr>
            </a:outerShdw>
          </a:effectLst>
        </p:spPr>
      </p:pic>
      <p:sp>
        <p:nvSpPr>
          <p:cNvPr id="17" name="Text 11"/>
          <p:cNvSpPr txBox="1"/>
          <p:nvPr/>
        </p:nvSpPr>
        <p:spPr>
          <a:xfrm>
            <a:off x="4160520" y="3931920"/>
            <a:ext cx="4526280" cy="274320"/>
          </a:xfrm>
          <a:prstGeom prst="rect">
            <a:avLst/>
          </a:prstGeom>
          <a:noFill/>
          <a:ln/>
        </p:spPr>
        <p:txBody>
          <a:bodyPr wrap="square" lIns="0" tIns="0" rIns="0" bIns="0" rtlCol="0" anchor="ctr"/>
          <a:lstStyle/>
          <a:p>
            <a:pPr algn="ctr" indent="0" marL="0">
              <a:buNone/>
            </a:pPr>
            <a:r>
              <a:rPr lang="en-US" sz="1100" i="1" dirty="0">
                <a:solidFill>
                  <a:srgbClr val="C2410C"/>
                </a:solidFill>
                <a:latin typeface="Calibri" pitchFamily="34" charset="0"/>
                <a:ea typeface="Calibri" pitchFamily="34" charset="-122"/>
                <a:cs typeface="Calibri" pitchFamily="34" charset="-120"/>
              </a:rPr>
              <a:t>7 output languages  ·  any input language  ·  key points &amp; action items  ·  history</a:t>
            </a:r>
            <a:endParaRPr lang="en-US" sz="1100" dirty="0"/>
          </a:p>
        </p:txBody>
      </p:sp>
      <p:sp>
        <p:nvSpPr>
          <p:cNvPr id="18" name="Text 1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Block diagram</a:t>
            </a:r>
            <a:endParaRPr lang="en-US" sz="3000" dirty="0"/>
          </a:p>
        </p:txBody>
      </p:sp>
      <p:pic>
        <p:nvPicPr>
          <p:cNvPr id="3" name="Image 0" descr="C:\Users\MOHAK\vaanisetu\report\block-diagram.png">    </p:cNvPr>
          <p:cNvPicPr>
            <a:picLocks noChangeAspect="1"/>
          </p:cNvPicPr>
          <p:nvPr/>
        </p:nvPicPr>
        <p:blipFill>
          <a:blip r:embed="rId1"/>
          <a:stretch>
            <a:fillRect/>
          </a:stretch>
        </p:blipFill>
        <p:spPr>
          <a:xfrm>
            <a:off x="1188720" y="914400"/>
            <a:ext cx="6766560" cy="3806190"/>
          </a:xfrm>
          <a:prstGeom prst="rect">
            <a:avLst/>
          </a:prstGeom>
        </p:spPr>
      </p:pic>
      <p:sp>
        <p:nvSpPr>
          <p:cNvPr id="4" name="Text 1"/>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How a request flows</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B524B"/>
                </a:solidFill>
                <a:latin typeface="Calibri" pitchFamily="34" charset="0"/>
                <a:ea typeface="Calibri" pitchFamily="34" charset="-122"/>
                <a:cs typeface="Calibri" pitchFamily="34" charset="-120"/>
              </a:rPr>
              <a:t>One photo, five Google Cloud services, about 11 seconds</a:t>
            </a:r>
            <a:endParaRPr lang="en-US" sz="1400" dirty="0"/>
          </a:p>
        </p:txBody>
      </p:sp>
      <p:sp>
        <p:nvSpPr>
          <p:cNvPr id="4" name="Shape 2"/>
          <p:cNvSpPr/>
          <p:nvPr/>
        </p:nvSpPr>
        <p:spPr>
          <a:xfrm>
            <a:off x="457200" y="1600200"/>
            <a:ext cx="1499616" cy="2286000"/>
          </a:xfrm>
          <a:prstGeom prst="roundRect">
            <a:avLst>
              <a:gd name="adj" fmla="val 6098"/>
            </a:avLst>
          </a:prstGeom>
          <a:solidFill>
            <a:srgbClr val="F3F4F6"/>
          </a:solidFill>
          <a:ln/>
        </p:spPr>
      </p:sp>
      <p:sp>
        <p:nvSpPr>
          <p:cNvPr id="5" name="Shape 3"/>
          <p:cNvSpPr/>
          <p:nvPr/>
        </p:nvSpPr>
        <p:spPr>
          <a:xfrm>
            <a:off x="978408" y="1783080"/>
            <a:ext cx="457200" cy="457200"/>
          </a:xfrm>
          <a:prstGeom prst="ellipse">
            <a:avLst/>
          </a:prstGeom>
          <a:solidFill>
            <a:srgbClr val="C2410C"/>
          </a:solidFill>
          <a:ln/>
        </p:spPr>
      </p:sp>
      <p:sp>
        <p:nvSpPr>
          <p:cNvPr id="6" name="Text 4"/>
          <p:cNvSpPr txBox="1"/>
          <p:nvPr/>
        </p:nvSpPr>
        <p:spPr>
          <a:xfrm>
            <a:off x="978408"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548640" y="2377440"/>
            <a:ext cx="1316736" cy="320040"/>
          </a:xfrm>
          <a:prstGeom prst="rect">
            <a:avLst/>
          </a:prstGeom>
          <a:noFill/>
          <a:ln/>
        </p:spPr>
        <p:txBody>
          <a:bodyPr wrap="square" lIns="0" tIns="0" rIns="0" bIns="0" rtlCol="0" anchor="ctr"/>
          <a:lstStyle/>
          <a:p>
            <a:pPr algn="ctr" indent="0" marL="0">
              <a:buNone/>
            </a:pPr>
            <a:r>
              <a:rPr lang="en-US" sz="1400" b="1" dirty="0">
                <a:solidFill>
                  <a:srgbClr val="1F1A17"/>
                </a:solidFill>
                <a:latin typeface="Cambria" pitchFamily="34" charset="0"/>
                <a:ea typeface="Cambria" pitchFamily="34" charset="-122"/>
                <a:cs typeface="Cambria" pitchFamily="34" charset="-120"/>
              </a:rPr>
              <a:t>Cloud Storage</a:t>
            </a:r>
            <a:endParaRPr lang="en-US" sz="1400" dirty="0"/>
          </a:p>
        </p:txBody>
      </p:sp>
      <p:sp>
        <p:nvSpPr>
          <p:cNvPr id="8" name="Text 6"/>
          <p:cNvSpPr txBox="1"/>
          <p:nvPr/>
        </p:nvSpPr>
        <p:spPr>
          <a:xfrm>
            <a:off x="548640" y="2697480"/>
            <a:ext cx="1316736"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Signed upload</a:t>
            </a:r>
            <a:endParaRPr lang="en-US" sz="1100" dirty="0"/>
          </a:p>
        </p:txBody>
      </p:sp>
      <p:sp>
        <p:nvSpPr>
          <p:cNvPr id="9" name="Text 7"/>
          <p:cNvSpPr txBox="1"/>
          <p:nvPr/>
        </p:nvSpPr>
        <p:spPr>
          <a:xfrm>
            <a:off x="566928" y="3017520"/>
            <a:ext cx="1280160" cy="777240"/>
          </a:xfrm>
          <a:prstGeom prst="rect">
            <a:avLst/>
          </a:prstGeom>
          <a:noFill/>
          <a:ln/>
        </p:spPr>
        <p:txBody>
          <a:bodyPr wrap="square" lIns="0" tIns="0" rIns="0" bIns="0" rtlCol="0" anchor="t"/>
          <a:lstStyle/>
          <a:p>
            <a:pPr algn="ctr" indent="0" marL="0">
              <a:buNone/>
            </a:pPr>
            <a:r>
              <a:rPr lang="en-US" sz="1050" dirty="0">
                <a:solidFill>
                  <a:srgbClr val="5B524B"/>
                </a:solidFill>
                <a:latin typeface="Calibri" pitchFamily="34" charset="0"/>
                <a:ea typeface="Calibri" pitchFamily="34" charset="-122"/>
                <a:cs typeface="Calibri" pitchFamily="34" charset="-120"/>
              </a:rPr>
              <a:t>Browser uploads the photo directly to a private bucket</a:t>
            </a:r>
            <a:endParaRPr lang="en-US" sz="1050" dirty="0"/>
          </a:p>
        </p:txBody>
      </p:sp>
      <p:sp>
        <p:nvSpPr>
          <p:cNvPr id="10" name="Shape 8"/>
          <p:cNvSpPr/>
          <p:nvPr/>
        </p:nvSpPr>
        <p:spPr>
          <a:xfrm>
            <a:off x="1975104" y="2651760"/>
            <a:ext cx="146304" cy="201168"/>
          </a:xfrm>
          <a:prstGeom prst="rightArrow">
            <a:avLst/>
          </a:prstGeom>
          <a:solidFill>
            <a:srgbClr val="9CA3AF"/>
          </a:solidFill>
          <a:ln/>
        </p:spPr>
      </p:sp>
      <p:sp>
        <p:nvSpPr>
          <p:cNvPr id="11" name="Shape 9"/>
          <p:cNvSpPr/>
          <p:nvPr/>
        </p:nvSpPr>
        <p:spPr>
          <a:xfrm>
            <a:off x="2139696" y="1600200"/>
            <a:ext cx="1499616" cy="2286000"/>
          </a:xfrm>
          <a:prstGeom prst="roundRect">
            <a:avLst>
              <a:gd name="adj" fmla="val 6098"/>
            </a:avLst>
          </a:prstGeom>
          <a:solidFill>
            <a:srgbClr val="F3F4F6"/>
          </a:solidFill>
          <a:ln/>
        </p:spPr>
      </p:sp>
      <p:sp>
        <p:nvSpPr>
          <p:cNvPr id="12" name="Shape 10"/>
          <p:cNvSpPr/>
          <p:nvPr/>
        </p:nvSpPr>
        <p:spPr>
          <a:xfrm>
            <a:off x="2660904" y="1783080"/>
            <a:ext cx="457200" cy="457200"/>
          </a:xfrm>
          <a:prstGeom prst="ellipse">
            <a:avLst/>
          </a:prstGeom>
          <a:solidFill>
            <a:srgbClr val="0F766E"/>
          </a:solidFill>
          <a:ln/>
        </p:spPr>
      </p:sp>
      <p:sp>
        <p:nvSpPr>
          <p:cNvPr id="13" name="Text 11"/>
          <p:cNvSpPr txBox="1"/>
          <p:nvPr/>
        </p:nvSpPr>
        <p:spPr>
          <a:xfrm>
            <a:off x="2660904"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2231136" y="2377440"/>
            <a:ext cx="1316736" cy="320040"/>
          </a:xfrm>
          <a:prstGeom prst="rect">
            <a:avLst/>
          </a:prstGeom>
          <a:noFill/>
          <a:ln/>
        </p:spPr>
        <p:txBody>
          <a:bodyPr wrap="square" lIns="0" tIns="0" rIns="0" bIns="0" rtlCol="0" anchor="ctr"/>
          <a:lstStyle/>
          <a:p>
            <a:pPr algn="ctr" indent="0" marL="0">
              <a:buNone/>
            </a:pPr>
            <a:r>
              <a:rPr lang="en-US" sz="1400" b="1" dirty="0">
                <a:solidFill>
                  <a:srgbClr val="1F1A17"/>
                </a:solidFill>
                <a:latin typeface="Cambria" pitchFamily="34" charset="0"/>
                <a:ea typeface="Cambria" pitchFamily="34" charset="-122"/>
                <a:cs typeface="Cambria" pitchFamily="34" charset="-120"/>
              </a:rPr>
              <a:t>Cloud Vision</a:t>
            </a:r>
            <a:endParaRPr lang="en-US" sz="1400" dirty="0"/>
          </a:p>
        </p:txBody>
      </p:sp>
      <p:sp>
        <p:nvSpPr>
          <p:cNvPr id="15" name="Text 13"/>
          <p:cNvSpPr txBox="1"/>
          <p:nvPr/>
        </p:nvSpPr>
        <p:spPr>
          <a:xfrm>
            <a:off x="2231136" y="2697480"/>
            <a:ext cx="1316736"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Text check</a:t>
            </a:r>
            <a:endParaRPr lang="en-US" sz="1100" dirty="0"/>
          </a:p>
        </p:txBody>
      </p:sp>
      <p:sp>
        <p:nvSpPr>
          <p:cNvPr id="16" name="Text 14"/>
          <p:cNvSpPr txBox="1"/>
          <p:nvPr/>
        </p:nvSpPr>
        <p:spPr>
          <a:xfrm>
            <a:off x="2249424" y="3017520"/>
            <a:ext cx="1280160" cy="777240"/>
          </a:xfrm>
          <a:prstGeom prst="rect">
            <a:avLst/>
          </a:prstGeom>
          <a:noFill/>
          <a:ln/>
        </p:spPr>
        <p:txBody>
          <a:bodyPr wrap="square" lIns="0" tIns="0" rIns="0" bIns="0" rtlCol="0" anchor="t"/>
          <a:lstStyle/>
          <a:p>
            <a:pPr algn="ctr" indent="0" marL="0">
              <a:buNone/>
            </a:pPr>
            <a:r>
              <a:rPr lang="en-US" sz="1050" dirty="0">
                <a:solidFill>
                  <a:srgbClr val="5B524B"/>
                </a:solidFill>
                <a:latin typeface="Calibri" pitchFamily="34" charset="0"/>
                <a:ea typeface="Calibri" pitchFamily="34" charset="-122"/>
                <a:cs typeface="Calibri" pitchFamily="34" charset="-120"/>
              </a:rPr>
              <a:t>Text detection rejects photos with no readable text</a:t>
            </a:r>
            <a:endParaRPr lang="en-US" sz="1050" dirty="0"/>
          </a:p>
        </p:txBody>
      </p:sp>
      <p:sp>
        <p:nvSpPr>
          <p:cNvPr id="17" name="Shape 15"/>
          <p:cNvSpPr/>
          <p:nvPr/>
        </p:nvSpPr>
        <p:spPr>
          <a:xfrm>
            <a:off x="3657600" y="2651760"/>
            <a:ext cx="146304" cy="201168"/>
          </a:xfrm>
          <a:prstGeom prst="rightArrow">
            <a:avLst/>
          </a:prstGeom>
          <a:solidFill>
            <a:srgbClr val="9CA3AF"/>
          </a:solidFill>
          <a:ln/>
        </p:spPr>
      </p:sp>
      <p:sp>
        <p:nvSpPr>
          <p:cNvPr id="18" name="Shape 16"/>
          <p:cNvSpPr/>
          <p:nvPr/>
        </p:nvSpPr>
        <p:spPr>
          <a:xfrm>
            <a:off x="3822192" y="1600200"/>
            <a:ext cx="1499616" cy="2286000"/>
          </a:xfrm>
          <a:prstGeom prst="roundRect">
            <a:avLst>
              <a:gd name="adj" fmla="val 6098"/>
            </a:avLst>
          </a:prstGeom>
          <a:solidFill>
            <a:srgbClr val="F3F4F6"/>
          </a:solidFill>
          <a:ln/>
        </p:spPr>
      </p:sp>
      <p:sp>
        <p:nvSpPr>
          <p:cNvPr id="19" name="Shape 17"/>
          <p:cNvSpPr/>
          <p:nvPr/>
        </p:nvSpPr>
        <p:spPr>
          <a:xfrm>
            <a:off x="4343400" y="1783080"/>
            <a:ext cx="457200" cy="457200"/>
          </a:xfrm>
          <a:prstGeom prst="ellipse">
            <a:avLst/>
          </a:prstGeom>
          <a:solidFill>
            <a:srgbClr val="0F766E"/>
          </a:solidFill>
          <a:ln/>
        </p:spPr>
      </p:sp>
      <p:sp>
        <p:nvSpPr>
          <p:cNvPr id="20" name="Text 18"/>
          <p:cNvSpPr txBox="1"/>
          <p:nvPr/>
        </p:nvSpPr>
        <p:spPr>
          <a:xfrm>
            <a:off x="434340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3913632" y="2377440"/>
            <a:ext cx="1316736" cy="320040"/>
          </a:xfrm>
          <a:prstGeom prst="rect">
            <a:avLst/>
          </a:prstGeom>
          <a:noFill/>
          <a:ln/>
        </p:spPr>
        <p:txBody>
          <a:bodyPr wrap="square" lIns="0" tIns="0" rIns="0" bIns="0" rtlCol="0" anchor="ctr"/>
          <a:lstStyle/>
          <a:p>
            <a:pPr algn="ctr" indent="0" marL="0">
              <a:buNone/>
            </a:pPr>
            <a:r>
              <a:rPr lang="en-US" sz="1400" b="1" dirty="0">
                <a:solidFill>
                  <a:srgbClr val="1F1A17"/>
                </a:solidFill>
                <a:latin typeface="Cambria" pitchFamily="34" charset="0"/>
                <a:ea typeface="Cambria" pitchFamily="34" charset="-122"/>
                <a:cs typeface="Cambria" pitchFamily="34" charset="-120"/>
              </a:rPr>
              <a:t>Vertex AI</a:t>
            </a:r>
            <a:endParaRPr lang="en-US" sz="1400" dirty="0"/>
          </a:p>
        </p:txBody>
      </p:sp>
      <p:sp>
        <p:nvSpPr>
          <p:cNvPr id="22" name="Text 20"/>
          <p:cNvSpPr txBox="1"/>
          <p:nvPr/>
        </p:nvSpPr>
        <p:spPr>
          <a:xfrm>
            <a:off x="3913632" y="2697480"/>
            <a:ext cx="1316736"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Understand</a:t>
            </a:r>
            <a:endParaRPr lang="en-US" sz="1100" dirty="0"/>
          </a:p>
        </p:txBody>
      </p:sp>
      <p:sp>
        <p:nvSpPr>
          <p:cNvPr id="23" name="Text 21"/>
          <p:cNvSpPr txBox="1"/>
          <p:nvPr/>
        </p:nvSpPr>
        <p:spPr>
          <a:xfrm>
            <a:off x="3931920" y="3017520"/>
            <a:ext cx="1280160" cy="777240"/>
          </a:xfrm>
          <a:prstGeom prst="rect">
            <a:avLst/>
          </a:prstGeom>
          <a:noFill/>
          <a:ln/>
        </p:spPr>
        <p:txBody>
          <a:bodyPr wrap="square" lIns="0" tIns="0" rIns="0" bIns="0" rtlCol="0" anchor="t"/>
          <a:lstStyle/>
          <a:p>
            <a:pPr algn="ctr" indent="0" marL="0">
              <a:buNone/>
            </a:pPr>
            <a:r>
              <a:rPr lang="en-US" sz="1050" dirty="0">
                <a:solidFill>
                  <a:srgbClr val="5B524B"/>
                </a:solidFill>
                <a:latin typeface="Calibri" pitchFamily="34" charset="0"/>
                <a:ea typeface="Calibri" pitchFamily="34" charset="-122"/>
                <a:cs typeface="Calibri" pitchFamily="34" charset="-120"/>
              </a:rPr>
              <a:t>Gemini transcribes, explains and translates</a:t>
            </a:r>
            <a:endParaRPr lang="en-US" sz="1050" dirty="0"/>
          </a:p>
        </p:txBody>
      </p:sp>
      <p:sp>
        <p:nvSpPr>
          <p:cNvPr id="24" name="Shape 22"/>
          <p:cNvSpPr/>
          <p:nvPr/>
        </p:nvSpPr>
        <p:spPr>
          <a:xfrm>
            <a:off x="5340096" y="2651760"/>
            <a:ext cx="146304" cy="201168"/>
          </a:xfrm>
          <a:prstGeom prst="rightArrow">
            <a:avLst/>
          </a:prstGeom>
          <a:solidFill>
            <a:srgbClr val="9CA3AF"/>
          </a:solidFill>
          <a:ln/>
        </p:spPr>
      </p:sp>
      <p:sp>
        <p:nvSpPr>
          <p:cNvPr id="25" name="Shape 23"/>
          <p:cNvSpPr/>
          <p:nvPr/>
        </p:nvSpPr>
        <p:spPr>
          <a:xfrm>
            <a:off x="5504688" y="1600200"/>
            <a:ext cx="1499616" cy="2286000"/>
          </a:xfrm>
          <a:prstGeom prst="roundRect">
            <a:avLst>
              <a:gd name="adj" fmla="val 6098"/>
            </a:avLst>
          </a:prstGeom>
          <a:solidFill>
            <a:srgbClr val="F3F4F6"/>
          </a:solidFill>
          <a:ln/>
        </p:spPr>
      </p:sp>
      <p:sp>
        <p:nvSpPr>
          <p:cNvPr id="26" name="Shape 24"/>
          <p:cNvSpPr/>
          <p:nvPr/>
        </p:nvSpPr>
        <p:spPr>
          <a:xfrm>
            <a:off x="6025896" y="1783080"/>
            <a:ext cx="457200" cy="457200"/>
          </a:xfrm>
          <a:prstGeom prst="ellipse">
            <a:avLst/>
          </a:prstGeom>
          <a:solidFill>
            <a:srgbClr val="0F766E"/>
          </a:solidFill>
          <a:ln/>
        </p:spPr>
      </p:sp>
      <p:sp>
        <p:nvSpPr>
          <p:cNvPr id="27" name="Text 25"/>
          <p:cNvSpPr txBox="1"/>
          <p:nvPr/>
        </p:nvSpPr>
        <p:spPr>
          <a:xfrm>
            <a:off x="6025896"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Text 26"/>
          <p:cNvSpPr txBox="1"/>
          <p:nvPr/>
        </p:nvSpPr>
        <p:spPr>
          <a:xfrm>
            <a:off x="5596128" y="2377440"/>
            <a:ext cx="1316736" cy="320040"/>
          </a:xfrm>
          <a:prstGeom prst="rect">
            <a:avLst/>
          </a:prstGeom>
          <a:noFill/>
          <a:ln/>
        </p:spPr>
        <p:txBody>
          <a:bodyPr wrap="square" lIns="0" tIns="0" rIns="0" bIns="0" rtlCol="0" anchor="ctr"/>
          <a:lstStyle/>
          <a:p>
            <a:pPr algn="ctr" indent="0" marL="0">
              <a:buNone/>
            </a:pPr>
            <a:r>
              <a:rPr lang="en-US" sz="1400" b="1" dirty="0">
                <a:solidFill>
                  <a:srgbClr val="1F1A17"/>
                </a:solidFill>
                <a:latin typeface="Cambria" pitchFamily="34" charset="0"/>
                <a:ea typeface="Cambria" pitchFamily="34" charset="-122"/>
                <a:cs typeface="Cambria" pitchFamily="34" charset="-120"/>
              </a:rPr>
              <a:t>Text-to-Speech</a:t>
            </a:r>
            <a:endParaRPr lang="en-US" sz="1400" dirty="0"/>
          </a:p>
        </p:txBody>
      </p:sp>
      <p:sp>
        <p:nvSpPr>
          <p:cNvPr id="29" name="Text 27"/>
          <p:cNvSpPr txBox="1"/>
          <p:nvPr/>
        </p:nvSpPr>
        <p:spPr>
          <a:xfrm>
            <a:off x="5596128" y="2697480"/>
            <a:ext cx="1316736"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Speak</a:t>
            </a:r>
            <a:endParaRPr lang="en-US" sz="1100" dirty="0"/>
          </a:p>
        </p:txBody>
      </p:sp>
      <p:sp>
        <p:nvSpPr>
          <p:cNvPr id="30" name="Text 28"/>
          <p:cNvSpPr txBox="1"/>
          <p:nvPr/>
        </p:nvSpPr>
        <p:spPr>
          <a:xfrm>
            <a:off x="5614416" y="3017520"/>
            <a:ext cx="1280160" cy="777240"/>
          </a:xfrm>
          <a:prstGeom prst="rect">
            <a:avLst/>
          </a:prstGeom>
          <a:noFill/>
          <a:ln/>
        </p:spPr>
        <p:txBody>
          <a:bodyPr wrap="square" lIns="0" tIns="0" rIns="0" bIns="0" rtlCol="0" anchor="t"/>
          <a:lstStyle/>
          <a:p>
            <a:pPr algn="ctr" indent="0" marL="0">
              <a:buNone/>
            </a:pPr>
            <a:r>
              <a:rPr lang="en-US" sz="1050" dirty="0">
                <a:solidFill>
                  <a:srgbClr val="5B524B"/>
                </a:solidFill>
                <a:latin typeface="Calibri" pitchFamily="34" charset="0"/>
                <a:ea typeface="Calibri" pitchFamily="34" charset="-122"/>
                <a:cs typeface="Calibri" pitchFamily="34" charset="-120"/>
              </a:rPr>
              <a:t>Neural voice produces an MP3, saved to Cloud Storage</a:t>
            </a:r>
            <a:endParaRPr lang="en-US" sz="1050" dirty="0"/>
          </a:p>
        </p:txBody>
      </p:sp>
      <p:sp>
        <p:nvSpPr>
          <p:cNvPr id="31" name="Shape 29"/>
          <p:cNvSpPr/>
          <p:nvPr/>
        </p:nvSpPr>
        <p:spPr>
          <a:xfrm>
            <a:off x="7022592" y="2651760"/>
            <a:ext cx="146304" cy="201168"/>
          </a:xfrm>
          <a:prstGeom prst="rightArrow">
            <a:avLst/>
          </a:prstGeom>
          <a:solidFill>
            <a:srgbClr val="9CA3AF"/>
          </a:solidFill>
          <a:ln/>
        </p:spPr>
      </p:sp>
      <p:sp>
        <p:nvSpPr>
          <p:cNvPr id="32" name="Shape 30"/>
          <p:cNvSpPr/>
          <p:nvPr/>
        </p:nvSpPr>
        <p:spPr>
          <a:xfrm>
            <a:off x="7187184" y="1600200"/>
            <a:ext cx="1499616" cy="2286000"/>
          </a:xfrm>
          <a:prstGeom prst="roundRect">
            <a:avLst>
              <a:gd name="adj" fmla="val 6098"/>
            </a:avLst>
          </a:prstGeom>
          <a:solidFill>
            <a:srgbClr val="F3F4F6"/>
          </a:solidFill>
          <a:ln/>
        </p:spPr>
      </p:sp>
      <p:sp>
        <p:nvSpPr>
          <p:cNvPr id="33" name="Shape 31"/>
          <p:cNvSpPr/>
          <p:nvPr/>
        </p:nvSpPr>
        <p:spPr>
          <a:xfrm>
            <a:off x="7708392" y="1783080"/>
            <a:ext cx="457200" cy="457200"/>
          </a:xfrm>
          <a:prstGeom prst="ellipse">
            <a:avLst/>
          </a:prstGeom>
          <a:solidFill>
            <a:srgbClr val="C2410C"/>
          </a:solidFill>
          <a:ln/>
        </p:spPr>
      </p:sp>
      <p:sp>
        <p:nvSpPr>
          <p:cNvPr id="34" name="Text 32"/>
          <p:cNvSpPr txBox="1"/>
          <p:nvPr/>
        </p:nvSpPr>
        <p:spPr>
          <a:xfrm>
            <a:off x="7708392"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5" name="Text 33"/>
          <p:cNvSpPr txBox="1"/>
          <p:nvPr/>
        </p:nvSpPr>
        <p:spPr>
          <a:xfrm>
            <a:off x="7278624" y="2377440"/>
            <a:ext cx="1316736" cy="320040"/>
          </a:xfrm>
          <a:prstGeom prst="rect">
            <a:avLst/>
          </a:prstGeom>
          <a:noFill/>
          <a:ln/>
        </p:spPr>
        <p:txBody>
          <a:bodyPr wrap="square" lIns="0" tIns="0" rIns="0" bIns="0" rtlCol="0" anchor="ctr"/>
          <a:lstStyle/>
          <a:p>
            <a:pPr algn="ctr" indent="0" marL="0">
              <a:buNone/>
            </a:pPr>
            <a:r>
              <a:rPr lang="en-US" sz="1400" b="1" dirty="0">
                <a:solidFill>
                  <a:srgbClr val="1F1A17"/>
                </a:solidFill>
                <a:latin typeface="Cambria" pitchFamily="34" charset="0"/>
                <a:ea typeface="Cambria" pitchFamily="34" charset="-122"/>
                <a:cs typeface="Cambria" pitchFamily="34" charset="-120"/>
              </a:rPr>
              <a:t>Firestore</a:t>
            </a:r>
            <a:endParaRPr lang="en-US" sz="1400" dirty="0"/>
          </a:p>
        </p:txBody>
      </p:sp>
      <p:sp>
        <p:nvSpPr>
          <p:cNvPr id="36" name="Text 34"/>
          <p:cNvSpPr txBox="1"/>
          <p:nvPr/>
        </p:nvSpPr>
        <p:spPr>
          <a:xfrm>
            <a:off x="7278624" y="2697480"/>
            <a:ext cx="1316736"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Remember</a:t>
            </a:r>
            <a:endParaRPr lang="en-US" sz="1100" dirty="0"/>
          </a:p>
        </p:txBody>
      </p:sp>
      <p:sp>
        <p:nvSpPr>
          <p:cNvPr id="37" name="Text 35"/>
          <p:cNvSpPr txBox="1"/>
          <p:nvPr/>
        </p:nvSpPr>
        <p:spPr>
          <a:xfrm>
            <a:off x="7296912" y="3017520"/>
            <a:ext cx="1280160" cy="777240"/>
          </a:xfrm>
          <a:prstGeom prst="rect">
            <a:avLst/>
          </a:prstGeom>
          <a:noFill/>
          <a:ln/>
        </p:spPr>
        <p:txBody>
          <a:bodyPr wrap="square" lIns="0" tIns="0" rIns="0" bIns="0" rtlCol="0" anchor="t"/>
          <a:lstStyle/>
          <a:p>
            <a:pPr algn="ctr" indent="0" marL="0">
              <a:buNone/>
            </a:pPr>
            <a:r>
              <a:rPr lang="en-US" sz="1050" dirty="0">
                <a:solidFill>
                  <a:srgbClr val="5B524B"/>
                </a:solidFill>
                <a:latin typeface="Calibri" pitchFamily="34" charset="0"/>
                <a:ea typeface="Calibri" pitchFamily="34" charset="-122"/>
                <a:cs typeface="Calibri" pitchFamily="34" charset="-120"/>
              </a:rPr>
              <a:t>Result stored and shown in history</a:t>
            </a:r>
            <a:endParaRPr lang="en-US" sz="1050" dirty="0"/>
          </a:p>
        </p:txBody>
      </p:sp>
      <p:sp>
        <p:nvSpPr>
          <p:cNvPr id="38" name="Text 36"/>
          <p:cNvSpPr txBox="1"/>
          <p:nvPr/>
        </p:nvSpPr>
        <p:spPr>
          <a:xfrm>
            <a:off x="457200" y="4114800"/>
            <a:ext cx="8229600" cy="320040"/>
          </a:xfrm>
          <a:prstGeom prst="rect">
            <a:avLst/>
          </a:prstGeom>
          <a:noFill/>
          <a:ln/>
        </p:spPr>
        <p:txBody>
          <a:bodyPr wrap="square" lIns="0" tIns="0" rIns="0" bIns="0" rtlCol="0" anchor="ctr"/>
          <a:lstStyle/>
          <a:p>
            <a:pPr algn="ctr" indent="0" marL="0">
              <a:buNone/>
            </a:pPr>
            <a:r>
              <a:rPr lang="en-US" sz="1200" dirty="0">
                <a:solidFill>
                  <a:srgbClr val="5B524B"/>
                </a:solidFill>
                <a:latin typeface="Calibri" pitchFamily="34" charset="0"/>
                <a:ea typeface="Calibri" pitchFamily="34" charset="-122"/>
                <a:cs typeface="Calibri" pitchFamily="34" charset="-120"/>
              </a:rPr>
              <a:t>API Gateway → Cloud Run function orchestrates every step  ·  least-privilege service accounts  ·  Cloud Logging</a:t>
            </a:r>
            <a:endParaRPr lang="en-US" sz="1200" dirty="0"/>
          </a:p>
        </p:txBody>
      </p:sp>
      <p:sp>
        <p:nvSpPr>
          <p:cNvPr id="39" name="Text 37"/>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Cloud services used</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B524B"/>
                </a:solidFill>
                <a:latin typeface="Calibri" pitchFamily="34" charset="0"/>
                <a:ea typeface="Calibri" pitchFamily="34" charset="-122"/>
                <a:cs typeface="Calibri" pitchFamily="34" charset="-120"/>
              </a:rPr>
              <a:t>8 core Google Cloud services plus IAM and Cloud Logging, all serverless or fully managed</a:t>
            </a:r>
            <a:endParaRPr lang="en-US" sz="1400" dirty="0"/>
          </a:p>
        </p:txBody>
      </p:sp>
      <p:sp>
        <p:nvSpPr>
          <p:cNvPr id="4" name="Shape 2"/>
          <p:cNvSpPr/>
          <p:nvPr/>
        </p:nvSpPr>
        <p:spPr>
          <a:xfrm>
            <a:off x="457200" y="1417320"/>
            <a:ext cx="1536192" cy="1481328"/>
          </a:xfrm>
          <a:prstGeom prst="roundRect">
            <a:avLst>
              <a:gd name="adj" fmla="val 6173"/>
            </a:avLst>
          </a:prstGeom>
          <a:solidFill>
            <a:srgbClr val="F3F4F6"/>
          </a:solidFill>
          <a:ln/>
        </p:spPr>
      </p:sp>
      <p:sp>
        <p:nvSpPr>
          <p:cNvPr id="5" name="Shape 3"/>
          <p:cNvSpPr/>
          <p:nvPr/>
        </p:nvSpPr>
        <p:spPr>
          <a:xfrm>
            <a:off x="969264" y="1545336"/>
            <a:ext cx="512064" cy="512064"/>
          </a:xfrm>
          <a:prstGeom prst="ellipse">
            <a:avLst/>
          </a:prstGeom>
          <a:solidFill>
            <a:srgbClr val="FBE6D9"/>
          </a:solidFill>
          <a:ln w="12700">
            <a:solidFill>
              <a:srgbClr val="FBE6D9"/>
            </a:solidFill>
            <a:prstDash val="solid"/>
          </a:ln>
        </p:spPr>
      </p:sp>
      <p:pic>
        <p:nvPicPr>
          <p:cNvPr id="6" name="Image 0" descr="preencoded.png">    </p:cNvPr>
          <p:cNvPicPr>
            <a:picLocks noChangeAspect="1"/>
          </p:cNvPicPr>
          <p:nvPr/>
        </p:nvPicPr>
        <p:blipFill>
          <a:blip r:embed="rId1"/>
          <a:stretch>
            <a:fillRect/>
          </a:stretch>
        </p:blipFill>
        <p:spPr>
          <a:xfrm>
            <a:off x="1102401" y="1678473"/>
            <a:ext cx="245791" cy="245791"/>
          </a:xfrm>
          <a:prstGeom prst="rect">
            <a:avLst/>
          </a:prstGeom>
        </p:spPr>
      </p:pic>
      <p:sp>
        <p:nvSpPr>
          <p:cNvPr id="7" name="Text 4"/>
          <p:cNvSpPr txBox="1"/>
          <p:nvPr/>
        </p:nvSpPr>
        <p:spPr>
          <a:xfrm>
            <a:off x="512064" y="211226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Cloud Storage</a:t>
            </a:r>
            <a:endParaRPr lang="en-US" sz="1250" dirty="0"/>
          </a:p>
        </p:txBody>
      </p:sp>
      <p:sp>
        <p:nvSpPr>
          <p:cNvPr id="8" name="Text 5"/>
          <p:cNvSpPr txBox="1"/>
          <p:nvPr/>
        </p:nvSpPr>
        <p:spPr>
          <a:xfrm>
            <a:off x="548640" y="238658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Photos &amp; MP3 audio, private + encrypted</a:t>
            </a:r>
            <a:endParaRPr lang="en-US" sz="950" dirty="0"/>
          </a:p>
        </p:txBody>
      </p:sp>
      <p:sp>
        <p:nvSpPr>
          <p:cNvPr id="9" name="Shape 6"/>
          <p:cNvSpPr/>
          <p:nvPr/>
        </p:nvSpPr>
        <p:spPr>
          <a:xfrm>
            <a:off x="2121408" y="1417320"/>
            <a:ext cx="1536192" cy="1481328"/>
          </a:xfrm>
          <a:prstGeom prst="roundRect">
            <a:avLst>
              <a:gd name="adj" fmla="val 6173"/>
            </a:avLst>
          </a:prstGeom>
          <a:solidFill>
            <a:srgbClr val="F3F4F6"/>
          </a:solidFill>
          <a:ln/>
        </p:spPr>
      </p:sp>
      <p:sp>
        <p:nvSpPr>
          <p:cNvPr id="10" name="Shape 7"/>
          <p:cNvSpPr/>
          <p:nvPr/>
        </p:nvSpPr>
        <p:spPr>
          <a:xfrm>
            <a:off x="2633472" y="1545336"/>
            <a:ext cx="512064" cy="512064"/>
          </a:xfrm>
          <a:prstGeom prst="ellipse">
            <a:avLst/>
          </a:prstGeom>
          <a:solidFill>
            <a:srgbClr val="FBE6D9"/>
          </a:solidFill>
          <a:ln w="12700">
            <a:solidFill>
              <a:srgbClr val="FBE6D9"/>
            </a:solidFill>
            <a:prstDash val="solid"/>
          </a:ln>
        </p:spPr>
      </p:sp>
      <p:pic>
        <p:nvPicPr>
          <p:cNvPr id="11" name="Image 1" descr="preencoded.png">    </p:cNvPr>
          <p:cNvPicPr>
            <a:picLocks noChangeAspect="1"/>
          </p:cNvPicPr>
          <p:nvPr/>
        </p:nvPicPr>
        <p:blipFill>
          <a:blip r:embed="rId2"/>
          <a:stretch>
            <a:fillRect/>
          </a:stretch>
        </p:blipFill>
        <p:spPr>
          <a:xfrm>
            <a:off x="2766609" y="1678473"/>
            <a:ext cx="245791" cy="245791"/>
          </a:xfrm>
          <a:prstGeom prst="rect">
            <a:avLst/>
          </a:prstGeom>
        </p:spPr>
      </p:pic>
      <p:sp>
        <p:nvSpPr>
          <p:cNvPr id="12" name="Text 8"/>
          <p:cNvSpPr txBox="1"/>
          <p:nvPr/>
        </p:nvSpPr>
        <p:spPr>
          <a:xfrm>
            <a:off x="2176272" y="211226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Cloud Run</a:t>
            </a:r>
            <a:endParaRPr lang="en-US" sz="1250" dirty="0"/>
          </a:p>
        </p:txBody>
      </p:sp>
      <p:sp>
        <p:nvSpPr>
          <p:cNvPr id="13" name="Text 9"/>
          <p:cNvSpPr txBox="1"/>
          <p:nvPr/>
        </p:nvSpPr>
        <p:spPr>
          <a:xfrm>
            <a:off x="2212848" y="238658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Python 3.12 function orchestrating the AI pipeline</a:t>
            </a:r>
            <a:endParaRPr lang="en-US" sz="950" dirty="0"/>
          </a:p>
        </p:txBody>
      </p:sp>
      <p:sp>
        <p:nvSpPr>
          <p:cNvPr id="14" name="Shape 10"/>
          <p:cNvSpPr/>
          <p:nvPr/>
        </p:nvSpPr>
        <p:spPr>
          <a:xfrm>
            <a:off x="3785616" y="1417320"/>
            <a:ext cx="1536192" cy="1481328"/>
          </a:xfrm>
          <a:prstGeom prst="roundRect">
            <a:avLst>
              <a:gd name="adj" fmla="val 6173"/>
            </a:avLst>
          </a:prstGeom>
          <a:solidFill>
            <a:srgbClr val="F3F4F6"/>
          </a:solidFill>
          <a:ln/>
        </p:spPr>
      </p:sp>
      <p:sp>
        <p:nvSpPr>
          <p:cNvPr id="15" name="Shape 11"/>
          <p:cNvSpPr/>
          <p:nvPr/>
        </p:nvSpPr>
        <p:spPr>
          <a:xfrm>
            <a:off x="4297680" y="1545336"/>
            <a:ext cx="512064" cy="512064"/>
          </a:xfrm>
          <a:prstGeom prst="ellipse">
            <a:avLst/>
          </a:prstGeom>
          <a:solidFill>
            <a:srgbClr val="FBE6D9"/>
          </a:solidFill>
          <a:ln w="12700">
            <a:solidFill>
              <a:srgbClr val="FBE6D9"/>
            </a:solidFill>
            <a:prstDash val="solid"/>
          </a:ln>
        </p:spPr>
      </p:sp>
      <p:pic>
        <p:nvPicPr>
          <p:cNvPr id="16" name="Image 2" descr="preencoded.png">    </p:cNvPr>
          <p:cNvPicPr>
            <a:picLocks noChangeAspect="1"/>
          </p:cNvPicPr>
          <p:nvPr/>
        </p:nvPicPr>
        <p:blipFill>
          <a:blip r:embed="rId3"/>
          <a:stretch>
            <a:fillRect/>
          </a:stretch>
        </p:blipFill>
        <p:spPr>
          <a:xfrm>
            <a:off x="4430817" y="1678473"/>
            <a:ext cx="245791" cy="245791"/>
          </a:xfrm>
          <a:prstGeom prst="rect">
            <a:avLst/>
          </a:prstGeom>
        </p:spPr>
      </p:pic>
      <p:sp>
        <p:nvSpPr>
          <p:cNvPr id="17" name="Text 12"/>
          <p:cNvSpPr txBox="1"/>
          <p:nvPr/>
        </p:nvSpPr>
        <p:spPr>
          <a:xfrm>
            <a:off x="3840480" y="211226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API Gateway</a:t>
            </a:r>
            <a:endParaRPr lang="en-US" sz="1250" dirty="0"/>
          </a:p>
        </p:txBody>
      </p:sp>
      <p:sp>
        <p:nvSpPr>
          <p:cNvPr id="18" name="Text 13"/>
          <p:cNvSpPr txBox="1"/>
          <p:nvPr/>
        </p:nvSpPr>
        <p:spPr>
          <a:xfrm>
            <a:off x="3877056" y="238658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OpenAPI routes: /upload-url, /process, /history</a:t>
            </a:r>
            <a:endParaRPr lang="en-US" sz="950" dirty="0"/>
          </a:p>
        </p:txBody>
      </p:sp>
      <p:sp>
        <p:nvSpPr>
          <p:cNvPr id="19" name="Shape 14"/>
          <p:cNvSpPr/>
          <p:nvPr/>
        </p:nvSpPr>
        <p:spPr>
          <a:xfrm>
            <a:off x="5449824" y="1417320"/>
            <a:ext cx="1536192" cy="1481328"/>
          </a:xfrm>
          <a:prstGeom prst="roundRect">
            <a:avLst>
              <a:gd name="adj" fmla="val 6173"/>
            </a:avLst>
          </a:prstGeom>
          <a:solidFill>
            <a:srgbClr val="F3F4F6"/>
          </a:solidFill>
          <a:ln/>
        </p:spPr>
      </p:sp>
      <p:sp>
        <p:nvSpPr>
          <p:cNvPr id="20" name="Shape 15"/>
          <p:cNvSpPr/>
          <p:nvPr/>
        </p:nvSpPr>
        <p:spPr>
          <a:xfrm>
            <a:off x="5961888" y="1545336"/>
            <a:ext cx="512064" cy="512064"/>
          </a:xfrm>
          <a:prstGeom prst="ellipse">
            <a:avLst/>
          </a:prstGeom>
          <a:solidFill>
            <a:srgbClr val="FBE6D9"/>
          </a:solidFill>
          <a:ln w="12700">
            <a:solidFill>
              <a:srgbClr val="FBE6D9"/>
            </a:solidFill>
            <a:prstDash val="solid"/>
          </a:ln>
        </p:spPr>
      </p:sp>
      <p:pic>
        <p:nvPicPr>
          <p:cNvPr id="21" name="Image 3" descr="preencoded.png">    </p:cNvPr>
          <p:cNvPicPr>
            <a:picLocks noChangeAspect="1"/>
          </p:cNvPicPr>
          <p:nvPr/>
        </p:nvPicPr>
        <p:blipFill>
          <a:blip r:embed="rId4"/>
          <a:stretch>
            <a:fillRect/>
          </a:stretch>
        </p:blipFill>
        <p:spPr>
          <a:xfrm>
            <a:off x="6095025" y="1678473"/>
            <a:ext cx="245791" cy="245791"/>
          </a:xfrm>
          <a:prstGeom prst="rect">
            <a:avLst/>
          </a:prstGeom>
        </p:spPr>
      </p:pic>
      <p:sp>
        <p:nvSpPr>
          <p:cNvPr id="22" name="Text 16"/>
          <p:cNvSpPr txBox="1"/>
          <p:nvPr/>
        </p:nvSpPr>
        <p:spPr>
          <a:xfrm>
            <a:off x="5504688" y="211226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Vertex AI</a:t>
            </a:r>
            <a:endParaRPr lang="en-US" sz="1250" dirty="0"/>
          </a:p>
        </p:txBody>
      </p:sp>
      <p:sp>
        <p:nvSpPr>
          <p:cNvPr id="23" name="Text 17"/>
          <p:cNvSpPr txBox="1"/>
          <p:nvPr/>
        </p:nvSpPr>
        <p:spPr>
          <a:xfrm>
            <a:off x="5541264" y="238658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Gemini 3.5 Flash-Lite reads, explains, translates</a:t>
            </a:r>
            <a:endParaRPr lang="en-US" sz="950" dirty="0"/>
          </a:p>
        </p:txBody>
      </p:sp>
      <p:sp>
        <p:nvSpPr>
          <p:cNvPr id="24" name="Shape 18"/>
          <p:cNvSpPr/>
          <p:nvPr/>
        </p:nvSpPr>
        <p:spPr>
          <a:xfrm>
            <a:off x="7114032" y="1417320"/>
            <a:ext cx="1536192" cy="1481328"/>
          </a:xfrm>
          <a:prstGeom prst="roundRect">
            <a:avLst>
              <a:gd name="adj" fmla="val 6173"/>
            </a:avLst>
          </a:prstGeom>
          <a:solidFill>
            <a:srgbClr val="F3F4F6"/>
          </a:solidFill>
          <a:ln/>
        </p:spPr>
      </p:sp>
      <p:sp>
        <p:nvSpPr>
          <p:cNvPr id="25" name="Shape 19"/>
          <p:cNvSpPr/>
          <p:nvPr/>
        </p:nvSpPr>
        <p:spPr>
          <a:xfrm>
            <a:off x="7626096" y="1545336"/>
            <a:ext cx="512064" cy="512064"/>
          </a:xfrm>
          <a:prstGeom prst="ellipse">
            <a:avLst/>
          </a:prstGeom>
          <a:solidFill>
            <a:srgbClr val="FBE6D9"/>
          </a:solidFill>
          <a:ln w="12700">
            <a:solidFill>
              <a:srgbClr val="FBE6D9"/>
            </a:solidFill>
            <a:prstDash val="solid"/>
          </a:ln>
        </p:spPr>
      </p:sp>
      <p:pic>
        <p:nvPicPr>
          <p:cNvPr id="26" name="Image 4" descr="preencoded.png">    </p:cNvPr>
          <p:cNvPicPr>
            <a:picLocks noChangeAspect="1"/>
          </p:cNvPicPr>
          <p:nvPr/>
        </p:nvPicPr>
        <p:blipFill>
          <a:blip r:embed="rId5"/>
          <a:stretch>
            <a:fillRect/>
          </a:stretch>
        </p:blipFill>
        <p:spPr>
          <a:xfrm>
            <a:off x="7759233" y="1678473"/>
            <a:ext cx="245791" cy="245791"/>
          </a:xfrm>
          <a:prstGeom prst="rect">
            <a:avLst/>
          </a:prstGeom>
        </p:spPr>
      </p:pic>
      <p:sp>
        <p:nvSpPr>
          <p:cNvPr id="27" name="Text 20"/>
          <p:cNvSpPr txBox="1"/>
          <p:nvPr/>
        </p:nvSpPr>
        <p:spPr>
          <a:xfrm>
            <a:off x="7168896" y="211226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Cloud Vision</a:t>
            </a:r>
            <a:endParaRPr lang="en-US" sz="1250" dirty="0"/>
          </a:p>
        </p:txBody>
      </p:sp>
      <p:sp>
        <p:nvSpPr>
          <p:cNvPr id="28" name="Text 21"/>
          <p:cNvSpPr txBox="1"/>
          <p:nvPr/>
        </p:nvSpPr>
        <p:spPr>
          <a:xfrm>
            <a:off x="7205472" y="238658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Text detection gate before Gemini runs</a:t>
            </a:r>
            <a:endParaRPr lang="en-US" sz="950" dirty="0"/>
          </a:p>
        </p:txBody>
      </p:sp>
      <p:sp>
        <p:nvSpPr>
          <p:cNvPr id="29" name="Shape 22"/>
          <p:cNvSpPr/>
          <p:nvPr/>
        </p:nvSpPr>
        <p:spPr>
          <a:xfrm>
            <a:off x="457200" y="3063240"/>
            <a:ext cx="1536192" cy="1481328"/>
          </a:xfrm>
          <a:prstGeom prst="roundRect">
            <a:avLst>
              <a:gd name="adj" fmla="val 6173"/>
            </a:avLst>
          </a:prstGeom>
          <a:solidFill>
            <a:srgbClr val="F3F4F6"/>
          </a:solidFill>
          <a:ln/>
        </p:spPr>
      </p:sp>
      <p:sp>
        <p:nvSpPr>
          <p:cNvPr id="30" name="Shape 23"/>
          <p:cNvSpPr/>
          <p:nvPr/>
        </p:nvSpPr>
        <p:spPr>
          <a:xfrm>
            <a:off x="969264" y="3191256"/>
            <a:ext cx="512064" cy="512064"/>
          </a:xfrm>
          <a:prstGeom prst="ellipse">
            <a:avLst/>
          </a:prstGeom>
          <a:solidFill>
            <a:srgbClr val="FBE6D9"/>
          </a:solidFill>
          <a:ln w="12700">
            <a:solidFill>
              <a:srgbClr val="FBE6D9"/>
            </a:solidFill>
            <a:prstDash val="solid"/>
          </a:ln>
        </p:spPr>
      </p:sp>
      <p:pic>
        <p:nvPicPr>
          <p:cNvPr id="31" name="Image 5" descr="preencoded.png">    </p:cNvPr>
          <p:cNvPicPr>
            <a:picLocks noChangeAspect="1"/>
          </p:cNvPicPr>
          <p:nvPr/>
        </p:nvPicPr>
        <p:blipFill>
          <a:blip r:embed="rId6"/>
          <a:stretch>
            <a:fillRect/>
          </a:stretch>
        </p:blipFill>
        <p:spPr>
          <a:xfrm>
            <a:off x="1102401" y="3324393"/>
            <a:ext cx="245791" cy="245791"/>
          </a:xfrm>
          <a:prstGeom prst="rect">
            <a:avLst/>
          </a:prstGeom>
        </p:spPr>
      </p:pic>
      <p:sp>
        <p:nvSpPr>
          <p:cNvPr id="32" name="Text 24"/>
          <p:cNvSpPr txBox="1"/>
          <p:nvPr/>
        </p:nvSpPr>
        <p:spPr>
          <a:xfrm>
            <a:off x="512064" y="375818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Text-to-Speech</a:t>
            </a:r>
            <a:endParaRPr lang="en-US" sz="1250" dirty="0"/>
          </a:p>
        </p:txBody>
      </p:sp>
      <p:sp>
        <p:nvSpPr>
          <p:cNvPr id="33" name="Text 25"/>
          <p:cNvSpPr txBox="1"/>
          <p:nvPr/>
        </p:nvSpPr>
        <p:spPr>
          <a:xfrm>
            <a:off x="548640" y="403250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Neural voices in 7 languages</a:t>
            </a:r>
            <a:endParaRPr lang="en-US" sz="950" dirty="0"/>
          </a:p>
        </p:txBody>
      </p:sp>
      <p:sp>
        <p:nvSpPr>
          <p:cNvPr id="34" name="Shape 26"/>
          <p:cNvSpPr/>
          <p:nvPr/>
        </p:nvSpPr>
        <p:spPr>
          <a:xfrm>
            <a:off x="2121408" y="3063240"/>
            <a:ext cx="1536192" cy="1481328"/>
          </a:xfrm>
          <a:prstGeom prst="roundRect">
            <a:avLst>
              <a:gd name="adj" fmla="val 6173"/>
            </a:avLst>
          </a:prstGeom>
          <a:solidFill>
            <a:srgbClr val="F3F4F6"/>
          </a:solidFill>
          <a:ln/>
        </p:spPr>
      </p:sp>
      <p:sp>
        <p:nvSpPr>
          <p:cNvPr id="35" name="Shape 27"/>
          <p:cNvSpPr/>
          <p:nvPr/>
        </p:nvSpPr>
        <p:spPr>
          <a:xfrm>
            <a:off x="2633472" y="3191256"/>
            <a:ext cx="512064" cy="512064"/>
          </a:xfrm>
          <a:prstGeom prst="ellipse">
            <a:avLst/>
          </a:prstGeom>
          <a:solidFill>
            <a:srgbClr val="FBE6D9"/>
          </a:solidFill>
          <a:ln w="12700">
            <a:solidFill>
              <a:srgbClr val="FBE6D9"/>
            </a:solidFill>
            <a:prstDash val="solid"/>
          </a:ln>
        </p:spPr>
      </p:sp>
      <p:pic>
        <p:nvPicPr>
          <p:cNvPr id="36" name="Image 6" descr="preencoded.png">    </p:cNvPr>
          <p:cNvPicPr>
            <a:picLocks noChangeAspect="1"/>
          </p:cNvPicPr>
          <p:nvPr/>
        </p:nvPicPr>
        <p:blipFill>
          <a:blip r:embed="rId7"/>
          <a:stretch>
            <a:fillRect/>
          </a:stretch>
        </p:blipFill>
        <p:spPr>
          <a:xfrm>
            <a:off x="2766609" y="3324393"/>
            <a:ext cx="245791" cy="245791"/>
          </a:xfrm>
          <a:prstGeom prst="rect">
            <a:avLst/>
          </a:prstGeom>
        </p:spPr>
      </p:pic>
      <p:sp>
        <p:nvSpPr>
          <p:cNvPr id="37" name="Text 28"/>
          <p:cNvSpPr txBox="1"/>
          <p:nvPr/>
        </p:nvSpPr>
        <p:spPr>
          <a:xfrm>
            <a:off x="2176272" y="375818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Firestore</a:t>
            </a:r>
            <a:endParaRPr lang="en-US" sz="1250" dirty="0"/>
          </a:p>
        </p:txBody>
      </p:sp>
      <p:sp>
        <p:nvSpPr>
          <p:cNvPr id="38" name="Text 29"/>
          <p:cNvSpPr txBox="1"/>
          <p:nvPr/>
        </p:nvSpPr>
        <p:spPr>
          <a:xfrm>
            <a:off x="2212848" y="403250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Serverless NoSQL history (free tier)</a:t>
            </a:r>
            <a:endParaRPr lang="en-US" sz="950" dirty="0"/>
          </a:p>
        </p:txBody>
      </p:sp>
      <p:sp>
        <p:nvSpPr>
          <p:cNvPr id="39" name="Shape 30"/>
          <p:cNvSpPr/>
          <p:nvPr/>
        </p:nvSpPr>
        <p:spPr>
          <a:xfrm>
            <a:off x="3785616" y="3063240"/>
            <a:ext cx="1536192" cy="1481328"/>
          </a:xfrm>
          <a:prstGeom prst="roundRect">
            <a:avLst>
              <a:gd name="adj" fmla="val 6173"/>
            </a:avLst>
          </a:prstGeom>
          <a:solidFill>
            <a:srgbClr val="F3F4F6"/>
          </a:solidFill>
          <a:ln/>
        </p:spPr>
      </p:sp>
      <p:sp>
        <p:nvSpPr>
          <p:cNvPr id="40" name="Shape 31"/>
          <p:cNvSpPr/>
          <p:nvPr/>
        </p:nvSpPr>
        <p:spPr>
          <a:xfrm>
            <a:off x="4297680" y="3191256"/>
            <a:ext cx="512064" cy="512064"/>
          </a:xfrm>
          <a:prstGeom prst="ellipse">
            <a:avLst/>
          </a:prstGeom>
          <a:solidFill>
            <a:srgbClr val="FBE6D9"/>
          </a:solidFill>
          <a:ln w="12700">
            <a:solidFill>
              <a:srgbClr val="FBE6D9"/>
            </a:solidFill>
            <a:prstDash val="solid"/>
          </a:ln>
        </p:spPr>
      </p:sp>
      <p:pic>
        <p:nvPicPr>
          <p:cNvPr id="41" name="Image 7" descr="preencoded.png">    </p:cNvPr>
          <p:cNvPicPr>
            <a:picLocks noChangeAspect="1"/>
          </p:cNvPicPr>
          <p:nvPr/>
        </p:nvPicPr>
        <p:blipFill>
          <a:blip r:embed="rId8"/>
          <a:stretch>
            <a:fillRect/>
          </a:stretch>
        </p:blipFill>
        <p:spPr>
          <a:xfrm>
            <a:off x="4430817" y="3324393"/>
            <a:ext cx="245791" cy="245791"/>
          </a:xfrm>
          <a:prstGeom prst="rect">
            <a:avLst/>
          </a:prstGeom>
        </p:spPr>
      </p:pic>
      <p:sp>
        <p:nvSpPr>
          <p:cNvPr id="42" name="Text 32"/>
          <p:cNvSpPr txBox="1"/>
          <p:nvPr/>
        </p:nvSpPr>
        <p:spPr>
          <a:xfrm>
            <a:off x="3840480" y="375818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Storage hosting</a:t>
            </a:r>
            <a:endParaRPr lang="en-US" sz="1250" dirty="0"/>
          </a:p>
        </p:txBody>
      </p:sp>
      <p:sp>
        <p:nvSpPr>
          <p:cNvPr id="43" name="Text 33"/>
          <p:cNvSpPr txBox="1"/>
          <p:nvPr/>
        </p:nvSpPr>
        <p:spPr>
          <a:xfrm>
            <a:off x="3877056" y="403250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HTTPS static website for the web app</a:t>
            </a:r>
            <a:endParaRPr lang="en-US" sz="950" dirty="0"/>
          </a:p>
        </p:txBody>
      </p:sp>
      <p:sp>
        <p:nvSpPr>
          <p:cNvPr id="44" name="Shape 34"/>
          <p:cNvSpPr/>
          <p:nvPr/>
        </p:nvSpPr>
        <p:spPr>
          <a:xfrm>
            <a:off x="5449824" y="3063240"/>
            <a:ext cx="1536192" cy="1481328"/>
          </a:xfrm>
          <a:prstGeom prst="roundRect">
            <a:avLst>
              <a:gd name="adj" fmla="val 6173"/>
            </a:avLst>
          </a:prstGeom>
          <a:solidFill>
            <a:srgbClr val="F9FAFB"/>
          </a:solidFill>
          <a:ln/>
        </p:spPr>
      </p:sp>
      <p:sp>
        <p:nvSpPr>
          <p:cNvPr id="45" name="Shape 35"/>
          <p:cNvSpPr/>
          <p:nvPr/>
        </p:nvSpPr>
        <p:spPr>
          <a:xfrm>
            <a:off x="5961888" y="3191256"/>
            <a:ext cx="512064" cy="512064"/>
          </a:xfrm>
          <a:prstGeom prst="ellipse">
            <a:avLst/>
          </a:prstGeom>
          <a:solidFill>
            <a:srgbClr val="D8EFEC"/>
          </a:solidFill>
          <a:ln w="12700">
            <a:solidFill>
              <a:srgbClr val="D8EFEC"/>
            </a:solidFill>
            <a:prstDash val="solid"/>
          </a:ln>
        </p:spPr>
      </p:sp>
      <p:pic>
        <p:nvPicPr>
          <p:cNvPr id="46" name="Image 8" descr="preencoded.png">    </p:cNvPr>
          <p:cNvPicPr>
            <a:picLocks noChangeAspect="1"/>
          </p:cNvPicPr>
          <p:nvPr/>
        </p:nvPicPr>
        <p:blipFill>
          <a:blip r:embed="rId9"/>
          <a:stretch>
            <a:fillRect/>
          </a:stretch>
        </p:blipFill>
        <p:spPr>
          <a:xfrm>
            <a:off x="6095025" y="3324393"/>
            <a:ext cx="245791" cy="245791"/>
          </a:xfrm>
          <a:prstGeom prst="rect">
            <a:avLst/>
          </a:prstGeom>
        </p:spPr>
      </p:pic>
      <p:sp>
        <p:nvSpPr>
          <p:cNvPr id="47" name="Text 36"/>
          <p:cNvSpPr txBox="1"/>
          <p:nvPr/>
        </p:nvSpPr>
        <p:spPr>
          <a:xfrm>
            <a:off x="5504688" y="375818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IAM</a:t>
            </a:r>
            <a:endParaRPr lang="en-US" sz="1250" dirty="0"/>
          </a:p>
        </p:txBody>
      </p:sp>
      <p:sp>
        <p:nvSpPr>
          <p:cNvPr id="48" name="Text 37"/>
          <p:cNvSpPr txBox="1"/>
          <p:nvPr/>
        </p:nvSpPr>
        <p:spPr>
          <a:xfrm>
            <a:off x="5541264" y="403250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Least-privilege service accounts</a:t>
            </a:r>
            <a:endParaRPr lang="en-US" sz="950" dirty="0"/>
          </a:p>
        </p:txBody>
      </p:sp>
      <p:sp>
        <p:nvSpPr>
          <p:cNvPr id="49" name="Shape 38"/>
          <p:cNvSpPr/>
          <p:nvPr/>
        </p:nvSpPr>
        <p:spPr>
          <a:xfrm>
            <a:off x="7114032" y="3063240"/>
            <a:ext cx="1536192" cy="1481328"/>
          </a:xfrm>
          <a:prstGeom prst="roundRect">
            <a:avLst>
              <a:gd name="adj" fmla="val 6173"/>
            </a:avLst>
          </a:prstGeom>
          <a:solidFill>
            <a:srgbClr val="F9FAFB"/>
          </a:solidFill>
          <a:ln/>
        </p:spPr>
      </p:sp>
      <p:sp>
        <p:nvSpPr>
          <p:cNvPr id="50" name="Shape 39"/>
          <p:cNvSpPr/>
          <p:nvPr/>
        </p:nvSpPr>
        <p:spPr>
          <a:xfrm>
            <a:off x="7626096" y="3191256"/>
            <a:ext cx="512064" cy="512064"/>
          </a:xfrm>
          <a:prstGeom prst="ellipse">
            <a:avLst/>
          </a:prstGeom>
          <a:solidFill>
            <a:srgbClr val="D8EFEC"/>
          </a:solidFill>
          <a:ln w="12700">
            <a:solidFill>
              <a:srgbClr val="D8EFEC"/>
            </a:solidFill>
            <a:prstDash val="solid"/>
          </a:ln>
        </p:spPr>
      </p:sp>
      <p:pic>
        <p:nvPicPr>
          <p:cNvPr id="51" name="Image 9" descr="preencoded.png">    </p:cNvPr>
          <p:cNvPicPr>
            <a:picLocks noChangeAspect="1"/>
          </p:cNvPicPr>
          <p:nvPr/>
        </p:nvPicPr>
        <p:blipFill>
          <a:blip r:embed="rId10"/>
          <a:stretch>
            <a:fillRect/>
          </a:stretch>
        </p:blipFill>
        <p:spPr>
          <a:xfrm>
            <a:off x="7759233" y="3324393"/>
            <a:ext cx="245791" cy="245791"/>
          </a:xfrm>
          <a:prstGeom prst="rect">
            <a:avLst/>
          </a:prstGeom>
        </p:spPr>
      </p:pic>
      <p:sp>
        <p:nvSpPr>
          <p:cNvPr id="52" name="Text 40"/>
          <p:cNvSpPr txBox="1"/>
          <p:nvPr/>
        </p:nvSpPr>
        <p:spPr>
          <a:xfrm>
            <a:off x="7168896" y="3758184"/>
            <a:ext cx="1426464" cy="274320"/>
          </a:xfrm>
          <a:prstGeom prst="rect">
            <a:avLst/>
          </a:prstGeom>
          <a:noFill/>
          <a:ln/>
        </p:spPr>
        <p:txBody>
          <a:bodyPr wrap="square" lIns="0" tIns="0" rIns="0" bIns="0" rtlCol="0" anchor="ctr"/>
          <a:lstStyle/>
          <a:p>
            <a:pPr algn="ctr" indent="0" marL="0">
              <a:buNone/>
            </a:pPr>
            <a:r>
              <a:rPr lang="en-US" sz="1250" b="1" dirty="0">
                <a:solidFill>
                  <a:srgbClr val="1F1A17"/>
                </a:solidFill>
                <a:latin typeface="Cambria" pitchFamily="34" charset="0"/>
                <a:ea typeface="Cambria" pitchFamily="34" charset="-122"/>
                <a:cs typeface="Cambria" pitchFamily="34" charset="-120"/>
              </a:rPr>
              <a:t>Cloud Logging</a:t>
            </a:r>
            <a:endParaRPr lang="en-US" sz="1250" dirty="0"/>
          </a:p>
        </p:txBody>
      </p:sp>
      <p:sp>
        <p:nvSpPr>
          <p:cNvPr id="53" name="Text 41"/>
          <p:cNvSpPr txBox="1"/>
          <p:nvPr/>
        </p:nvSpPr>
        <p:spPr>
          <a:xfrm>
            <a:off x="7205472" y="4032504"/>
            <a:ext cx="1353312" cy="457200"/>
          </a:xfrm>
          <a:prstGeom prst="rect">
            <a:avLst/>
          </a:prstGeom>
          <a:noFill/>
          <a:ln/>
        </p:spPr>
        <p:txBody>
          <a:bodyPr wrap="square" lIns="0" tIns="0" rIns="0" bIns="0" rtlCol="0" anchor="t"/>
          <a:lstStyle/>
          <a:p>
            <a:pPr algn="ctr" indent="0" marL="0">
              <a:buNone/>
            </a:pPr>
            <a:r>
              <a:rPr lang="en-US" sz="950" dirty="0">
                <a:solidFill>
                  <a:srgbClr val="5B524B"/>
                </a:solidFill>
                <a:latin typeface="Calibri" pitchFamily="34" charset="0"/>
                <a:ea typeface="Calibri" pitchFamily="34" charset="-122"/>
                <a:cs typeface="Calibri" pitchFamily="34" charset="-120"/>
              </a:rPr>
              <a:t>Logs &amp; metrics for every request</a:t>
            </a:r>
            <a:endParaRPr lang="en-US" sz="950" dirty="0"/>
          </a:p>
        </p:txBody>
      </p:sp>
      <p:sp>
        <p:nvSpPr>
          <p:cNvPr id="54" name="Text 4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Development technologies</a:t>
            </a:r>
            <a:endParaRPr lang="en-US" sz="3000" dirty="0"/>
          </a:p>
        </p:txBody>
      </p:sp>
      <p:sp>
        <p:nvSpPr>
          <p:cNvPr id="3" name="Shape 1"/>
          <p:cNvSpPr/>
          <p:nvPr/>
        </p:nvSpPr>
        <p:spPr>
          <a:xfrm>
            <a:off x="457200" y="1097280"/>
            <a:ext cx="548640" cy="548640"/>
          </a:xfrm>
          <a:prstGeom prst="ellipse">
            <a:avLst/>
          </a:prstGeom>
          <a:solidFill>
            <a:srgbClr val="FBE6D9"/>
          </a:solidFill>
          <a:ln w="12700">
            <a:solidFill>
              <a:srgbClr val="FBE6D9"/>
            </a:solidFill>
            <a:prstDash val="solid"/>
          </a:ln>
        </p:spPr>
      </p:sp>
      <p:pic>
        <p:nvPicPr>
          <p:cNvPr id="4" name="Image 0" descr="preencoded.png">    </p:cNvPr>
          <p:cNvPicPr>
            <a:picLocks noChangeAspect="1"/>
          </p:cNvPicPr>
          <p:nvPr/>
        </p:nvPicPr>
        <p:blipFill>
          <a:blip r:embed="rId1"/>
          <a:stretch>
            <a:fillRect/>
          </a:stretch>
        </p:blipFill>
        <p:spPr>
          <a:xfrm>
            <a:off x="599846" y="1239926"/>
            <a:ext cx="263347" cy="263347"/>
          </a:xfrm>
          <a:prstGeom prst="rect">
            <a:avLst/>
          </a:prstGeom>
        </p:spPr>
      </p:pic>
      <p:sp>
        <p:nvSpPr>
          <p:cNvPr id="5" name="Text 2"/>
          <p:cNvSpPr txBox="1"/>
          <p:nvPr/>
        </p:nvSpPr>
        <p:spPr>
          <a:xfrm>
            <a:off x="1188720" y="109728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Python 3.12 + Google Cloud SDKs</a:t>
            </a:r>
            <a:endParaRPr lang="en-US" sz="1500" dirty="0"/>
          </a:p>
        </p:txBody>
      </p:sp>
      <p:sp>
        <p:nvSpPr>
          <p:cNvPr id="6" name="Text 3"/>
          <p:cNvSpPr txBox="1"/>
          <p:nvPr/>
        </p:nvSpPr>
        <p:spPr>
          <a:xfrm>
            <a:off x="1188720" y="1389888"/>
            <a:ext cx="3291840" cy="45720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Cloud Run function calling Storage, Vision, Vertex AI (google-genai), Text-to-Speech and Firestore</a:t>
            </a:r>
            <a:endParaRPr lang="en-US" sz="1150" dirty="0"/>
          </a:p>
        </p:txBody>
      </p:sp>
      <p:sp>
        <p:nvSpPr>
          <p:cNvPr id="7" name="Shape 4"/>
          <p:cNvSpPr/>
          <p:nvPr/>
        </p:nvSpPr>
        <p:spPr>
          <a:xfrm>
            <a:off x="457200" y="1965960"/>
            <a:ext cx="548640" cy="548640"/>
          </a:xfrm>
          <a:prstGeom prst="ellipse">
            <a:avLst/>
          </a:prstGeom>
          <a:solidFill>
            <a:srgbClr val="FBE6D9"/>
          </a:solidFill>
          <a:ln w="12700">
            <a:solidFill>
              <a:srgbClr val="FBE6D9"/>
            </a:solidFill>
            <a:prstDash val="solid"/>
          </a:ln>
        </p:spPr>
      </p:sp>
      <p:pic>
        <p:nvPicPr>
          <p:cNvPr id="8" name="Image 1" descr="preencoded.png">    </p:cNvPr>
          <p:cNvPicPr>
            <a:picLocks noChangeAspect="1"/>
          </p:cNvPicPr>
          <p:nvPr/>
        </p:nvPicPr>
        <p:blipFill>
          <a:blip r:embed="rId2"/>
          <a:stretch>
            <a:fillRect/>
          </a:stretch>
        </p:blipFill>
        <p:spPr>
          <a:xfrm>
            <a:off x="599846" y="2108606"/>
            <a:ext cx="263347" cy="263347"/>
          </a:xfrm>
          <a:prstGeom prst="rect">
            <a:avLst/>
          </a:prstGeom>
        </p:spPr>
      </p:pic>
      <p:sp>
        <p:nvSpPr>
          <p:cNvPr id="9" name="Text 5"/>
          <p:cNvSpPr txBox="1"/>
          <p:nvPr/>
        </p:nvSpPr>
        <p:spPr>
          <a:xfrm>
            <a:off x="1188720" y="196596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HTML5</a:t>
            </a:r>
            <a:endParaRPr lang="en-US" sz="1500" dirty="0"/>
          </a:p>
        </p:txBody>
      </p:sp>
      <p:sp>
        <p:nvSpPr>
          <p:cNvPr id="10" name="Text 6"/>
          <p:cNvSpPr txBox="1"/>
          <p:nvPr/>
        </p:nvSpPr>
        <p:spPr>
          <a:xfrm>
            <a:off x="1188720" y="2258568"/>
            <a:ext cx="3291840" cy="45720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Semantic, accessible page structure with a skip link and ARIA roles</a:t>
            </a:r>
            <a:endParaRPr lang="en-US" sz="1150" dirty="0"/>
          </a:p>
        </p:txBody>
      </p:sp>
      <p:sp>
        <p:nvSpPr>
          <p:cNvPr id="11" name="Shape 7"/>
          <p:cNvSpPr/>
          <p:nvPr/>
        </p:nvSpPr>
        <p:spPr>
          <a:xfrm>
            <a:off x="457200" y="2834640"/>
            <a:ext cx="548640" cy="548640"/>
          </a:xfrm>
          <a:prstGeom prst="ellipse">
            <a:avLst/>
          </a:prstGeom>
          <a:solidFill>
            <a:srgbClr val="FBE6D9"/>
          </a:solidFill>
          <a:ln w="12700">
            <a:solidFill>
              <a:srgbClr val="FBE6D9"/>
            </a:solidFill>
            <a:prstDash val="solid"/>
          </a:ln>
        </p:spPr>
      </p:sp>
      <p:pic>
        <p:nvPicPr>
          <p:cNvPr id="12" name="Image 2" descr="preencoded.png">    </p:cNvPr>
          <p:cNvPicPr>
            <a:picLocks noChangeAspect="1"/>
          </p:cNvPicPr>
          <p:nvPr/>
        </p:nvPicPr>
        <p:blipFill>
          <a:blip r:embed="rId3"/>
          <a:stretch>
            <a:fillRect/>
          </a:stretch>
        </p:blipFill>
        <p:spPr>
          <a:xfrm>
            <a:off x="599846" y="2977286"/>
            <a:ext cx="263347" cy="263347"/>
          </a:xfrm>
          <a:prstGeom prst="rect">
            <a:avLst/>
          </a:prstGeom>
        </p:spPr>
      </p:pic>
      <p:sp>
        <p:nvSpPr>
          <p:cNvPr id="13" name="Text 8"/>
          <p:cNvSpPr txBox="1"/>
          <p:nvPr/>
        </p:nvSpPr>
        <p:spPr>
          <a:xfrm>
            <a:off x="1188720" y="283464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CSS3</a:t>
            </a:r>
            <a:endParaRPr lang="en-US" sz="1500" dirty="0"/>
          </a:p>
        </p:txBody>
      </p:sp>
      <p:sp>
        <p:nvSpPr>
          <p:cNvPr id="14" name="Text 9"/>
          <p:cNvSpPr txBox="1"/>
          <p:nvPr/>
        </p:nvSpPr>
        <p:spPr>
          <a:xfrm>
            <a:off x="1188720" y="3127248"/>
            <a:ext cx="3291840" cy="45720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Responsive grid, design tokens, animated pipeline tracker, reduced-motion support</a:t>
            </a:r>
            <a:endParaRPr lang="en-US" sz="1150" dirty="0"/>
          </a:p>
        </p:txBody>
      </p:sp>
      <p:sp>
        <p:nvSpPr>
          <p:cNvPr id="15" name="Shape 10"/>
          <p:cNvSpPr/>
          <p:nvPr/>
        </p:nvSpPr>
        <p:spPr>
          <a:xfrm>
            <a:off x="457200" y="3703320"/>
            <a:ext cx="548640" cy="548640"/>
          </a:xfrm>
          <a:prstGeom prst="ellipse">
            <a:avLst/>
          </a:prstGeom>
          <a:solidFill>
            <a:srgbClr val="FBE6D9"/>
          </a:solidFill>
          <a:ln w="12700">
            <a:solidFill>
              <a:srgbClr val="FBE6D9"/>
            </a:solidFill>
            <a:prstDash val="solid"/>
          </a:ln>
        </p:spPr>
      </p:sp>
      <p:pic>
        <p:nvPicPr>
          <p:cNvPr id="16" name="Image 3" descr="preencoded.png">    </p:cNvPr>
          <p:cNvPicPr>
            <a:picLocks noChangeAspect="1"/>
          </p:cNvPicPr>
          <p:nvPr/>
        </p:nvPicPr>
        <p:blipFill>
          <a:blip r:embed="rId4"/>
          <a:stretch>
            <a:fillRect/>
          </a:stretch>
        </p:blipFill>
        <p:spPr>
          <a:xfrm>
            <a:off x="599846" y="3845966"/>
            <a:ext cx="263347" cy="263347"/>
          </a:xfrm>
          <a:prstGeom prst="rect">
            <a:avLst/>
          </a:prstGeom>
        </p:spPr>
      </p:pic>
      <p:sp>
        <p:nvSpPr>
          <p:cNvPr id="17" name="Text 11"/>
          <p:cNvSpPr txBox="1"/>
          <p:nvPr/>
        </p:nvSpPr>
        <p:spPr>
          <a:xfrm>
            <a:off x="1188720" y="370332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JavaScript (ES2020)</a:t>
            </a:r>
            <a:endParaRPr lang="en-US" sz="1500" dirty="0"/>
          </a:p>
        </p:txBody>
      </p:sp>
      <p:sp>
        <p:nvSpPr>
          <p:cNvPr id="18" name="Text 12"/>
          <p:cNvSpPr txBox="1"/>
          <p:nvPr/>
        </p:nvSpPr>
        <p:spPr>
          <a:xfrm>
            <a:off x="1188720" y="3995928"/>
            <a:ext cx="3291840" cy="45720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Camera / drag-and-drop upload, Canvas resizing, Fetch API, audio playback</a:t>
            </a:r>
            <a:endParaRPr lang="en-US" sz="1150" dirty="0"/>
          </a:p>
        </p:txBody>
      </p:sp>
      <p:sp>
        <p:nvSpPr>
          <p:cNvPr id="19" name="Shape 13"/>
          <p:cNvSpPr/>
          <p:nvPr/>
        </p:nvSpPr>
        <p:spPr>
          <a:xfrm>
            <a:off x="4892040" y="1005840"/>
            <a:ext cx="3794760" cy="2834640"/>
          </a:xfrm>
          <a:prstGeom prst="roundRect">
            <a:avLst>
              <a:gd name="adj" fmla="val 3871"/>
            </a:avLst>
          </a:prstGeom>
          <a:solidFill>
            <a:srgbClr val="F3F4F6"/>
          </a:solidFill>
          <a:ln/>
        </p:spPr>
      </p:sp>
      <p:sp>
        <p:nvSpPr>
          <p:cNvPr id="20" name="Shape 14"/>
          <p:cNvSpPr/>
          <p:nvPr/>
        </p:nvSpPr>
        <p:spPr>
          <a:xfrm>
            <a:off x="5120640" y="1097280"/>
            <a:ext cx="548640" cy="548640"/>
          </a:xfrm>
          <a:prstGeom prst="ellipse">
            <a:avLst/>
          </a:prstGeom>
          <a:solidFill>
            <a:srgbClr val="FBE6D9"/>
          </a:solidFill>
          <a:ln w="12700">
            <a:solidFill>
              <a:srgbClr val="FBE6D9"/>
            </a:solidFill>
            <a:prstDash val="solid"/>
          </a:ln>
        </p:spPr>
      </p:sp>
      <p:pic>
        <p:nvPicPr>
          <p:cNvPr id="21" name="Image 4" descr="preencoded.png">    </p:cNvPr>
          <p:cNvPicPr>
            <a:picLocks noChangeAspect="1"/>
          </p:cNvPicPr>
          <p:nvPr/>
        </p:nvPicPr>
        <p:blipFill>
          <a:blip r:embed="rId5"/>
          <a:stretch>
            <a:fillRect/>
          </a:stretch>
        </p:blipFill>
        <p:spPr>
          <a:xfrm>
            <a:off x="5263286" y="1239926"/>
            <a:ext cx="263347" cy="263347"/>
          </a:xfrm>
          <a:prstGeom prst="rect">
            <a:avLst/>
          </a:prstGeom>
        </p:spPr>
      </p:pic>
      <p:sp>
        <p:nvSpPr>
          <p:cNvPr id="22" name="Text 15"/>
          <p:cNvSpPr txBox="1"/>
          <p:nvPr/>
        </p:nvSpPr>
        <p:spPr>
          <a:xfrm>
            <a:off x="5852160" y="1097280"/>
            <a:ext cx="265176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gcloud CLI + Bash</a:t>
            </a:r>
            <a:endParaRPr lang="en-US" sz="1500" dirty="0"/>
          </a:p>
        </p:txBody>
      </p:sp>
      <p:sp>
        <p:nvSpPr>
          <p:cNvPr id="23" name="Text 16"/>
          <p:cNvSpPr txBox="1"/>
          <p:nvPr/>
        </p:nvSpPr>
        <p:spPr>
          <a:xfrm>
            <a:off x="5852160" y="1389888"/>
            <a:ext cx="2651760" cy="45720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One repeatable script, run in Cloud Shell, provisions every resource</a:t>
            </a:r>
            <a:endParaRPr lang="en-US" sz="1150" dirty="0"/>
          </a:p>
        </p:txBody>
      </p:sp>
      <p:sp>
        <p:nvSpPr>
          <p:cNvPr id="24" name="Shape 17"/>
          <p:cNvSpPr/>
          <p:nvPr/>
        </p:nvSpPr>
        <p:spPr>
          <a:xfrm>
            <a:off x="5120640" y="1965960"/>
            <a:ext cx="548640" cy="548640"/>
          </a:xfrm>
          <a:prstGeom prst="ellipse">
            <a:avLst/>
          </a:prstGeom>
          <a:solidFill>
            <a:srgbClr val="FBE6D9"/>
          </a:solidFill>
          <a:ln w="12700">
            <a:solidFill>
              <a:srgbClr val="FBE6D9"/>
            </a:solidFill>
            <a:prstDash val="solid"/>
          </a:ln>
        </p:spPr>
      </p:sp>
      <p:pic>
        <p:nvPicPr>
          <p:cNvPr id="25" name="Image 5" descr="preencoded.png">    </p:cNvPr>
          <p:cNvPicPr>
            <a:picLocks noChangeAspect="1"/>
          </p:cNvPicPr>
          <p:nvPr/>
        </p:nvPicPr>
        <p:blipFill>
          <a:blip r:embed="rId6"/>
          <a:stretch>
            <a:fillRect/>
          </a:stretch>
        </p:blipFill>
        <p:spPr>
          <a:xfrm>
            <a:off x="5263286" y="2108606"/>
            <a:ext cx="263347" cy="263347"/>
          </a:xfrm>
          <a:prstGeom prst="rect">
            <a:avLst/>
          </a:prstGeom>
        </p:spPr>
      </p:pic>
      <p:sp>
        <p:nvSpPr>
          <p:cNvPr id="26" name="Text 18"/>
          <p:cNvSpPr txBox="1"/>
          <p:nvPr/>
        </p:nvSpPr>
        <p:spPr>
          <a:xfrm>
            <a:off x="5852160" y="1965960"/>
            <a:ext cx="265176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Git + GitHub</a:t>
            </a:r>
            <a:endParaRPr lang="en-US" sz="1500" dirty="0"/>
          </a:p>
        </p:txBody>
      </p:sp>
      <p:sp>
        <p:nvSpPr>
          <p:cNvPr id="27" name="Text 19"/>
          <p:cNvSpPr txBox="1"/>
          <p:nvPr/>
        </p:nvSpPr>
        <p:spPr>
          <a:xfrm>
            <a:off x="5852160" y="2258568"/>
            <a:ext cx="2651760" cy="45720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Version control with small, atomic commits</a:t>
            </a:r>
            <a:endParaRPr lang="en-US" sz="1150" dirty="0"/>
          </a:p>
        </p:txBody>
      </p:sp>
      <p:sp>
        <p:nvSpPr>
          <p:cNvPr id="28" name="Shape 20"/>
          <p:cNvSpPr/>
          <p:nvPr/>
        </p:nvSpPr>
        <p:spPr>
          <a:xfrm>
            <a:off x="5120640" y="2834640"/>
            <a:ext cx="548640" cy="548640"/>
          </a:xfrm>
          <a:prstGeom prst="ellipse">
            <a:avLst/>
          </a:prstGeom>
          <a:solidFill>
            <a:srgbClr val="FBE6D9"/>
          </a:solidFill>
          <a:ln w="12700">
            <a:solidFill>
              <a:srgbClr val="FBE6D9"/>
            </a:solidFill>
            <a:prstDash val="solid"/>
          </a:ln>
        </p:spPr>
      </p:sp>
      <p:pic>
        <p:nvPicPr>
          <p:cNvPr id="29" name="Image 6" descr="preencoded.png">    </p:cNvPr>
          <p:cNvPicPr>
            <a:picLocks noChangeAspect="1"/>
          </p:cNvPicPr>
          <p:nvPr/>
        </p:nvPicPr>
        <p:blipFill>
          <a:blip r:embed="rId7"/>
          <a:stretch>
            <a:fillRect/>
          </a:stretch>
        </p:blipFill>
        <p:spPr>
          <a:xfrm>
            <a:off x="5263286" y="2977286"/>
            <a:ext cx="263347" cy="263347"/>
          </a:xfrm>
          <a:prstGeom prst="rect">
            <a:avLst/>
          </a:prstGeom>
        </p:spPr>
      </p:pic>
      <p:sp>
        <p:nvSpPr>
          <p:cNvPr id="30" name="Text 21"/>
          <p:cNvSpPr txBox="1"/>
          <p:nvPr/>
        </p:nvSpPr>
        <p:spPr>
          <a:xfrm>
            <a:off x="5852160" y="2834640"/>
            <a:ext cx="265176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JSON</a:t>
            </a:r>
            <a:endParaRPr lang="en-US" sz="1500" dirty="0"/>
          </a:p>
        </p:txBody>
      </p:sp>
      <p:sp>
        <p:nvSpPr>
          <p:cNvPr id="31" name="Text 22"/>
          <p:cNvSpPr txBox="1"/>
          <p:nvPr/>
        </p:nvSpPr>
        <p:spPr>
          <a:xfrm>
            <a:off x="5852160" y="3127248"/>
            <a:ext cx="2651760" cy="45720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API payloads, structured AI output and the OpenAPI spec</a:t>
            </a:r>
            <a:endParaRPr lang="en-US" sz="1150" dirty="0"/>
          </a:p>
        </p:txBody>
      </p:sp>
      <p:sp>
        <p:nvSpPr>
          <p:cNvPr id="32" name="Text 2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Demo: English notice → Hindi speech</a:t>
            </a:r>
            <a:endParaRPr lang="en-US" sz="3000" dirty="0"/>
          </a:p>
        </p:txBody>
      </p:sp>
      <p:pic>
        <p:nvPicPr>
          <p:cNvPr id="3" name="Image 0" descr="C:\Users\MOHAK\vaanisetu\report\screenshots\02-result-hindi-notice.jpg">    </p:cNvPr>
          <p:cNvPicPr>
            <a:picLocks noChangeAspect="1"/>
          </p:cNvPicPr>
          <p:nvPr/>
        </p:nvPicPr>
        <p:blipFill>
          <a:blip r:embed="rId1"/>
          <a:stretch>
            <a:fillRect/>
          </a:stretch>
        </p:blipFill>
        <p:spPr>
          <a:xfrm>
            <a:off x="457200" y="960120"/>
            <a:ext cx="5760720" cy="2932730"/>
          </a:xfrm>
          <a:prstGeom prst="rect">
            <a:avLst/>
          </a:prstGeom>
          <a:effectLst>
            <a:outerShdw sx="100000" sy="100000" kx="0" ky="0" algn="bl" rotWithShape="0" blurRad="76200" dist="25400" dir="5400000">
              <a:srgbClr val="000000">
                <a:alpha val="18000"/>
              </a:srgbClr>
            </a:outerShdw>
          </a:effectLst>
        </p:spPr>
      </p:pic>
      <p:sp>
        <p:nvSpPr>
          <p:cNvPr id="4" name="Text 1"/>
          <p:cNvSpPr txBox="1"/>
          <p:nvPr/>
        </p:nvSpPr>
        <p:spPr>
          <a:xfrm>
            <a:off x="6400800" y="1005840"/>
            <a:ext cx="228600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1A17"/>
                </a:solidFill>
                <a:latin typeface="Calibri" pitchFamily="34" charset="0"/>
                <a:ea typeface="Calibri" pitchFamily="34" charset="-122"/>
                <a:cs typeface="Calibri" pitchFamily="34" charset="-120"/>
              </a:rPr>
              <a:t>Document type detected: exam notice</a:t>
            </a:r>
            <a:endParaRPr lang="en-US" sz="1250" dirty="0"/>
          </a:p>
          <a:p>
            <a:pPr marL="342900" indent="-342900">
              <a:spcAft>
                <a:spcPts val="800"/>
              </a:spcAft>
              <a:buSzPct val="100000"/>
              <a:buChar char="•"/>
            </a:pPr>
            <a:r>
              <a:rPr lang="en-US" sz="1250" dirty="0">
                <a:solidFill>
                  <a:srgbClr val="1F1A17"/>
                </a:solidFill>
                <a:latin typeface="Calibri" pitchFamily="34" charset="0"/>
                <a:ea typeface="Calibri" pitchFamily="34" charset="-122"/>
                <a:cs typeface="Calibri" pitchFamily="34" charset="-120"/>
              </a:rPr>
              <a:t>Summary written in Hindi and spoken by a neural Text-to-Speech voice</a:t>
            </a:r>
            <a:endParaRPr lang="en-US" sz="1250" dirty="0"/>
          </a:p>
          <a:p>
            <a:pPr marL="342900" indent="-342900">
              <a:spcAft>
                <a:spcPts val="800"/>
              </a:spcAft>
              <a:buSzPct val="100000"/>
              <a:buChar char="•"/>
            </a:pPr>
            <a:r>
              <a:rPr lang="en-US" sz="1250" dirty="0">
                <a:solidFill>
                  <a:srgbClr val="1F1A17"/>
                </a:solidFill>
                <a:latin typeface="Calibri" pitchFamily="34" charset="0"/>
                <a:ea typeface="Calibri" pitchFamily="34" charset="-122"/>
                <a:cs typeface="Calibri" pitchFamily="34" charset="-120"/>
              </a:rPr>
              <a:t>Key points and action items with deadlines</a:t>
            </a:r>
            <a:endParaRPr lang="en-US" sz="1250" dirty="0"/>
          </a:p>
          <a:p>
            <a:pPr marL="342900" indent="-342900">
              <a:spcAft>
                <a:spcPts val="800"/>
              </a:spcAft>
              <a:buSzPct val="100000"/>
              <a:buChar char="•"/>
            </a:pPr>
            <a:r>
              <a:rPr lang="en-US" sz="1250" dirty="0">
                <a:solidFill>
                  <a:srgbClr val="1F1A17"/>
                </a:solidFill>
                <a:latin typeface="Calibri" pitchFamily="34" charset="0"/>
                <a:ea typeface="Calibri" pitchFamily="34" charset="-122"/>
                <a:cs typeface="Calibri" pitchFamily="34" charset="-120"/>
              </a:rPr>
              <a:t>All five pipeline stages complete</a:t>
            </a:r>
            <a:endParaRPr lang="en-US" sz="1250" dirty="0"/>
          </a:p>
          <a:p>
            <a:pPr marL="342900" indent="-342900">
              <a:spcAft>
                <a:spcPts val="800"/>
              </a:spcAft>
              <a:buSzPct val="100000"/>
              <a:buChar char="•"/>
            </a:pPr>
            <a:r>
              <a:rPr lang="en-US" sz="1250" dirty="0">
                <a:solidFill>
                  <a:srgbClr val="1F1A17"/>
                </a:solidFill>
                <a:latin typeface="Calibri" pitchFamily="34" charset="0"/>
                <a:ea typeface="Calibri" pitchFamily="34" charset="-122"/>
                <a:cs typeface="Calibri" pitchFamily="34" charset="-120"/>
              </a:rPr>
              <a:t>Cloud Vision OCR confidence 98%</a:t>
            </a:r>
            <a:endParaRPr lang="en-US" sz="1250" dirty="0"/>
          </a:p>
        </p:txBody>
      </p:sp>
      <p:sp>
        <p:nvSpPr>
          <p:cNvPr id="5"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Demo: Hindi bill → English, and history</a:t>
            </a:r>
            <a:endParaRPr lang="en-US" sz="3000" dirty="0"/>
          </a:p>
        </p:txBody>
      </p:sp>
      <p:pic>
        <p:nvPicPr>
          <p:cNvPr id="3" name="Image 0" descr="C:\Users\MOHAK\vaanisetu\report\screenshots\03-result-english-bill.jpg">    </p:cNvPr>
          <p:cNvPicPr>
            <a:picLocks noChangeAspect="1"/>
          </p:cNvPicPr>
          <p:nvPr/>
        </p:nvPicPr>
        <p:blipFill>
          <a:blip r:embed="rId1"/>
          <a:stretch>
            <a:fillRect/>
          </a:stretch>
        </p:blipFill>
        <p:spPr>
          <a:xfrm>
            <a:off x="457200" y="960120"/>
            <a:ext cx="4023360" cy="2048256"/>
          </a:xfrm>
          <a:prstGeom prst="rect">
            <a:avLst/>
          </a:prstGeom>
          <a:effectLst>
            <a:outerShdw sx="100000" sy="100000" kx="0" ky="0" algn="bl" rotWithShape="0" blurRad="76200" dist="25400" dir="5400000">
              <a:srgbClr val="000000">
                <a:alpha val="18000"/>
              </a:srgbClr>
            </a:outerShdw>
          </a:effectLst>
        </p:spPr>
      </p:pic>
      <p:pic>
        <p:nvPicPr>
          <p:cNvPr id="4" name="Image 1" descr="C:\Users\MOHAK\vaanisetu\report\screenshots\05-history.jpg">    </p:cNvPr>
          <p:cNvPicPr>
            <a:picLocks noChangeAspect="1"/>
          </p:cNvPicPr>
          <p:nvPr/>
        </p:nvPicPr>
        <p:blipFill>
          <a:blip r:embed="rId2"/>
          <a:stretch>
            <a:fillRect/>
          </a:stretch>
        </p:blipFill>
        <p:spPr>
          <a:xfrm>
            <a:off x="4663440" y="960120"/>
            <a:ext cx="4023360" cy="2048256"/>
          </a:xfrm>
          <a:prstGeom prst="rect">
            <a:avLst/>
          </a:prstGeom>
          <a:effectLst>
            <a:outerShdw sx="100000" sy="100000" kx="0" ky="0" algn="bl" rotWithShape="0" blurRad="76200" dist="25400" dir="5400000">
              <a:srgbClr val="000000">
                <a:alpha val="18000"/>
              </a:srgbClr>
            </a:outerShdw>
          </a:effectLst>
        </p:spPr>
      </p:pic>
      <p:sp>
        <p:nvSpPr>
          <p:cNvPr id="5" name="Text 1"/>
          <p:cNvSpPr txBox="1"/>
          <p:nvPr/>
        </p:nvSpPr>
        <p:spPr>
          <a:xfrm>
            <a:off x="457200" y="3200400"/>
            <a:ext cx="4023360" cy="731520"/>
          </a:xfrm>
          <a:prstGeom prst="rect">
            <a:avLst/>
          </a:prstGeom>
          <a:noFill/>
          <a:ln/>
        </p:spPr>
        <p:txBody>
          <a:bodyPr wrap="square" lIns="0" tIns="0" rIns="0" bIns="0" rtlCol="0" anchor="t"/>
          <a:lstStyle/>
          <a:p>
            <a:pPr indent="0" marL="0">
              <a:buNone/>
            </a:pPr>
            <a:r>
              <a:rPr lang="en-US" sz="1200" dirty="0">
                <a:solidFill>
                  <a:srgbClr val="5B524B"/>
                </a:solidFill>
                <a:latin typeface="Calibri" pitchFamily="34" charset="0"/>
                <a:ea typeface="Calibri" pitchFamily="34" charset="-122"/>
                <a:cs typeface="Calibri" pitchFamily="34" charset="-120"/>
              </a:rPr>
              <a:t>A bill printed in Hindi is explained in English: amount due ₹2,170.50, due date 10 October 2026, late fee ₹50.</a:t>
            </a:r>
            <a:endParaRPr lang="en-US" sz="1200" dirty="0"/>
          </a:p>
        </p:txBody>
      </p:sp>
      <p:sp>
        <p:nvSpPr>
          <p:cNvPr id="6" name="Text 2"/>
          <p:cNvSpPr txBox="1"/>
          <p:nvPr/>
        </p:nvSpPr>
        <p:spPr>
          <a:xfrm>
            <a:off x="4663440" y="3200400"/>
            <a:ext cx="4023360" cy="731520"/>
          </a:xfrm>
          <a:prstGeom prst="rect">
            <a:avLst/>
          </a:prstGeom>
          <a:noFill/>
          <a:ln/>
        </p:spPr>
        <p:txBody>
          <a:bodyPr wrap="square" lIns="0" tIns="0" rIns="0" bIns="0" rtlCol="0" anchor="t"/>
          <a:lstStyle/>
          <a:p>
            <a:pPr indent="0" marL="0">
              <a:buNone/>
            </a:pPr>
            <a:r>
              <a:rPr lang="en-US" sz="1200" dirty="0">
                <a:solidFill>
                  <a:srgbClr val="5B524B"/>
                </a:solidFill>
                <a:latin typeface="Calibri" pitchFamily="34" charset="0"/>
                <a:ea typeface="Calibri" pitchFamily="34" charset="-122"/>
                <a:cs typeface="Calibri" pitchFamily="34" charset="-120"/>
              </a:rPr>
              <a:t>Every result is saved in Firestore. Tapping a card replays the explanation and audio.</a:t>
            </a:r>
            <a:endParaRPr lang="en-US" sz="1200" dirty="0"/>
          </a:p>
        </p:txBody>
      </p:sp>
      <p:sp>
        <p:nvSpPr>
          <p:cNvPr id="7" name="Text 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Deployed on Google Cloud (asia-south1)</a:t>
            </a:r>
            <a:endParaRPr lang="en-US" sz="3000" dirty="0"/>
          </a:p>
        </p:txBody>
      </p:sp>
      <p:pic>
        <p:nvPicPr>
          <p:cNvPr id="3" name="Image 0" descr="C:\Users\MOHAK\vaanisetu\report\screenshots\06-cloud-run-function.jpg">    </p:cNvPr>
          <p:cNvPicPr>
            <a:picLocks noChangeAspect="1"/>
          </p:cNvPicPr>
          <p:nvPr/>
        </p:nvPicPr>
        <p:blipFill>
          <a:blip r:embed="rId1"/>
          <a:stretch>
            <a:fillRect/>
          </a:stretch>
        </p:blipFill>
        <p:spPr>
          <a:xfrm>
            <a:off x="457200" y="960120"/>
            <a:ext cx="3017520" cy="1536192"/>
          </a:xfrm>
          <a:prstGeom prst="rect">
            <a:avLst/>
          </a:prstGeom>
          <a:effectLst>
            <a:outerShdw sx="100000" sy="100000" kx="0" ky="0" algn="bl" rotWithShape="0" blurRad="76200" dist="25400" dir="5400000">
              <a:srgbClr val="000000">
                <a:alpha val="18000"/>
              </a:srgbClr>
            </a:outerShdw>
          </a:effectLst>
        </p:spPr>
      </p:pic>
      <p:sp>
        <p:nvSpPr>
          <p:cNvPr id="4" name="Text 1"/>
          <p:cNvSpPr txBox="1"/>
          <p:nvPr/>
        </p:nvSpPr>
        <p:spPr>
          <a:xfrm>
            <a:off x="3566160" y="1508760"/>
            <a:ext cx="1005840" cy="548640"/>
          </a:xfrm>
          <a:prstGeom prst="rect">
            <a:avLst/>
          </a:prstGeom>
          <a:noFill/>
          <a:ln/>
        </p:spPr>
        <p:txBody>
          <a:bodyPr wrap="square" lIns="0" tIns="0" rIns="0" bIns="0" rtlCol="0" anchor="ctr"/>
          <a:lstStyle/>
          <a:p>
            <a:pPr indent="0" marL="0">
              <a:buNone/>
            </a:pPr>
            <a:r>
              <a:rPr lang="en-US" sz="1100" b="1" dirty="0">
                <a:solidFill>
                  <a:srgbClr val="1F1A17"/>
                </a:solidFill>
                <a:latin typeface="Calibri" pitchFamily="34" charset="0"/>
                <a:ea typeface="Calibri" pitchFamily="34" charset="-122"/>
                <a:cs typeface="Calibri" pitchFamily="34" charset="-120"/>
              </a:rPr>
              <a:t>Cloud Run function metrics</a:t>
            </a:r>
            <a:endParaRPr lang="en-US" sz="1100" dirty="0"/>
          </a:p>
        </p:txBody>
      </p:sp>
      <p:pic>
        <p:nvPicPr>
          <p:cNvPr id="5" name="Image 1" descr="C:\Users\MOHAK\vaanisetu\report\screenshots\07-api-gateway.jpg">    </p:cNvPr>
          <p:cNvPicPr>
            <a:picLocks noChangeAspect="1"/>
          </p:cNvPicPr>
          <p:nvPr/>
        </p:nvPicPr>
        <p:blipFill>
          <a:blip r:embed="rId2"/>
          <a:stretch>
            <a:fillRect/>
          </a:stretch>
        </p:blipFill>
        <p:spPr>
          <a:xfrm>
            <a:off x="4663440" y="960120"/>
            <a:ext cx="3017520" cy="1536192"/>
          </a:xfrm>
          <a:prstGeom prst="rect">
            <a:avLst/>
          </a:prstGeom>
          <a:effectLst>
            <a:outerShdw sx="100000" sy="100000" kx="0" ky="0" algn="bl" rotWithShape="0" blurRad="76200" dist="25400" dir="5400000">
              <a:srgbClr val="000000">
                <a:alpha val="18000"/>
              </a:srgbClr>
            </a:outerShdw>
          </a:effectLst>
        </p:spPr>
      </p:pic>
      <p:sp>
        <p:nvSpPr>
          <p:cNvPr id="6" name="Text 2"/>
          <p:cNvSpPr txBox="1"/>
          <p:nvPr/>
        </p:nvSpPr>
        <p:spPr>
          <a:xfrm>
            <a:off x="7772400" y="1508760"/>
            <a:ext cx="1005840" cy="548640"/>
          </a:xfrm>
          <a:prstGeom prst="rect">
            <a:avLst/>
          </a:prstGeom>
          <a:noFill/>
          <a:ln/>
        </p:spPr>
        <p:txBody>
          <a:bodyPr wrap="square" lIns="0" tIns="0" rIns="0" bIns="0" rtlCol="0" anchor="ctr"/>
          <a:lstStyle/>
          <a:p>
            <a:pPr indent="0" marL="0">
              <a:buNone/>
            </a:pPr>
            <a:r>
              <a:rPr lang="en-US" sz="1100" b="1" dirty="0">
                <a:solidFill>
                  <a:srgbClr val="1F1A17"/>
                </a:solidFill>
                <a:latin typeface="Calibri" pitchFamily="34" charset="0"/>
                <a:ea typeface="Calibri" pitchFamily="34" charset="-122"/>
                <a:cs typeface="Calibri" pitchFamily="34" charset="-120"/>
              </a:rPr>
              <a:t>API Gateway: active</a:t>
            </a:r>
            <a:endParaRPr lang="en-US" sz="1100" dirty="0"/>
          </a:p>
        </p:txBody>
      </p:sp>
      <p:pic>
        <p:nvPicPr>
          <p:cNvPr id="7" name="Image 2" descr="C:\Users\MOHAK\vaanisetu\report\screenshots\08-cloud-storage-audio.jpg">    </p:cNvPr>
          <p:cNvPicPr>
            <a:picLocks noChangeAspect="1"/>
          </p:cNvPicPr>
          <p:nvPr/>
        </p:nvPicPr>
        <p:blipFill>
          <a:blip r:embed="rId3"/>
          <a:stretch>
            <a:fillRect/>
          </a:stretch>
        </p:blipFill>
        <p:spPr>
          <a:xfrm>
            <a:off x="457200" y="2880360"/>
            <a:ext cx="3017520" cy="1536192"/>
          </a:xfrm>
          <a:prstGeom prst="rect">
            <a:avLst/>
          </a:prstGeom>
          <a:effectLst>
            <a:outerShdw sx="100000" sy="100000" kx="0" ky="0" algn="bl" rotWithShape="0" blurRad="76200" dist="25400" dir="5400000">
              <a:srgbClr val="000000">
                <a:alpha val="18000"/>
              </a:srgbClr>
            </a:outerShdw>
          </a:effectLst>
        </p:spPr>
      </p:pic>
      <p:sp>
        <p:nvSpPr>
          <p:cNvPr id="8" name="Text 3"/>
          <p:cNvSpPr txBox="1"/>
          <p:nvPr/>
        </p:nvSpPr>
        <p:spPr>
          <a:xfrm>
            <a:off x="3566160" y="3429000"/>
            <a:ext cx="1005840" cy="548640"/>
          </a:xfrm>
          <a:prstGeom prst="rect">
            <a:avLst/>
          </a:prstGeom>
          <a:noFill/>
          <a:ln/>
        </p:spPr>
        <p:txBody>
          <a:bodyPr wrap="square" lIns="0" tIns="0" rIns="0" bIns="0" rtlCol="0" anchor="ctr"/>
          <a:lstStyle/>
          <a:p>
            <a:pPr indent="0" marL="0">
              <a:buNone/>
            </a:pPr>
            <a:r>
              <a:rPr lang="en-US" sz="1100" b="1" dirty="0">
                <a:solidFill>
                  <a:srgbClr val="1F1A17"/>
                </a:solidFill>
                <a:latin typeface="Calibri" pitchFamily="34" charset="0"/>
                <a:ea typeface="Calibri" pitchFamily="34" charset="-122"/>
                <a:cs typeface="Calibri" pitchFamily="34" charset="-120"/>
              </a:rPr>
              <a:t>Cloud Storage: MP3 files</a:t>
            </a:r>
            <a:endParaRPr lang="en-US" sz="1100" dirty="0"/>
          </a:p>
        </p:txBody>
      </p:sp>
      <p:pic>
        <p:nvPicPr>
          <p:cNvPr id="9" name="Image 3" descr="C:\Users\MOHAK\vaanisetu\report\screenshots\09-firestore.jpg">    </p:cNvPr>
          <p:cNvPicPr>
            <a:picLocks noChangeAspect="1"/>
          </p:cNvPicPr>
          <p:nvPr/>
        </p:nvPicPr>
        <p:blipFill>
          <a:blip r:embed="rId4"/>
          <a:stretch>
            <a:fillRect/>
          </a:stretch>
        </p:blipFill>
        <p:spPr>
          <a:xfrm>
            <a:off x="4663440" y="2880360"/>
            <a:ext cx="3017520" cy="1536192"/>
          </a:xfrm>
          <a:prstGeom prst="rect">
            <a:avLst/>
          </a:prstGeom>
          <a:effectLst>
            <a:outerShdw sx="100000" sy="100000" kx="0" ky="0" algn="bl" rotWithShape="0" blurRad="76200" dist="25400" dir="5400000">
              <a:srgbClr val="000000">
                <a:alpha val="18000"/>
              </a:srgbClr>
            </a:outerShdw>
          </a:effectLst>
        </p:spPr>
      </p:pic>
      <p:sp>
        <p:nvSpPr>
          <p:cNvPr id="10" name="Text 4"/>
          <p:cNvSpPr txBox="1"/>
          <p:nvPr/>
        </p:nvSpPr>
        <p:spPr>
          <a:xfrm>
            <a:off x="7772400" y="3429000"/>
            <a:ext cx="1005840" cy="548640"/>
          </a:xfrm>
          <a:prstGeom prst="rect">
            <a:avLst/>
          </a:prstGeom>
          <a:noFill/>
          <a:ln/>
        </p:spPr>
        <p:txBody>
          <a:bodyPr wrap="square" lIns="0" tIns="0" rIns="0" bIns="0" rtlCol="0" anchor="ctr"/>
          <a:lstStyle/>
          <a:p>
            <a:pPr indent="0" marL="0">
              <a:buNone/>
            </a:pPr>
            <a:r>
              <a:rPr lang="en-US" sz="1100" b="1" dirty="0">
                <a:solidFill>
                  <a:srgbClr val="1F1A17"/>
                </a:solidFill>
                <a:latin typeface="Calibri" pitchFamily="34" charset="0"/>
                <a:ea typeface="Calibri" pitchFamily="34" charset="-122"/>
                <a:cs typeface="Calibri" pitchFamily="34" charset="-120"/>
              </a:rPr>
              <a:t>Firestore record</a:t>
            </a:r>
            <a:endParaRPr lang="en-US" sz="1100" dirty="0"/>
          </a:p>
        </p:txBody>
      </p:sp>
      <p:sp>
        <p:nvSpPr>
          <p:cNvPr id="11" name="Text 5"/>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Performance at a glance</a:t>
            </a:r>
            <a:endParaRPr lang="en-US" sz="30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400" dirty="0">
                <a:solidFill>
                  <a:srgbClr val="5B524B"/>
                </a:solidFill>
                <a:latin typeface="Calibri" pitchFamily="34" charset="0"/>
                <a:ea typeface="Calibri" pitchFamily="34" charset="-122"/>
                <a:cs typeface="Calibri" pitchFamily="34" charset="-120"/>
              </a:rPr>
              <a:t>Measured per document during testing</a:t>
            </a:r>
            <a:endParaRPr lang="en-US" sz="1400" dirty="0"/>
          </a:p>
        </p:txBody>
      </p:sp>
      <p:sp>
        <p:nvSpPr>
          <p:cNvPr id="4" name="Text 2"/>
          <p:cNvSpPr txBox="1"/>
          <p:nvPr/>
        </p:nvSpPr>
        <p:spPr>
          <a:xfrm>
            <a:off x="457200" y="1554480"/>
            <a:ext cx="1920240" cy="822960"/>
          </a:xfrm>
          <a:prstGeom prst="rect">
            <a:avLst/>
          </a:prstGeom>
          <a:noFill/>
          <a:ln/>
        </p:spPr>
        <p:txBody>
          <a:bodyPr wrap="square" lIns="0" tIns="0" rIns="0" bIns="0" rtlCol="0" anchor="ctr"/>
          <a:lstStyle/>
          <a:p>
            <a:pPr indent="0" marL="0">
              <a:buNone/>
            </a:pPr>
            <a:r>
              <a:rPr lang="en-US" sz="4400" b="1" dirty="0">
                <a:solidFill>
                  <a:srgbClr val="1F1A17"/>
                </a:solidFill>
                <a:latin typeface="Cambria" pitchFamily="34" charset="0"/>
                <a:ea typeface="Cambria" pitchFamily="34" charset="-122"/>
                <a:cs typeface="Cambria" pitchFamily="34" charset="-120"/>
              </a:rPr>
              <a:t>~1.5 s</a:t>
            </a:r>
            <a:endParaRPr lang="en-US" sz="4400" dirty="0"/>
          </a:p>
        </p:txBody>
      </p:sp>
      <p:sp>
        <p:nvSpPr>
          <p:cNvPr id="5" name="Text 3"/>
          <p:cNvSpPr txBox="1"/>
          <p:nvPr/>
        </p:nvSpPr>
        <p:spPr>
          <a:xfrm>
            <a:off x="457200" y="2377440"/>
            <a:ext cx="1920240" cy="457200"/>
          </a:xfrm>
          <a:prstGeom prst="rect">
            <a:avLst/>
          </a:prstGeom>
          <a:noFill/>
          <a:ln/>
        </p:spPr>
        <p:txBody>
          <a:bodyPr wrap="square" lIns="0" tIns="0" rIns="0" bIns="0" rtlCol="0" anchor="t"/>
          <a:lstStyle/>
          <a:p>
            <a:pPr indent="0" marL="0">
              <a:buNone/>
            </a:pPr>
            <a:r>
              <a:rPr lang="en-US" sz="1250" dirty="0">
                <a:solidFill>
                  <a:srgbClr val="5B524B"/>
                </a:solidFill>
                <a:latin typeface="Calibri" pitchFamily="34" charset="0"/>
                <a:ea typeface="Calibri" pitchFamily="34" charset="-122"/>
                <a:cs typeface="Calibri" pitchFamily="34" charset="-120"/>
              </a:rPr>
              <a:t>Cloud Vision text check</a:t>
            </a:r>
            <a:endParaRPr lang="en-US" sz="1250" dirty="0"/>
          </a:p>
        </p:txBody>
      </p:sp>
      <p:sp>
        <p:nvSpPr>
          <p:cNvPr id="6" name="Text 4"/>
          <p:cNvSpPr txBox="1"/>
          <p:nvPr/>
        </p:nvSpPr>
        <p:spPr>
          <a:xfrm>
            <a:off x="2560320" y="1554480"/>
            <a:ext cx="1920240" cy="822960"/>
          </a:xfrm>
          <a:prstGeom prst="rect">
            <a:avLst/>
          </a:prstGeom>
          <a:noFill/>
          <a:ln/>
        </p:spPr>
        <p:txBody>
          <a:bodyPr wrap="square" lIns="0" tIns="0" rIns="0" bIns="0" rtlCol="0" anchor="ctr"/>
          <a:lstStyle/>
          <a:p>
            <a:pPr indent="0" marL="0">
              <a:buNone/>
            </a:pPr>
            <a:r>
              <a:rPr lang="en-US" sz="4400" b="1" dirty="0">
                <a:solidFill>
                  <a:srgbClr val="1F1A17"/>
                </a:solidFill>
                <a:latin typeface="Cambria" pitchFamily="34" charset="0"/>
                <a:ea typeface="Cambria" pitchFamily="34" charset="-122"/>
                <a:cs typeface="Cambria" pitchFamily="34" charset="-120"/>
              </a:rPr>
              <a:t>~3.5 s</a:t>
            </a:r>
            <a:endParaRPr lang="en-US" sz="4400" dirty="0"/>
          </a:p>
        </p:txBody>
      </p:sp>
      <p:sp>
        <p:nvSpPr>
          <p:cNvPr id="7" name="Text 5"/>
          <p:cNvSpPr txBox="1"/>
          <p:nvPr/>
        </p:nvSpPr>
        <p:spPr>
          <a:xfrm>
            <a:off x="2560320" y="2377440"/>
            <a:ext cx="1920240" cy="457200"/>
          </a:xfrm>
          <a:prstGeom prst="rect">
            <a:avLst/>
          </a:prstGeom>
          <a:noFill/>
          <a:ln/>
        </p:spPr>
        <p:txBody>
          <a:bodyPr wrap="square" lIns="0" tIns="0" rIns="0" bIns="0" rtlCol="0" anchor="t"/>
          <a:lstStyle/>
          <a:p>
            <a:pPr indent="0" marL="0">
              <a:buNone/>
            </a:pPr>
            <a:r>
              <a:rPr lang="en-US" sz="1250" dirty="0">
                <a:solidFill>
                  <a:srgbClr val="5B524B"/>
                </a:solidFill>
                <a:latin typeface="Calibri" pitchFamily="34" charset="0"/>
                <a:ea typeface="Calibri" pitchFamily="34" charset="-122"/>
                <a:cs typeface="Calibri" pitchFamily="34" charset="-120"/>
              </a:rPr>
              <a:t>Gemini understanding</a:t>
            </a:r>
            <a:endParaRPr lang="en-US" sz="1250" dirty="0"/>
          </a:p>
        </p:txBody>
      </p:sp>
      <p:sp>
        <p:nvSpPr>
          <p:cNvPr id="8" name="Text 6"/>
          <p:cNvSpPr txBox="1"/>
          <p:nvPr/>
        </p:nvSpPr>
        <p:spPr>
          <a:xfrm>
            <a:off x="4663440" y="1554480"/>
            <a:ext cx="1920240" cy="822960"/>
          </a:xfrm>
          <a:prstGeom prst="rect">
            <a:avLst/>
          </a:prstGeom>
          <a:noFill/>
          <a:ln/>
        </p:spPr>
        <p:txBody>
          <a:bodyPr wrap="square" lIns="0" tIns="0" rIns="0" bIns="0" rtlCol="0" anchor="ctr"/>
          <a:lstStyle/>
          <a:p>
            <a:pPr indent="0" marL="0">
              <a:buNone/>
            </a:pPr>
            <a:r>
              <a:rPr lang="en-US" sz="4400" b="1" dirty="0">
                <a:solidFill>
                  <a:srgbClr val="1F1A17"/>
                </a:solidFill>
                <a:latin typeface="Cambria" pitchFamily="34" charset="0"/>
                <a:ea typeface="Cambria" pitchFamily="34" charset="-122"/>
                <a:cs typeface="Cambria" pitchFamily="34" charset="-120"/>
              </a:rPr>
              <a:t>~2 s</a:t>
            </a:r>
            <a:endParaRPr lang="en-US" sz="4400" dirty="0"/>
          </a:p>
        </p:txBody>
      </p:sp>
      <p:sp>
        <p:nvSpPr>
          <p:cNvPr id="9" name="Text 7"/>
          <p:cNvSpPr txBox="1"/>
          <p:nvPr/>
        </p:nvSpPr>
        <p:spPr>
          <a:xfrm>
            <a:off x="4663440" y="2377440"/>
            <a:ext cx="1920240" cy="457200"/>
          </a:xfrm>
          <a:prstGeom prst="rect">
            <a:avLst/>
          </a:prstGeom>
          <a:noFill/>
          <a:ln/>
        </p:spPr>
        <p:txBody>
          <a:bodyPr wrap="square" lIns="0" tIns="0" rIns="0" bIns="0" rtlCol="0" anchor="t"/>
          <a:lstStyle/>
          <a:p>
            <a:pPr indent="0" marL="0">
              <a:buNone/>
            </a:pPr>
            <a:r>
              <a:rPr lang="en-US" sz="1250" dirty="0">
                <a:solidFill>
                  <a:srgbClr val="5B524B"/>
                </a:solidFill>
                <a:latin typeface="Calibri" pitchFamily="34" charset="0"/>
                <a:ea typeface="Calibri" pitchFamily="34" charset="-122"/>
                <a:cs typeface="Calibri" pitchFamily="34" charset="-120"/>
              </a:rPr>
              <a:t>Text-to-Speech</a:t>
            </a:r>
            <a:endParaRPr lang="en-US" sz="1250" dirty="0"/>
          </a:p>
        </p:txBody>
      </p:sp>
      <p:sp>
        <p:nvSpPr>
          <p:cNvPr id="10" name="Text 8"/>
          <p:cNvSpPr txBox="1"/>
          <p:nvPr/>
        </p:nvSpPr>
        <p:spPr>
          <a:xfrm>
            <a:off x="6766560" y="1554480"/>
            <a:ext cx="1920240" cy="822960"/>
          </a:xfrm>
          <a:prstGeom prst="rect">
            <a:avLst/>
          </a:prstGeom>
          <a:noFill/>
          <a:ln/>
        </p:spPr>
        <p:txBody>
          <a:bodyPr wrap="square" lIns="0" tIns="0" rIns="0" bIns="0" rtlCol="0" anchor="ctr"/>
          <a:lstStyle/>
          <a:p>
            <a:pPr indent="0" marL="0">
              <a:buNone/>
            </a:pPr>
            <a:r>
              <a:rPr lang="en-US" sz="4400" b="1" dirty="0">
                <a:solidFill>
                  <a:srgbClr val="C2410C"/>
                </a:solidFill>
                <a:latin typeface="Cambria" pitchFamily="34" charset="0"/>
                <a:ea typeface="Cambria" pitchFamily="34" charset="-122"/>
                <a:cs typeface="Cambria" pitchFamily="34" charset="-120"/>
              </a:rPr>
              <a:t>~11 s</a:t>
            </a:r>
            <a:endParaRPr lang="en-US" sz="4400" dirty="0"/>
          </a:p>
        </p:txBody>
      </p:sp>
      <p:sp>
        <p:nvSpPr>
          <p:cNvPr id="11" name="Text 9"/>
          <p:cNvSpPr txBox="1"/>
          <p:nvPr/>
        </p:nvSpPr>
        <p:spPr>
          <a:xfrm>
            <a:off x="6766560" y="2377440"/>
            <a:ext cx="1920240" cy="457200"/>
          </a:xfrm>
          <a:prstGeom prst="rect">
            <a:avLst/>
          </a:prstGeom>
          <a:noFill/>
          <a:ln/>
        </p:spPr>
        <p:txBody>
          <a:bodyPr wrap="square" lIns="0" tIns="0" rIns="0" bIns="0" rtlCol="0" anchor="t"/>
          <a:lstStyle/>
          <a:p>
            <a:pPr indent="0" marL="0">
              <a:buNone/>
            </a:pPr>
            <a:r>
              <a:rPr lang="en-US" sz="1250" dirty="0">
                <a:solidFill>
                  <a:srgbClr val="5B524B"/>
                </a:solidFill>
                <a:latin typeface="Calibri" pitchFamily="34" charset="0"/>
                <a:ea typeface="Calibri" pitchFamily="34" charset="-122"/>
                <a:cs typeface="Calibri" pitchFamily="34" charset="-120"/>
              </a:rPr>
              <a:t>Photo to speech, end to end</a:t>
            </a:r>
            <a:endParaRPr lang="en-US" sz="1250" dirty="0"/>
          </a:p>
        </p:txBody>
      </p:sp>
      <p:sp>
        <p:nvSpPr>
          <p:cNvPr id="12" name="Shape 10"/>
          <p:cNvSpPr/>
          <p:nvPr/>
        </p:nvSpPr>
        <p:spPr>
          <a:xfrm>
            <a:off x="457200" y="3154680"/>
            <a:ext cx="2606040" cy="1005840"/>
          </a:xfrm>
          <a:prstGeom prst="roundRect">
            <a:avLst>
              <a:gd name="adj" fmla="val 9091"/>
            </a:avLst>
          </a:prstGeom>
          <a:solidFill>
            <a:srgbClr val="FBE6D9"/>
          </a:solidFill>
          <a:ln/>
        </p:spPr>
      </p:sp>
      <p:sp>
        <p:nvSpPr>
          <p:cNvPr id="13" name="Text 11"/>
          <p:cNvSpPr txBox="1"/>
          <p:nvPr/>
        </p:nvSpPr>
        <p:spPr>
          <a:xfrm>
            <a:off x="685800" y="3246120"/>
            <a:ext cx="914400" cy="822960"/>
          </a:xfrm>
          <a:prstGeom prst="rect">
            <a:avLst/>
          </a:prstGeom>
          <a:noFill/>
          <a:ln/>
        </p:spPr>
        <p:txBody>
          <a:bodyPr wrap="square" lIns="0" tIns="0" rIns="0" bIns="0" rtlCol="0" anchor="ctr"/>
          <a:lstStyle/>
          <a:p>
            <a:pPr indent="0" marL="0">
              <a:buNone/>
            </a:pPr>
            <a:r>
              <a:rPr lang="en-US" sz="3400" b="1" dirty="0">
                <a:solidFill>
                  <a:srgbClr val="C2410C"/>
                </a:solidFill>
                <a:latin typeface="Cambria" pitchFamily="34" charset="0"/>
                <a:ea typeface="Cambria" pitchFamily="34" charset="-122"/>
                <a:cs typeface="Cambria" pitchFamily="34" charset="-120"/>
              </a:rPr>
              <a:t>7</a:t>
            </a:r>
            <a:endParaRPr lang="en-US" sz="3400" dirty="0"/>
          </a:p>
        </p:txBody>
      </p:sp>
      <p:sp>
        <p:nvSpPr>
          <p:cNvPr id="14" name="Text 12"/>
          <p:cNvSpPr txBox="1"/>
          <p:nvPr/>
        </p:nvSpPr>
        <p:spPr>
          <a:xfrm>
            <a:off x="1600200" y="3246120"/>
            <a:ext cx="1371600" cy="822960"/>
          </a:xfrm>
          <a:prstGeom prst="rect">
            <a:avLst/>
          </a:prstGeom>
          <a:noFill/>
          <a:ln/>
        </p:spPr>
        <p:txBody>
          <a:bodyPr wrap="square" lIns="0" tIns="0" rIns="0" bIns="0" rtlCol="0" anchor="ctr"/>
          <a:lstStyle/>
          <a:p>
            <a:pPr indent="0" marL="0">
              <a:buNone/>
            </a:pPr>
            <a:r>
              <a:rPr lang="en-US" sz="1400" dirty="0">
                <a:solidFill>
                  <a:srgbClr val="1F1A17"/>
                </a:solidFill>
                <a:latin typeface="Calibri" pitchFamily="34" charset="0"/>
                <a:ea typeface="Calibri" pitchFamily="34" charset="-122"/>
                <a:cs typeface="Calibri" pitchFamily="34" charset="-120"/>
              </a:rPr>
              <a:t>output languages</a:t>
            </a:r>
            <a:endParaRPr lang="en-US" sz="1400" dirty="0"/>
          </a:p>
        </p:txBody>
      </p:sp>
      <p:sp>
        <p:nvSpPr>
          <p:cNvPr id="15" name="Shape 13"/>
          <p:cNvSpPr/>
          <p:nvPr/>
        </p:nvSpPr>
        <p:spPr>
          <a:xfrm>
            <a:off x="3246120" y="3154680"/>
            <a:ext cx="2606040" cy="1005840"/>
          </a:xfrm>
          <a:prstGeom prst="roundRect">
            <a:avLst>
              <a:gd name="adj" fmla="val 9091"/>
            </a:avLst>
          </a:prstGeom>
          <a:solidFill>
            <a:srgbClr val="F3F4F6"/>
          </a:solidFill>
          <a:ln/>
        </p:spPr>
      </p:sp>
      <p:sp>
        <p:nvSpPr>
          <p:cNvPr id="16" name="Text 14"/>
          <p:cNvSpPr txBox="1"/>
          <p:nvPr/>
        </p:nvSpPr>
        <p:spPr>
          <a:xfrm>
            <a:off x="3474720" y="3246120"/>
            <a:ext cx="914400" cy="822960"/>
          </a:xfrm>
          <a:prstGeom prst="rect">
            <a:avLst/>
          </a:prstGeom>
          <a:noFill/>
          <a:ln/>
        </p:spPr>
        <p:txBody>
          <a:bodyPr wrap="square" lIns="0" tIns="0" rIns="0" bIns="0" rtlCol="0" anchor="ctr"/>
          <a:lstStyle/>
          <a:p>
            <a:pPr indent="0" marL="0">
              <a:buNone/>
            </a:pPr>
            <a:r>
              <a:rPr lang="en-US" sz="3400" b="1" dirty="0">
                <a:solidFill>
                  <a:srgbClr val="C2410C"/>
                </a:solidFill>
                <a:latin typeface="Cambria" pitchFamily="34" charset="0"/>
                <a:ea typeface="Cambria" pitchFamily="34" charset="-122"/>
                <a:cs typeface="Cambria" pitchFamily="34" charset="-120"/>
              </a:rPr>
              <a:t>10</a:t>
            </a:r>
            <a:endParaRPr lang="en-US" sz="3400" dirty="0"/>
          </a:p>
        </p:txBody>
      </p:sp>
      <p:sp>
        <p:nvSpPr>
          <p:cNvPr id="17" name="Text 15"/>
          <p:cNvSpPr txBox="1"/>
          <p:nvPr/>
        </p:nvSpPr>
        <p:spPr>
          <a:xfrm>
            <a:off x="4389120" y="3246120"/>
            <a:ext cx="1371600" cy="822960"/>
          </a:xfrm>
          <a:prstGeom prst="rect">
            <a:avLst/>
          </a:prstGeom>
          <a:noFill/>
          <a:ln/>
        </p:spPr>
        <p:txBody>
          <a:bodyPr wrap="square" lIns="0" tIns="0" rIns="0" bIns="0" rtlCol="0" anchor="ctr"/>
          <a:lstStyle/>
          <a:p>
            <a:pPr indent="0" marL="0">
              <a:buNone/>
            </a:pPr>
            <a:r>
              <a:rPr lang="en-US" sz="1400" dirty="0">
                <a:solidFill>
                  <a:srgbClr val="1F1A17"/>
                </a:solidFill>
                <a:latin typeface="Calibri" pitchFamily="34" charset="0"/>
                <a:ea typeface="Calibri" pitchFamily="34" charset="-122"/>
                <a:cs typeface="Calibri" pitchFamily="34" charset="-120"/>
              </a:rPr>
              <a:t>Google Cloud services</a:t>
            </a:r>
            <a:endParaRPr lang="en-US" sz="1400" dirty="0"/>
          </a:p>
        </p:txBody>
      </p:sp>
      <p:sp>
        <p:nvSpPr>
          <p:cNvPr id="18" name="Shape 16"/>
          <p:cNvSpPr/>
          <p:nvPr/>
        </p:nvSpPr>
        <p:spPr>
          <a:xfrm>
            <a:off x="6035040" y="3154680"/>
            <a:ext cx="2606040" cy="1005840"/>
          </a:xfrm>
          <a:prstGeom prst="roundRect">
            <a:avLst>
              <a:gd name="adj" fmla="val 9091"/>
            </a:avLst>
          </a:prstGeom>
          <a:solidFill>
            <a:srgbClr val="F3F4F6"/>
          </a:solidFill>
          <a:ln/>
        </p:spPr>
      </p:sp>
      <p:sp>
        <p:nvSpPr>
          <p:cNvPr id="19" name="Text 17"/>
          <p:cNvSpPr txBox="1"/>
          <p:nvPr/>
        </p:nvSpPr>
        <p:spPr>
          <a:xfrm>
            <a:off x="6263640" y="3246120"/>
            <a:ext cx="914400" cy="822960"/>
          </a:xfrm>
          <a:prstGeom prst="rect">
            <a:avLst/>
          </a:prstGeom>
          <a:noFill/>
          <a:ln/>
        </p:spPr>
        <p:txBody>
          <a:bodyPr wrap="square" lIns="0" tIns="0" rIns="0" bIns="0" rtlCol="0" anchor="ctr"/>
          <a:lstStyle/>
          <a:p>
            <a:pPr indent="0" marL="0">
              <a:buNone/>
            </a:pPr>
            <a:r>
              <a:rPr lang="en-US" sz="3400" b="1" dirty="0">
                <a:solidFill>
                  <a:srgbClr val="C2410C"/>
                </a:solidFill>
                <a:latin typeface="Cambria" pitchFamily="34" charset="0"/>
                <a:ea typeface="Cambria" pitchFamily="34" charset="-122"/>
                <a:cs typeface="Cambria" pitchFamily="34" charset="-120"/>
              </a:rPr>
              <a:t>₹0</a:t>
            </a:r>
            <a:endParaRPr lang="en-US" sz="3400" dirty="0"/>
          </a:p>
        </p:txBody>
      </p:sp>
      <p:sp>
        <p:nvSpPr>
          <p:cNvPr id="20" name="Text 18"/>
          <p:cNvSpPr txBox="1"/>
          <p:nvPr/>
        </p:nvSpPr>
        <p:spPr>
          <a:xfrm>
            <a:off x="7178040" y="3246120"/>
            <a:ext cx="1371600" cy="822960"/>
          </a:xfrm>
          <a:prstGeom prst="rect">
            <a:avLst/>
          </a:prstGeom>
          <a:noFill/>
          <a:ln/>
        </p:spPr>
        <p:txBody>
          <a:bodyPr wrap="square" lIns="0" tIns="0" rIns="0" bIns="0" rtlCol="0" anchor="ctr"/>
          <a:lstStyle/>
          <a:p>
            <a:pPr indent="0" marL="0">
              <a:buNone/>
            </a:pPr>
            <a:r>
              <a:rPr lang="en-US" sz="1400" dirty="0">
                <a:solidFill>
                  <a:srgbClr val="1F1A17"/>
                </a:solidFill>
                <a:latin typeface="Calibri" pitchFamily="34" charset="0"/>
                <a:ea typeface="Calibri" pitchFamily="34" charset="-122"/>
                <a:cs typeface="Calibri" pitchFamily="34" charset="-120"/>
              </a:rPr>
              <a:t>cost while idle</a:t>
            </a:r>
            <a:endParaRPr lang="en-US" sz="140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Security &amp; cost by design</a:t>
            </a:r>
            <a:endParaRPr lang="en-US" sz="3000" dirty="0"/>
          </a:p>
        </p:txBody>
      </p:sp>
      <p:sp>
        <p:nvSpPr>
          <p:cNvPr id="3" name="Shape 1"/>
          <p:cNvSpPr/>
          <p:nvPr/>
        </p:nvSpPr>
        <p:spPr>
          <a:xfrm>
            <a:off x="457200" y="1097280"/>
            <a:ext cx="566928" cy="566928"/>
          </a:xfrm>
          <a:prstGeom prst="ellipse">
            <a:avLst/>
          </a:prstGeom>
          <a:solidFill>
            <a:srgbClr val="FBE6D9"/>
          </a:solidFill>
          <a:ln w="12700">
            <a:solidFill>
              <a:srgbClr val="FBE6D9"/>
            </a:solidFill>
            <a:prstDash val="solid"/>
          </a:ln>
        </p:spPr>
      </p:sp>
      <p:pic>
        <p:nvPicPr>
          <p:cNvPr id="4" name="Image 0" descr="preencoded.png">    </p:cNvPr>
          <p:cNvPicPr>
            <a:picLocks noChangeAspect="1"/>
          </p:cNvPicPr>
          <p:nvPr/>
        </p:nvPicPr>
        <p:blipFill>
          <a:blip r:embed="rId1"/>
          <a:stretch>
            <a:fillRect/>
          </a:stretch>
        </p:blipFill>
        <p:spPr>
          <a:xfrm>
            <a:off x="604601" y="1244681"/>
            <a:ext cx="272125" cy="272125"/>
          </a:xfrm>
          <a:prstGeom prst="rect">
            <a:avLst/>
          </a:prstGeom>
        </p:spPr>
      </p:pic>
      <p:sp>
        <p:nvSpPr>
          <p:cNvPr id="5" name="Text 2"/>
          <p:cNvSpPr txBox="1"/>
          <p:nvPr/>
        </p:nvSpPr>
        <p:spPr>
          <a:xfrm>
            <a:off x="1188720" y="109728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Private storage</a:t>
            </a:r>
            <a:endParaRPr lang="en-US" sz="1500" dirty="0"/>
          </a:p>
        </p:txBody>
      </p:sp>
      <p:sp>
        <p:nvSpPr>
          <p:cNvPr id="6" name="Text 3"/>
          <p:cNvSpPr txBox="1"/>
          <p:nvPr/>
        </p:nvSpPr>
        <p:spPr>
          <a:xfrm>
            <a:off x="1188720" y="1389888"/>
            <a:ext cx="3291840" cy="54864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Public access prevention enforced, encrypted at rest, uploads deleted after 30 days</a:t>
            </a:r>
            <a:endParaRPr lang="en-US" sz="1150" dirty="0"/>
          </a:p>
        </p:txBody>
      </p:sp>
      <p:sp>
        <p:nvSpPr>
          <p:cNvPr id="7" name="Shape 4"/>
          <p:cNvSpPr/>
          <p:nvPr/>
        </p:nvSpPr>
        <p:spPr>
          <a:xfrm>
            <a:off x="4663440" y="1097280"/>
            <a:ext cx="566928" cy="566928"/>
          </a:xfrm>
          <a:prstGeom prst="ellipse">
            <a:avLst/>
          </a:prstGeom>
          <a:solidFill>
            <a:srgbClr val="D8EFEC"/>
          </a:solidFill>
          <a:ln w="12700">
            <a:solidFill>
              <a:srgbClr val="D8EFEC"/>
            </a:solidFill>
            <a:prstDash val="solid"/>
          </a:ln>
        </p:spPr>
      </p:sp>
      <p:pic>
        <p:nvPicPr>
          <p:cNvPr id="8" name="Image 1" descr="preencoded.png">    </p:cNvPr>
          <p:cNvPicPr>
            <a:picLocks noChangeAspect="1"/>
          </p:cNvPicPr>
          <p:nvPr/>
        </p:nvPicPr>
        <p:blipFill>
          <a:blip r:embed="rId2"/>
          <a:stretch>
            <a:fillRect/>
          </a:stretch>
        </p:blipFill>
        <p:spPr>
          <a:xfrm>
            <a:off x="4810841" y="1244681"/>
            <a:ext cx="272125" cy="272125"/>
          </a:xfrm>
          <a:prstGeom prst="rect">
            <a:avLst/>
          </a:prstGeom>
        </p:spPr>
      </p:pic>
      <p:sp>
        <p:nvSpPr>
          <p:cNvPr id="9" name="Text 5"/>
          <p:cNvSpPr txBox="1"/>
          <p:nvPr/>
        </p:nvSpPr>
        <p:spPr>
          <a:xfrm>
            <a:off x="5394960" y="109728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Signed URLs</a:t>
            </a:r>
            <a:endParaRPr lang="en-US" sz="1500" dirty="0"/>
          </a:p>
        </p:txBody>
      </p:sp>
      <p:sp>
        <p:nvSpPr>
          <p:cNvPr id="10" name="Text 6"/>
          <p:cNvSpPr txBox="1"/>
          <p:nvPr/>
        </p:nvSpPr>
        <p:spPr>
          <a:xfrm>
            <a:off x="5394960" y="1389888"/>
            <a:ext cx="3291840" cy="54864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Browser gets 5-minute upload and 1-hour download links, never Google credentials</a:t>
            </a:r>
            <a:endParaRPr lang="en-US" sz="1150" dirty="0"/>
          </a:p>
        </p:txBody>
      </p:sp>
      <p:sp>
        <p:nvSpPr>
          <p:cNvPr id="11" name="Shape 7"/>
          <p:cNvSpPr/>
          <p:nvPr/>
        </p:nvSpPr>
        <p:spPr>
          <a:xfrm>
            <a:off x="457200" y="2240280"/>
            <a:ext cx="566928" cy="566928"/>
          </a:xfrm>
          <a:prstGeom prst="ellipse">
            <a:avLst/>
          </a:prstGeom>
          <a:solidFill>
            <a:srgbClr val="FBE6D9"/>
          </a:solidFill>
          <a:ln w="12700">
            <a:solidFill>
              <a:srgbClr val="FBE6D9"/>
            </a:solidFill>
            <a:prstDash val="solid"/>
          </a:ln>
        </p:spPr>
      </p:sp>
      <p:pic>
        <p:nvPicPr>
          <p:cNvPr id="12" name="Image 2" descr="preencoded.png">    </p:cNvPr>
          <p:cNvPicPr>
            <a:picLocks noChangeAspect="1"/>
          </p:cNvPicPr>
          <p:nvPr/>
        </p:nvPicPr>
        <p:blipFill>
          <a:blip r:embed="rId3"/>
          <a:stretch>
            <a:fillRect/>
          </a:stretch>
        </p:blipFill>
        <p:spPr>
          <a:xfrm>
            <a:off x="604601" y="2387681"/>
            <a:ext cx="272125" cy="272125"/>
          </a:xfrm>
          <a:prstGeom prst="rect">
            <a:avLst/>
          </a:prstGeom>
        </p:spPr>
      </p:pic>
      <p:sp>
        <p:nvSpPr>
          <p:cNvPr id="13" name="Text 8"/>
          <p:cNvSpPr txBox="1"/>
          <p:nvPr/>
        </p:nvSpPr>
        <p:spPr>
          <a:xfrm>
            <a:off x="1188720" y="224028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Least privilege</a:t>
            </a:r>
            <a:endParaRPr lang="en-US" sz="1500" dirty="0"/>
          </a:p>
        </p:txBody>
      </p:sp>
      <p:sp>
        <p:nvSpPr>
          <p:cNvPr id="14" name="Text 9"/>
          <p:cNvSpPr txBox="1"/>
          <p:nvPr/>
        </p:nvSpPr>
        <p:spPr>
          <a:xfrm>
            <a:off x="1188720" y="2532888"/>
            <a:ext cx="3291840" cy="54864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Separate service accounts for function, gateway and builds, each with only the roles it needs</a:t>
            </a:r>
            <a:endParaRPr lang="en-US" sz="1150" dirty="0"/>
          </a:p>
        </p:txBody>
      </p:sp>
      <p:sp>
        <p:nvSpPr>
          <p:cNvPr id="15" name="Shape 10"/>
          <p:cNvSpPr/>
          <p:nvPr/>
        </p:nvSpPr>
        <p:spPr>
          <a:xfrm>
            <a:off x="4663440" y="2240280"/>
            <a:ext cx="566928" cy="566928"/>
          </a:xfrm>
          <a:prstGeom prst="ellipse">
            <a:avLst/>
          </a:prstGeom>
          <a:solidFill>
            <a:srgbClr val="D8EFEC"/>
          </a:solidFill>
          <a:ln w="12700">
            <a:solidFill>
              <a:srgbClr val="D8EFEC"/>
            </a:solidFill>
            <a:prstDash val="solid"/>
          </a:ln>
        </p:spPr>
      </p:sp>
      <p:pic>
        <p:nvPicPr>
          <p:cNvPr id="16" name="Image 3" descr="preencoded.png">    </p:cNvPr>
          <p:cNvPicPr>
            <a:picLocks noChangeAspect="1"/>
          </p:cNvPicPr>
          <p:nvPr/>
        </p:nvPicPr>
        <p:blipFill>
          <a:blip r:embed="rId4"/>
          <a:stretch>
            <a:fillRect/>
          </a:stretch>
        </p:blipFill>
        <p:spPr>
          <a:xfrm>
            <a:off x="4810841" y="2387681"/>
            <a:ext cx="272125" cy="272125"/>
          </a:xfrm>
          <a:prstGeom prst="rect">
            <a:avLst/>
          </a:prstGeom>
        </p:spPr>
      </p:pic>
      <p:sp>
        <p:nvSpPr>
          <p:cNvPr id="17" name="Text 11"/>
          <p:cNvSpPr txBox="1"/>
          <p:nvPr/>
        </p:nvSpPr>
        <p:spPr>
          <a:xfrm>
            <a:off x="5394960" y="224028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Spend guard</a:t>
            </a:r>
            <a:endParaRPr lang="en-US" sz="1500" dirty="0"/>
          </a:p>
        </p:txBody>
      </p:sp>
      <p:sp>
        <p:nvSpPr>
          <p:cNvPr id="18" name="Text 12"/>
          <p:cNvSpPr txBox="1"/>
          <p:nvPr/>
        </p:nvSpPr>
        <p:spPr>
          <a:xfrm>
            <a:off x="5394960" y="2532888"/>
            <a:ext cx="3291840" cy="54864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At most 3 function instances; ₹400 budget alert at 50/90/100%</a:t>
            </a:r>
            <a:endParaRPr lang="en-US" sz="1150" dirty="0"/>
          </a:p>
        </p:txBody>
      </p:sp>
      <p:sp>
        <p:nvSpPr>
          <p:cNvPr id="19" name="Shape 13"/>
          <p:cNvSpPr/>
          <p:nvPr/>
        </p:nvSpPr>
        <p:spPr>
          <a:xfrm>
            <a:off x="457200" y="3383280"/>
            <a:ext cx="566928" cy="566928"/>
          </a:xfrm>
          <a:prstGeom prst="ellipse">
            <a:avLst/>
          </a:prstGeom>
          <a:solidFill>
            <a:srgbClr val="FBE6D9"/>
          </a:solidFill>
          <a:ln w="12700">
            <a:solidFill>
              <a:srgbClr val="FBE6D9"/>
            </a:solidFill>
            <a:prstDash val="solid"/>
          </a:ln>
        </p:spPr>
      </p:sp>
      <p:pic>
        <p:nvPicPr>
          <p:cNvPr id="20" name="Image 4" descr="preencoded.png">    </p:cNvPr>
          <p:cNvPicPr>
            <a:picLocks noChangeAspect="1"/>
          </p:cNvPicPr>
          <p:nvPr/>
        </p:nvPicPr>
        <p:blipFill>
          <a:blip r:embed="rId5"/>
          <a:stretch>
            <a:fillRect/>
          </a:stretch>
        </p:blipFill>
        <p:spPr>
          <a:xfrm>
            <a:off x="604601" y="3530681"/>
            <a:ext cx="272125" cy="272125"/>
          </a:xfrm>
          <a:prstGeom prst="rect">
            <a:avLst/>
          </a:prstGeom>
        </p:spPr>
      </p:pic>
      <p:sp>
        <p:nvSpPr>
          <p:cNvPr id="21" name="Text 14"/>
          <p:cNvSpPr txBox="1"/>
          <p:nvPr/>
        </p:nvSpPr>
        <p:spPr>
          <a:xfrm>
            <a:off x="1188720" y="338328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Cost gate</a:t>
            </a:r>
            <a:endParaRPr lang="en-US" sz="1500" dirty="0"/>
          </a:p>
        </p:txBody>
      </p:sp>
      <p:sp>
        <p:nvSpPr>
          <p:cNvPr id="22" name="Text 15"/>
          <p:cNvSpPr txBox="1"/>
          <p:nvPr/>
        </p:nvSpPr>
        <p:spPr>
          <a:xfrm>
            <a:off x="1188720" y="3675888"/>
            <a:ext cx="3291840" cy="54864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Cloud Vision blocks non-document photos before any Gemini charge</a:t>
            </a:r>
            <a:endParaRPr lang="en-US" sz="1150" dirty="0"/>
          </a:p>
        </p:txBody>
      </p:sp>
      <p:sp>
        <p:nvSpPr>
          <p:cNvPr id="23" name="Shape 16"/>
          <p:cNvSpPr/>
          <p:nvPr/>
        </p:nvSpPr>
        <p:spPr>
          <a:xfrm>
            <a:off x="4663440" y="3383280"/>
            <a:ext cx="566928" cy="566928"/>
          </a:xfrm>
          <a:prstGeom prst="ellipse">
            <a:avLst/>
          </a:prstGeom>
          <a:solidFill>
            <a:srgbClr val="D8EFEC"/>
          </a:solidFill>
          <a:ln w="12700">
            <a:solidFill>
              <a:srgbClr val="D8EFEC"/>
            </a:solidFill>
            <a:prstDash val="solid"/>
          </a:ln>
        </p:spPr>
      </p:sp>
      <p:pic>
        <p:nvPicPr>
          <p:cNvPr id="24" name="Image 5" descr="preencoded.png">    </p:cNvPr>
          <p:cNvPicPr>
            <a:picLocks noChangeAspect="1"/>
          </p:cNvPicPr>
          <p:nvPr/>
        </p:nvPicPr>
        <p:blipFill>
          <a:blip r:embed="rId6"/>
          <a:stretch>
            <a:fillRect/>
          </a:stretch>
        </p:blipFill>
        <p:spPr>
          <a:xfrm>
            <a:off x="4810841" y="3530681"/>
            <a:ext cx="272125" cy="272125"/>
          </a:xfrm>
          <a:prstGeom prst="rect">
            <a:avLst/>
          </a:prstGeom>
        </p:spPr>
      </p:pic>
      <p:sp>
        <p:nvSpPr>
          <p:cNvPr id="25" name="Text 17"/>
          <p:cNvSpPr txBox="1"/>
          <p:nvPr/>
        </p:nvSpPr>
        <p:spPr>
          <a:xfrm>
            <a:off x="5394960" y="3383280"/>
            <a:ext cx="3291840" cy="274320"/>
          </a:xfrm>
          <a:prstGeom prst="rect">
            <a:avLst/>
          </a:prstGeom>
          <a:noFill/>
          <a:ln/>
        </p:spPr>
        <p:txBody>
          <a:bodyPr wrap="square" lIns="0" tIns="0" rIns="0" bIns="0" rtlCol="0" anchor="ctr"/>
          <a:lstStyle/>
          <a:p>
            <a:pPr indent="0" marL="0">
              <a:buNone/>
            </a:pPr>
            <a:r>
              <a:rPr lang="en-US" sz="1500" b="1" dirty="0">
                <a:solidFill>
                  <a:srgbClr val="1F1A17"/>
                </a:solidFill>
                <a:latin typeface="Cambria" pitchFamily="34" charset="0"/>
                <a:ea typeface="Cambria" pitchFamily="34" charset="-122"/>
                <a:cs typeface="Cambria" pitchFamily="34" charset="-120"/>
              </a:rPr>
              <a:t>Scales to zero</a:t>
            </a:r>
            <a:endParaRPr lang="en-US" sz="1500" dirty="0"/>
          </a:p>
        </p:txBody>
      </p:sp>
      <p:sp>
        <p:nvSpPr>
          <p:cNvPr id="26" name="Text 18"/>
          <p:cNvSpPr txBox="1"/>
          <p:nvPr/>
        </p:nvSpPr>
        <p:spPr>
          <a:xfrm>
            <a:off x="5394960" y="3675888"/>
            <a:ext cx="3291840" cy="548640"/>
          </a:xfrm>
          <a:prstGeom prst="rect">
            <a:avLst/>
          </a:prstGeom>
          <a:noFill/>
          <a:ln/>
        </p:spPr>
        <p:txBody>
          <a:bodyPr wrap="square" lIns="0" tIns="0" rIns="0" bIns="0" rtlCol="0" anchor="t"/>
          <a:lstStyle/>
          <a:p>
            <a:pPr indent="0" marL="0">
              <a:buNone/>
            </a:pPr>
            <a:r>
              <a:rPr lang="en-US" sz="1150" dirty="0">
                <a:solidFill>
                  <a:srgbClr val="5B524B"/>
                </a:solidFill>
                <a:latin typeface="Calibri" pitchFamily="34" charset="0"/>
                <a:ea typeface="Calibri" pitchFamily="34" charset="-122"/>
                <a:cs typeface="Calibri" pitchFamily="34" charset="-120"/>
              </a:rPr>
              <a:t>No servers to patch; nothing runs and nothing bills while idle</a:t>
            </a:r>
            <a:endParaRPr lang="en-US" sz="1150" dirty="0"/>
          </a:p>
        </p:txBody>
      </p:sp>
      <p:sp>
        <p:nvSpPr>
          <p:cNvPr id="27" name="Text 19"/>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F1A17"/>
                </a:solidFill>
                <a:latin typeface="Cambria" pitchFamily="34" charset="0"/>
                <a:ea typeface="Cambria" pitchFamily="34" charset="-122"/>
                <a:cs typeface="Cambria" pitchFamily="34" charset="-120"/>
              </a:rPr>
              <a:t>Challenges solved</a:t>
            </a:r>
            <a:endParaRPr lang="en-US" sz="3000" dirty="0"/>
          </a:p>
        </p:txBody>
      </p:sp>
      <p:sp>
        <p:nvSpPr>
          <p:cNvPr id="3" name="Text 1"/>
          <p:cNvSpPr txBox="1"/>
          <p:nvPr/>
        </p:nvSpPr>
        <p:spPr>
          <a:xfrm>
            <a:off x="457200" y="1005840"/>
            <a:ext cx="3840480" cy="320040"/>
          </a:xfrm>
          <a:prstGeom prst="rect">
            <a:avLst/>
          </a:prstGeom>
          <a:noFill/>
          <a:ln/>
        </p:spPr>
        <p:txBody>
          <a:bodyPr wrap="square" lIns="0" tIns="0" rIns="0" bIns="0" rtlCol="0" anchor="ctr"/>
          <a:lstStyle/>
          <a:p>
            <a:pPr indent="0" marL="0">
              <a:buNone/>
            </a:pPr>
            <a:r>
              <a:rPr lang="en-US" sz="1400" b="1" dirty="0">
                <a:solidFill>
                  <a:srgbClr val="C2410C"/>
                </a:solidFill>
                <a:latin typeface="Cambria" pitchFamily="34" charset="0"/>
                <a:ea typeface="Cambria" pitchFamily="34" charset="-122"/>
                <a:cs typeface="Cambria" pitchFamily="34" charset="-120"/>
              </a:rPr>
              <a:t>Challenge</a:t>
            </a:r>
            <a:endParaRPr lang="en-US" sz="1400" dirty="0"/>
          </a:p>
        </p:txBody>
      </p:sp>
      <p:sp>
        <p:nvSpPr>
          <p:cNvPr id="4" name="Text 2"/>
          <p:cNvSpPr txBox="1"/>
          <p:nvPr/>
        </p:nvSpPr>
        <p:spPr>
          <a:xfrm>
            <a:off x="4846320" y="1005840"/>
            <a:ext cx="3840480" cy="320040"/>
          </a:xfrm>
          <a:prstGeom prst="rect">
            <a:avLst/>
          </a:prstGeom>
          <a:noFill/>
          <a:ln/>
        </p:spPr>
        <p:txBody>
          <a:bodyPr wrap="square" lIns="0" tIns="0" rIns="0" bIns="0"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How it was solved</a:t>
            </a:r>
            <a:endParaRPr lang="en-US" sz="1400" dirty="0"/>
          </a:p>
        </p:txBody>
      </p:sp>
      <p:sp>
        <p:nvSpPr>
          <p:cNvPr id="5" name="Shape 3"/>
          <p:cNvSpPr/>
          <p:nvPr/>
        </p:nvSpPr>
        <p:spPr>
          <a:xfrm>
            <a:off x="457200" y="1417320"/>
            <a:ext cx="3931920" cy="685800"/>
          </a:xfrm>
          <a:prstGeom prst="roundRect">
            <a:avLst>
              <a:gd name="adj" fmla="val 10667"/>
            </a:avLst>
          </a:prstGeom>
          <a:solidFill>
            <a:srgbClr val="F3F4F6"/>
          </a:solidFill>
          <a:ln/>
        </p:spPr>
      </p:sp>
      <p:sp>
        <p:nvSpPr>
          <p:cNvPr id="6" name="Shape 4"/>
          <p:cNvSpPr/>
          <p:nvPr/>
        </p:nvSpPr>
        <p:spPr>
          <a:xfrm>
            <a:off x="4754880" y="1417320"/>
            <a:ext cx="3931920" cy="685800"/>
          </a:xfrm>
          <a:prstGeom prst="roundRect">
            <a:avLst>
              <a:gd name="adj" fmla="val 10667"/>
            </a:avLst>
          </a:prstGeom>
          <a:solidFill>
            <a:srgbClr val="D8EFEC"/>
          </a:solidFill>
          <a:ln/>
        </p:spPr>
      </p:sp>
      <p:sp>
        <p:nvSpPr>
          <p:cNvPr id="7" name="Shape 5"/>
          <p:cNvSpPr/>
          <p:nvPr/>
        </p:nvSpPr>
        <p:spPr>
          <a:xfrm>
            <a:off x="4462272" y="1655064"/>
            <a:ext cx="228600" cy="219456"/>
          </a:xfrm>
          <a:prstGeom prst="rightArrow">
            <a:avLst/>
          </a:prstGeom>
          <a:solidFill>
            <a:srgbClr val="9CA3AF"/>
          </a:solidFill>
          <a:ln/>
        </p:spPr>
      </p:sp>
      <p:sp>
        <p:nvSpPr>
          <p:cNvPr id="8" name="Text 6"/>
          <p:cNvSpPr txBox="1"/>
          <p:nvPr/>
        </p:nvSpPr>
        <p:spPr>
          <a:xfrm>
            <a:off x="594360" y="1417320"/>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The AWS account was suspended mid-project</a:t>
            </a:r>
            <a:endParaRPr lang="en-US" sz="1200" dirty="0"/>
          </a:p>
        </p:txBody>
      </p:sp>
      <p:sp>
        <p:nvSpPr>
          <p:cNvPr id="9" name="Text 7"/>
          <p:cNvSpPr txBox="1"/>
          <p:nvPr/>
        </p:nvSpPr>
        <p:spPr>
          <a:xfrm>
            <a:off x="4892040" y="1417320"/>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Rebuilt on Google Cloud with one re-runnable deploy script; AWS version kept in Git history</a:t>
            </a:r>
            <a:endParaRPr lang="en-US" sz="1200" dirty="0"/>
          </a:p>
        </p:txBody>
      </p:sp>
      <p:sp>
        <p:nvSpPr>
          <p:cNvPr id="10" name="Shape 8"/>
          <p:cNvSpPr/>
          <p:nvPr/>
        </p:nvSpPr>
        <p:spPr>
          <a:xfrm>
            <a:off x="457200" y="2221992"/>
            <a:ext cx="3931920" cy="685800"/>
          </a:xfrm>
          <a:prstGeom prst="roundRect">
            <a:avLst>
              <a:gd name="adj" fmla="val 10667"/>
            </a:avLst>
          </a:prstGeom>
          <a:solidFill>
            <a:srgbClr val="F3F4F6"/>
          </a:solidFill>
          <a:ln/>
        </p:spPr>
      </p:sp>
      <p:sp>
        <p:nvSpPr>
          <p:cNvPr id="11" name="Shape 9"/>
          <p:cNvSpPr/>
          <p:nvPr/>
        </p:nvSpPr>
        <p:spPr>
          <a:xfrm>
            <a:off x="4754880" y="2221992"/>
            <a:ext cx="3931920" cy="685800"/>
          </a:xfrm>
          <a:prstGeom prst="roundRect">
            <a:avLst>
              <a:gd name="adj" fmla="val 10667"/>
            </a:avLst>
          </a:prstGeom>
          <a:solidFill>
            <a:srgbClr val="D8EFEC"/>
          </a:solidFill>
          <a:ln/>
        </p:spPr>
      </p:sp>
      <p:sp>
        <p:nvSpPr>
          <p:cNvPr id="12" name="Shape 10"/>
          <p:cNvSpPr/>
          <p:nvPr/>
        </p:nvSpPr>
        <p:spPr>
          <a:xfrm>
            <a:off x="4462272" y="2459736"/>
            <a:ext cx="228600" cy="219456"/>
          </a:xfrm>
          <a:prstGeom prst="rightArrow">
            <a:avLst/>
          </a:prstGeom>
          <a:solidFill>
            <a:srgbClr val="9CA3AF"/>
          </a:solidFill>
          <a:ln/>
        </p:spPr>
      </p:sp>
      <p:sp>
        <p:nvSpPr>
          <p:cNvPr id="13" name="Text 11"/>
          <p:cNvSpPr txBox="1"/>
          <p:nvPr/>
        </p:nvSpPr>
        <p:spPr>
          <a:xfrm>
            <a:off x="594360" y="2221992"/>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Gemini 3.8 Flash took 16-24 s per document</a:t>
            </a:r>
            <a:endParaRPr lang="en-US" sz="1200" dirty="0"/>
          </a:p>
        </p:txBody>
      </p:sp>
      <p:sp>
        <p:nvSpPr>
          <p:cNvPr id="14" name="Text 12"/>
          <p:cNvSpPr txBox="1"/>
          <p:nvPr/>
        </p:nvSpPr>
        <p:spPr>
          <a:xfrm>
            <a:off x="4892040" y="2221992"/>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Benchmarked 6 models: 3.5 Flash-Lite with thinking off takes ~3.5 s and costs less</a:t>
            </a:r>
            <a:endParaRPr lang="en-US" sz="1200" dirty="0"/>
          </a:p>
        </p:txBody>
      </p:sp>
      <p:sp>
        <p:nvSpPr>
          <p:cNvPr id="15" name="Shape 13"/>
          <p:cNvSpPr/>
          <p:nvPr/>
        </p:nvSpPr>
        <p:spPr>
          <a:xfrm>
            <a:off x="457200" y="3026664"/>
            <a:ext cx="3931920" cy="685800"/>
          </a:xfrm>
          <a:prstGeom prst="roundRect">
            <a:avLst>
              <a:gd name="adj" fmla="val 10667"/>
            </a:avLst>
          </a:prstGeom>
          <a:solidFill>
            <a:srgbClr val="F3F4F6"/>
          </a:solidFill>
          <a:ln/>
        </p:spPr>
      </p:sp>
      <p:sp>
        <p:nvSpPr>
          <p:cNvPr id="16" name="Shape 14"/>
          <p:cNvSpPr/>
          <p:nvPr/>
        </p:nvSpPr>
        <p:spPr>
          <a:xfrm>
            <a:off x="4754880" y="3026664"/>
            <a:ext cx="3931920" cy="685800"/>
          </a:xfrm>
          <a:prstGeom prst="roundRect">
            <a:avLst>
              <a:gd name="adj" fmla="val 10667"/>
            </a:avLst>
          </a:prstGeom>
          <a:solidFill>
            <a:srgbClr val="D8EFEC"/>
          </a:solidFill>
          <a:ln/>
        </p:spPr>
      </p:sp>
      <p:sp>
        <p:nvSpPr>
          <p:cNvPr id="17" name="Shape 15"/>
          <p:cNvSpPr/>
          <p:nvPr/>
        </p:nvSpPr>
        <p:spPr>
          <a:xfrm>
            <a:off x="4462272" y="3264408"/>
            <a:ext cx="228600" cy="219456"/>
          </a:xfrm>
          <a:prstGeom prst="rightArrow">
            <a:avLst/>
          </a:prstGeom>
          <a:solidFill>
            <a:srgbClr val="9CA3AF"/>
          </a:solidFill>
          <a:ln/>
        </p:spPr>
      </p:sp>
      <p:sp>
        <p:nvSpPr>
          <p:cNvPr id="18" name="Text 16"/>
          <p:cNvSpPr txBox="1"/>
          <p:nvPr/>
        </p:nvSpPr>
        <p:spPr>
          <a:xfrm>
            <a:off x="594360" y="3026664"/>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API Gateway is not offered in Mumbai</a:t>
            </a:r>
            <a:endParaRPr lang="en-US" sz="1200" dirty="0"/>
          </a:p>
        </p:txBody>
      </p:sp>
      <p:sp>
        <p:nvSpPr>
          <p:cNvPr id="19" name="Text 17"/>
          <p:cNvSpPr txBox="1"/>
          <p:nvPr/>
        </p:nvSpPr>
        <p:spPr>
          <a:xfrm>
            <a:off x="4892040" y="3026664"/>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Gateway runs in Tokyo (asia-northeast1) and routes to the function in Mumbai</a:t>
            </a:r>
            <a:endParaRPr lang="en-US" sz="1200" dirty="0"/>
          </a:p>
        </p:txBody>
      </p:sp>
      <p:sp>
        <p:nvSpPr>
          <p:cNvPr id="20" name="Shape 18"/>
          <p:cNvSpPr/>
          <p:nvPr/>
        </p:nvSpPr>
        <p:spPr>
          <a:xfrm>
            <a:off x="457200" y="3831336"/>
            <a:ext cx="3931920" cy="685800"/>
          </a:xfrm>
          <a:prstGeom prst="roundRect">
            <a:avLst>
              <a:gd name="adj" fmla="val 10667"/>
            </a:avLst>
          </a:prstGeom>
          <a:solidFill>
            <a:srgbClr val="F3F4F6"/>
          </a:solidFill>
          <a:ln/>
        </p:spPr>
      </p:sp>
      <p:sp>
        <p:nvSpPr>
          <p:cNvPr id="21" name="Shape 19"/>
          <p:cNvSpPr/>
          <p:nvPr/>
        </p:nvSpPr>
        <p:spPr>
          <a:xfrm>
            <a:off x="4754880" y="3831336"/>
            <a:ext cx="3931920" cy="685800"/>
          </a:xfrm>
          <a:prstGeom prst="roundRect">
            <a:avLst>
              <a:gd name="adj" fmla="val 10667"/>
            </a:avLst>
          </a:prstGeom>
          <a:solidFill>
            <a:srgbClr val="D8EFEC"/>
          </a:solidFill>
          <a:ln/>
        </p:spPr>
      </p:sp>
      <p:sp>
        <p:nvSpPr>
          <p:cNvPr id="22" name="Shape 20"/>
          <p:cNvSpPr/>
          <p:nvPr/>
        </p:nvSpPr>
        <p:spPr>
          <a:xfrm>
            <a:off x="4462272" y="4069080"/>
            <a:ext cx="228600" cy="219456"/>
          </a:xfrm>
          <a:prstGeom prst="rightArrow">
            <a:avLst/>
          </a:prstGeom>
          <a:solidFill>
            <a:srgbClr val="9CA3AF"/>
          </a:solidFill>
          <a:ln/>
        </p:spPr>
      </p:sp>
      <p:sp>
        <p:nvSpPr>
          <p:cNvPr id="23" name="Text 21"/>
          <p:cNvSpPr txBox="1"/>
          <p:nvPr/>
        </p:nvSpPr>
        <p:spPr>
          <a:xfrm>
            <a:off x="594360" y="3831336"/>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Cloud Run has no private key to sign URLs</a:t>
            </a:r>
            <a:endParaRPr lang="en-US" sz="1200" dirty="0"/>
          </a:p>
        </p:txBody>
      </p:sp>
      <p:sp>
        <p:nvSpPr>
          <p:cNvPr id="24" name="Text 22"/>
          <p:cNvSpPr txBox="1"/>
          <p:nvPr/>
        </p:nvSpPr>
        <p:spPr>
          <a:xfrm>
            <a:off x="4892040" y="3831336"/>
            <a:ext cx="3657600" cy="685800"/>
          </a:xfrm>
          <a:prstGeom prst="rect">
            <a:avLst/>
          </a:prstGeom>
          <a:noFill/>
          <a:ln/>
        </p:spPr>
        <p:txBody>
          <a:bodyPr wrap="square" lIns="0" tIns="0" rIns="0" bIns="0" rtlCol="0" anchor="ctr"/>
          <a:lstStyle/>
          <a:p>
            <a:pPr indent="0" marL="0">
              <a:buNone/>
            </a:pPr>
            <a:r>
              <a:rPr lang="en-US" sz="1200" dirty="0">
                <a:solidFill>
                  <a:srgbClr val="1F1A17"/>
                </a:solidFill>
                <a:latin typeface="Calibri" pitchFamily="34" charset="0"/>
                <a:ea typeface="Calibri" pitchFamily="34" charset="-122"/>
                <a:cs typeface="Calibri" pitchFamily="34" charset="-120"/>
              </a:rPr>
              <a:t>The function signs Storage URLs via the IAM signBlob API with its own service account</a:t>
            </a:r>
            <a:endParaRPr lang="en-US" sz="12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VaaniSetu  ·  CAP 303 Mini-Project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1A17"/>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3" name="Text 1"/>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600" b="1" dirty="0">
                <a:solidFill>
                  <a:srgbClr val="F4A57C"/>
                </a:solidFill>
                <a:latin typeface="Cambria" pitchFamily="34" charset="0"/>
                <a:ea typeface="Cambria" pitchFamily="34" charset="-122"/>
                <a:cs typeface="Cambria" pitchFamily="34" charset="-120"/>
              </a:rPr>
              <a:t>What was achieved</a:t>
            </a:r>
            <a:endParaRPr lang="en-US" sz="1600" dirty="0"/>
          </a:p>
        </p:txBody>
      </p:sp>
      <p:sp>
        <p:nvSpPr>
          <p:cNvPr id="4" name="Text 2"/>
          <p:cNvSpPr txBox="1"/>
          <p:nvPr/>
        </p:nvSpPr>
        <p:spPr>
          <a:xfrm>
            <a:off x="457200" y="1600200"/>
            <a:ext cx="3931920" cy="237744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5E7EB"/>
                </a:solidFill>
                <a:latin typeface="Calibri" pitchFamily="34" charset="0"/>
                <a:ea typeface="Calibri" pitchFamily="34" charset="-122"/>
                <a:cs typeface="Calibri" pitchFamily="34" charset="-120"/>
              </a:rPr>
              <a:t>A working, deployed serverless app that turns any document photo into spoken guidance</a:t>
            </a:r>
            <a:endParaRPr lang="en-US" sz="1350" dirty="0"/>
          </a:p>
          <a:p>
            <a:pPr marL="342900" indent="-342900">
              <a:spcAft>
                <a:spcPts val="1000"/>
              </a:spcAft>
              <a:buSzPct val="100000"/>
              <a:buChar char="•"/>
            </a:pPr>
            <a:r>
              <a:rPr lang="en-US" sz="1350" dirty="0">
                <a:solidFill>
                  <a:srgbClr val="E5E7EB"/>
                </a:solidFill>
                <a:latin typeface="Calibri" pitchFamily="34" charset="0"/>
                <a:ea typeface="Calibri" pitchFamily="34" charset="-122"/>
                <a:cs typeface="Calibri" pitchFamily="34" charset="-120"/>
              </a:rPr>
              <a:t>8 core Google Cloud services + IAM and Cloud Logging, integrated end to end</a:t>
            </a:r>
            <a:endParaRPr lang="en-US" sz="1350" dirty="0"/>
          </a:p>
          <a:p>
            <a:pPr marL="342900" indent="-342900">
              <a:spcAft>
                <a:spcPts val="1000"/>
              </a:spcAft>
              <a:buSzPct val="100000"/>
              <a:buChar char="•"/>
            </a:pPr>
            <a:r>
              <a:rPr lang="en-US" sz="1350" dirty="0">
                <a:solidFill>
                  <a:srgbClr val="E5E7EB"/>
                </a:solidFill>
                <a:latin typeface="Calibri" pitchFamily="34" charset="0"/>
                <a:ea typeface="Calibri" pitchFamily="34" charset="-122"/>
                <a:cs typeface="Calibri" pitchFamily="34" charset="-120"/>
              </a:rPr>
              <a:t>Secure, cheap to run, and deployed with one script</a:t>
            </a:r>
            <a:endParaRPr lang="en-US" sz="1350" dirty="0"/>
          </a:p>
        </p:txBody>
      </p:sp>
      <p:sp>
        <p:nvSpPr>
          <p:cNvPr id="5" name="Text 3"/>
          <p:cNvSpPr txBox="1"/>
          <p:nvPr/>
        </p:nvSpPr>
        <p:spPr>
          <a:xfrm>
            <a:off x="4846320" y="1188720"/>
            <a:ext cx="3840480" cy="320040"/>
          </a:xfrm>
          <a:prstGeom prst="rect">
            <a:avLst/>
          </a:prstGeom>
          <a:noFill/>
          <a:ln/>
        </p:spPr>
        <p:txBody>
          <a:bodyPr wrap="square" lIns="0" tIns="0" rIns="0" bIns="0" rtlCol="0" anchor="ctr"/>
          <a:lstStyle/>
          <a:p>
            <a:pPr indent="0" marL="0">
              <a:buNone/>
            </a:pPr>
            <a:r>
              <a:rPr lang="en-US" sz="1600" b="1" dirty="0">
                <a:solidFill>
                  <a:srgbClr val="5EEAD4"/>
                </a:solidFill>
                <a:latin typeface="Cambria" pitchFamily="34" charset="0"/>
                <a:ea typeface="Cambria" pitchFamily="34" charset="-122"/>
                <a:cs typeface="Cambria" pitchFamily="34" charset="-120"/>
              </a:rPr>
              <a:t>What comes next</a:t>
            </a:r>
            <a:endParaRPr lang="en-US" sz="1600" dirty="0"/>
          </a:p>
        </p:txBody>
      </p:sp>
      <p:sp>
        <p:nvSpPr>
          <p:cNvPr id="6" name="Text 4"/>
          <p:cNvSpPr txBox="1"/>
          <p:nvPr/>
        </p:nvSpPr>
        <p:spPr>
          <a:xfrm>
            <a:off x="4846320" y="1600200"/>
            <a:ext cx="3840480" cy="237744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5E7EB"/>
                </a:solidFill>
                <a:latin typeface="Calibri" pitchFamily="34" charset="0"/>
                <a:ea typeface="Calibri" pitchFamily="34" charset="-122"/>
                <a:cs typeface="Calibri" pitchFamily="34" charset="-120"/>
              </a:rPr>
              <a:t>Multi-page PDFs with Pub/Sub and Workflows</a:t>
            </a:r>
            <a:endParaRPr lang="en-US" sz="1350" dirty="0"/>
          </a:p>
          <a:p>
            <a:pPr marL="342900" indent="-342900">
              <a:spcAft>
                <a:spcPts val="1000"/>
              </a:spcAft>
              <a:buSzPct val="100000"/>
              <a:buChar char="•"/>
            </a:pPr>
            <a:r>
              <a:rPr lang="en-US" sz="1350" dirty="0">
                <a:solidFill>
                  <a:srgbClr val="E5E7EB"/>
                </a:solidFill>
                <a:latin typeface="Calibri" pitchFamily="34" charset="0"/>
                <a:ea typeface="Calibri" pitchFamily="34" charset="-122"/>
                <a:cs typeface="Calibri" pitchFamily="34" charset="-120"/>
              </a:rPr>
              <a:t>More Indian-language voices and a spoken Q&amp;A mode</a:t>
            </a:r>
            <a:endParaRPr lang="en-US" sz="1350" dirty="0"/>
          </a:p>
          <a:p>
            <a:pPr marL="342900" indent="-342900">
              <a:spcAft>
                <a:spcPts val="1000"/>
              </a:spcAft>
              <a:buSzPct val="100000"/>
              <a:buChar char="•"/>
            </a:pPr>
            <a:r>
              <a:rPr lang="en-US" sz="1350" dirty="0">
                <a:solidFill>
                  <a:srgbClr val="E5E7EB"/>
                </a:solidFill>
                <a:latin typeface="Calibri" pitchFamily="34" charset="0"/>
                <a:ea typeface="Calibri" pitchFamily="34" charset="-122"/>
                <a:cs typeface="Calibri" pitchFamily="34" charset="-120"/>
              </a:rPr>
              <a:t>Private per-user history with Firebase Authentication</a:t>
            </a:r>
            <a:endParaRPr lang="en-US" sz="1350" dirty="0"/>
          </a:p>
          <a:p>
            <a:pPr marL="342900" indent="-342900">
              <a:spcAft>
                <a:spcPts val="1000"/>
              </a:spcAft>
              <a:buSzPct val="100000"/>
              <a:buChar char="•"/>
            </a:pPr>
            <a:r>
              <a:rPr lang="en-US" sz="1350" dirty="0">
                <a:solidFill>
                  <a:srgbClr val="E5E7EB"/>
                </a:solidFill>
                <a:latin typeface="Calibri" pitchFamily="34" charset="0"/>
                <a:ea typeface="Calibri" pitchFamily="34" charset="-122"/>
                <a:cs typeface="Calibri" pitchFamily="34" charset="-120"/>
              </a:rPr>
              <a:t>WhatsApp / IVR channel for feature phones</a:t>
            </a:r>
            <a:endParaRPr lang="en-US" sz="1350" dirty="0"/>
          </a:p>
        </p:txBody>
      </p:sp>
      <p:sp>
        <p:nvSpPr>
          <p:cNvPr id="7" name="Text 5"/>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Live: storage.googleapis.com/vaanisetu-web-project-2acd026b-3237-497d-89d/index.html   ·   Code: github.com/17mohak/vaanisetu</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2410C"/>
        </a:solidFill>
      </p:bgPr>
    </p:bg>
    <p:spTree>
      <p:nvGrpSpPr>
        <p:cNvPr id="1" name=""/>
        <p:cNvGrpSpPr/>
        <p:nvPr/>
      </p:nvGrpSpPr>
      <p:grpSpPr>
        <a:xfrm>
          <a:off x="0" y="0"/>
          <a:ext cx="0" cy="0"/>
          <a:chOff x="0" y="0"/>
          <a:chExt cx="0" cy="0"/>
        </a:xfrm>
      </p:grpSpPr>
      <p:sp>
        <p:nvSpPr>
          <p:cNvPr id="2" name="Text 0"/>
          <p:cNvSpPr txBox="1"/>
          <p:nvPr/>
        </p:nvSpPr>
        <p:spPr>
          <a:xfrm>
            <a:off x="457200" y="1463040"/>
            <a:ext cx="8229600"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457200" y="2468880"/>
            <a:ext cx="8229600" cy="548640"/>
          </a:xfrm>
          <a:prstGeom prst="rect">
            <a:avLst/>
          </a:prstGeom>
          <a:noFill/>
          <a:ln/>
        </p:spPr>
        <p:txBody>
          <a:bodyPr wrap="square" lIns="0" tIns="0" rIns="0" bIns="0" rtlCol="0" anchor="ctr"/>
          <a:lstStyle/>
          <a:p>
            <a:pPr algn="ctr" indent="0" marL="0">
              <a:buNone/>
            </a:pPr>
            <a:r>
              <a:rPr lang="en-US" sz="2200" dirty="0">
                <a:solidFill>
                  <a:srgbClr val="FDE7D9"/>
                </a:solidFill>
                <a:latin typeface="Calibri" pitchFamily="34" charset="0"/>
                <a:ea typeface="Calibri" pitchFamily="34" charset="-122"/>
                <a:cs typeface="Calibri" pitchFamily="34" charset="-120"/>
              </a:rPr>
              <a:t>Questions?  ·  प्रश्न?</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VaaniSetu: AI-Powered Multilingual Document Reader on Google Cloud</dc:title>
  <dc:subject>PptxGenJS Presentation</dc:subject>
  <dc:creator>PptxGenJS</dc:creator>
  <cp:lastModifiedBy>PptxGenJS</cp:lastModifiedBy>
  <cp:revision>1</cp:revision>
  <dcterms:created xsi:type="dcterms:W3CDTF">2026-10-14T02:45:12Z</dcterms:created>
  <dcterms:modified xsi:type="dcterms:W3CDTF">2026-10-14T02:45:13Z</dcterms:modified>
</cp:coreProperties>
</file>