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VaaniSetu means 'bridge of voice'. It turns a photo of any document into a spoken explanation in the listener's own language, built entirely on serverless AWS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struggle with printed documents: people with low vision or the elderly, people with limited literacy, and people facing a language barrier. The cost of misunderstanding is high: a missed bill deadline or a wrong dosage.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experience is three steps: snap, understand, listen. The output includes a plain-language summary, key facts and action items with deadlines. Seven output languages are supported: English, Hindi, Spanish, French, German, Japanese and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the Mumbai region, ap-south-1. The frontend is on Amplify Hosting. The browser talks to API Gateway, which invokes a single Lambda function. Lambda orchestrates Rekognition, Bedrock, Polly, S3 and DynamoDB. IAM restricts permissions and CloudWatch collects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a single request. The photo never passes through the API: it goes straight to S3 with a pre-signed URL, which avoids API payload limits. Rekognition is a cheap gate so there is no charge for an AI call on a blank photo. Bedrock does the heavy lifting in one multimodal call. Polly speaks it, and DynamoDB stores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asks for at least three cloud services; VaaniSetu uses eight core AWS services plus IAM and CloudWatch, and no Azure services. Every service is serverless or fully managed, so there is nothing to patch and no idle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Python on Lambda using Boto3. The frontend is plain HTML, CSS and JavaScript with no framework, which keeps it fast. Deployment is automated with the AWS CLI, and the code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choose the college notice sample, select Hindi and click 'Read it to me'. The tracker lights up S3, Rekognition, Bedrock, Polly and DynamoDB, and the Hindi audio plays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cross-language understanding: the input is Hindi and the output is English. Rekognition cannot read Devanagari, so its confidence is low here, but the Bedrock model reads Hindi correctly. That is exactly why Rekognition is used only as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AWS Console screenshots of the real deployment: the Lambda function with its API Gateway trigger, the three HTTP routes, the audio files Polly generated in S3, and the stored records in DynamoDB.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 come from the Lambda's own measurements, which are shown in the app under each result. The whole pipeline fits comfortably inside API Gateway's 29-second limit. Because everything is pay-per-use, the app costs nothing when nobody is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 a design goal from the start. The browser never holds AWS credentials; it only receives short-lived pre-signed URLs. The IAM policy is scoped to specific resources. Throttling and the Rekognition gate protect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constraints shaped the design. The original plan used Textract, Translate and Comprehend, but the Free-plan account blocks them, so we used a multimodal Bedrock model instead. It turned out simpler and handles more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achievement and the roadmap, then offer the live URL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Likely viva topics: why serverless, pre-signed URLs, how IAM least privilege works, why Rekognition runs before Bedrock, and what happens if Bedrock returns malformed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A17"/>
        </a:solidFill>
      </p:bgPr>
    </p:bg>
    <p:spTree>
      <p:nvGrpSpPr>
        <p:cNvPr id="1" name=""/>
        <p:cNvGrpSpPr/>
        <p:nvPr/>
      </p:nvGrpSpPr>
      <p:grpSpPr>
        <a:xfrm>
          <a:off x="0" y="0"/>
          <a:ext cx="0" cy="0"/>
          <a:chOff x="0" y="0"/>
          <a:chExt cx="0" cy="0"/>
        </a:xfrm>
      </p:grpSpPr>
      <p:sp>
        <p:nvSpPr>
          <p:cNvPr id="2" name="Shape 0"/>
          <p:cNvSpPr/>
          <p:nvPr/>
        </p:nvSpPr>
        <p:spPr>
          <a:xfrm>
            <a:off x="6675120" y="1760220"/>
            <a:ext cx="118872" cy="320040"/>
          </a:xfrm>
          <a:prstGeom prst="roundRect">
            <a:avLst>
              <a:gd name="adj" fmla="val 46154"/>
            </a:avLst>
          </a:prstGeom>
          <a:solidFill>
            <a:srgbClr val="C2410C"/>
          </a:solidFill>
          <a:ln/>
        </p:spPr>
      </p:sp>
      <p:sp>
        <p:nvSpPr>
          <p:cNvPr id="3" name="Shape 1"/>
          <p:cNvSpPr/>
          <p:nvPr/>
        </p:nvSpPr>
        <p:spPr>
          <a:xfrm>
            <a:off x="6912864" y="1554480"/>
            <a:ext cx="118872" cy="731520"/>
          </a:xfrm>
          <a:prstGeom prst="roundRect">
            <a:avLst>
              <a:gd name="adj" fmla="val 46154"/>
            </a:avLst>
          </a:prstGeom>
          <a:solidFill>
            <a:srgbClr val="E26A35"/>
          </a:solidFill>
          <a:ln/>
        </p:spPr>
      </p:sp>
      <p:sp>
        <p:nvSpPr>
          <p:cNvPr id="4" name="Shape 2"/>
          <p:cNvSpPr/>
          <p:nvPr/>
        </p:nvSpPr>
        <p:spPr>
          <a:xfrm>
            <a:off x="7150608" y="1325880"/>
            <a:ext cx="118872" cy="1188720"/>
          </a:xfrm>
          <a:prstGeom prst="roundRect">
            <a:avLst>
              <a:gd name="adj" fmla="val 46154"/>
            </a:avLst>
          </a:prstGeom>
          <a:solidFill>
            <a:srgbClr val="C2410C"/>
          </a:solidFill>
          <a:ln/>
        </p:spPr>
      </p:sp>
      <p:sp>
        <p:nvSpPr>
          <p:cNvPr id="5" name="Shape 3"/>
          <p:cNvSpPr/>
          <p:nvPr/>
        </p:nvSpPr>
        <p:spPr>
          <a:xfrm>
            <a:off x="7388352" y="1508760"/>
            <a:ext cx="118872" cy="822960"/>
          </a:xfrm>
          <a:prstGeom prst="roundRect">
            <a:avLst>
              <a:gd name="adj" fmla="val 46154"/>
            </a:avLst>
          </a:prstGeom>
          <a:solidFill>
            <a:srgbClr val="E26A35"/>
          </a:solidFill>
          <a:ln/>
        </p:spPr>
      </p:sp>
      <p:sp>
        <p:nvSpPr>
          <p:cNvPr id="6" name="Shape 4"/>
          <p:cNvSpPr/>
          <p:nvPr/>
        </p:nvSpPr>
        <p:spPr>
          <a:xfrm>
            <a:off x="7626096" y="1188720"/>
            <a:ext cx="118872" cy="1463040"/>
          </a:xfrm>
          <a:prstGeom prst="roundRect">
            <a:avLst>
              <a:gd name="adj" fmla="val 46154"/>
            </a:avLst>
          </a:prstGeom>
          <a:solidFill>
            <a:srgbClr val="C2410C"/>
          </a:solidFill>
          <a:ln/>
        </p:spPr>
      </p:sp>
      <p:sp>
        <p:nvSpPr>
          <p:cNvPr id="7" name="Shape 5"/>
          <p:cNvSpPr/>
          <p:nvPr/>
        </p:nvSpPr>
        <p:spPr>
          <a:xfrm>
            <a:off x="7863840" y="1417320"/>
            <a:ext cx="118872" cy="1005840"/>
          </a:xfrm>
          <a:prstGeom prst="roundRect">
            <a:avLst>
              <a:gd name="adj" fmla="val 46154"/>
            </a:avLst>
          </a:prstGeom>
          <a:solidFill>
            <a:srgbClr val="E26A35"/>
          </a:solidFill>
          <a:ln/>
        </p:spPr>
      </p:sp>
      <p:sp>
        <p:nvSpPr>
          <p:cNvPr id="8" name="Shape 6"/>
          <p:cNvSpPr/>
          <p:nvPr/>
        </p:nvSpPr>
        <p:spPr>
          <a:xfrm>
            <a:off x="8101584" y="1645920"/>
            <a:ext cx="118872" cy="548640"/>
          </a:xfrm>
          <a:prstGeom prst="roundRect">
            <a:avLst>
              <a:gd name="adj" fmla="val 46154"/>
            </a:avLst>
          </a:prstGeom>
          <a:solidFill>
            <a:srgbClr val="C2410C"/>
          </a:solidFill>
          <a:ln/>
        </p:spPr>
      </p:sp>
      <p:sp>
        <p:nvSpPr>
          <p:cNvPr id="9" name="Shape 7"/>
          <p:cNvSpPr/>
          <p:nvPr/>
        </p:nvSpPr>
        <p:spPr>
          <a:xfrm>
            <a:off x="8339328" y="1463040"/>
            <a:ext cx="118872" cy="914400"/>
          </a:xfrm>
          <a:prstGeom prst="roundRect">
            <a:avLst>
              <a:gd name="adj" fmla="val 46154"/>
            </a:avLst>
          </a:prstGeom>
          <a:solidFill>
            <a:srgbClr val="E26A35"/>
          </a:solidFill>
          <a:ln/>
        </p:spPr>
      </p:sp>
      <p:sp>
        <p:nvSpPr>
          <p:cNvPr id="10" name="Shape 8"/>
          <p:cNvSpPr/>
          <p:nvPr/>
        </p:nvSpPr>
        <p:spPr>
          <a:xfrm>
            <a:off x="8577072" y="1714500"/>
            <a:ext cx="118872" cy="411480"/>
          </a:xfrm>
          <a:prstGeom prst="roundRect">
            <a:avLst>
              <a:gd name="adj" fmla="val 46154"/>
            </a:avLst>
          </a:prstGeom>
          <a:solidFill>
            <a:srgbClr val="C2410C"/>
          </a:solidFill>
          <a:ln/>
        </p:spPr>
      </p:sp>
      <p:sp>
        <p:nvSpPr>
          <p:cNvPr id="11" name="Text 9"/>
          <p:cNvSpPr txBox="1"/>
          <p:nvPr/>
        </p:nvSpPr>
        <p:spPr>
          <a:xfrm>
            <a:off x="548640" y="640080"/>
            <a:ext cx="5486400" cy="320040"/>
          </a:xfrm>
          <a:prstGeom prst="rect">
            <a:avLst/>
          </a:prstGeom>
          <a:noFill/>
          <a:ln/>
        </p:spPr>
        <p:txBody>
          <a:bodyPr wrap="square" lIns="0" tIns="0" rIns="0" bIns="0" rtlCol="0" anchor="ctr"/>
          <a:lstStyle/>
          <a:p>
            <a:pPr indent="0" marL="0">
              <a:buNone/>
            </a:pPr>
            <a:r>
              <a:rPr lang="en-US" sz="1400" dirty="0">
                <a:solidFill>
                  <a:srgbClr val="F4A57C"/>
                </a:solidFill>
                <a:latin typeface="Calibri" pitchFamily="34" charset="0"/>
                <a:ea typeface="Calibri" pitchFamily="34" charset="-122"/>
                <a:cs typeface="Calibri" pitchFamily="34" charset="-120"/>
              </a:rPr>
              <a:t>वाणी सेतु  ·  a bridge of voice</a:t>
            </a:r>
            <a:endParaRPr lang="en-US" sz="1400" dirty="0"/>
          </a:p>
        </p:txBody>
      </p:sp>
      <p:sp>
        <p:nvSpPr>
          <p:cNvPr id="12" name="Text 10"/>
          <p:cNvSpPr txBox="1"/>
          <p:nvPr/>
        </p:nvSpPr>
        <p:spPr>
          <a:xfrm>
            <a:off x="548640" y="1005840"/>
            <a:ext cx="5943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VaaniSetu</a:t>
            </a:r>
            <a:endParaRPr lang="en-US" sz="5400" dirty="0"/>
          </a:p>
        </p:txBody>
      </p:sp>
      <p:sp>
        <p:nvSpPr>
          <p:cNvPr id="13" name="Text 11"/>
          <p:cNvSpPr txBox="1"/>
          <p:nvPr/>
        </p:nvSpPr>
        <p:spPr>
          <a:xfrm>
            <a:off x="548640" y="1920240"/>
            <a:ext cx="5943600" cy="457200"/>
          </a:xfrm>
          <a:prstGeom prst="rect">
            <a:avLst/>
          </a:prstGeom>
          <a:noFill/>
          <a:ln/>
        </p:spPr>
        <p:txBody>
          <a:bodyPr wrap="square" lIns="0" tIns="0" rIns="0" bIns="0" rtlCol="0" anchor="ctr"/>
          <a:lstStyle/>
          <a:p>
            <a:pPr indent="0" marL="0">
              <a:buNone/>
            </a:pPr>
            <a:r>
              <a:rPr lang="en-US" sz="1800" dirty="0">
                <a:solidFill>
                  <a:srgbClr val="E5E7EB"/>
                </a:solidFill>
                <a:latin typeface="Calibri" pitchFamily="34" charset="0"/>
                <a:ea typeface="Calibri" pitchFamily="34" charset="-122"/>
                <a:cs typeface="Calibri" pitchFamily="34" charset="-120"/>
              </a:rPr>
              <a:t>An AI-powered multilingual document reader built on AWS</a:t>
            </a:r>
            <a:endParaRPr lang="en-US" sz="1800" dirty="0"/>
          </a:p>
        </p:txBody>
      </p:sp>
      <p:sp>
        <p:nvSpPr>
          <p:cNvPr id="14" name="Text 12"/>
          <p:cNvSpPr txBox="1"/>
          <p:nvPr/>
        </p:nvSpPr>
        <p:spPr>
          <a:xfrm>
            <a:off x="548640" y="2423160"/>
            <a:ext cx="5852160" cy="502920"/>
          </a:xfrm>
          <a:prstGeom prst="rect">
            <a:avLst/>
          </a:prstGeom>
          <a:noFill/>
          <a:ln/>
        </p:spPr>
        <p:txBody>
          <a:bodyPr wrap="square" lIns="0" tIns="0" rIns="0" bIns="0" rtlCol="0" anchor="t"/>
          <a:lstStyle/>
          <a:p>
            <a:pPr indent="0" marL="0">
              <a:buNone/>
            </a:pPr>
            <a:r>
              <a:rPr lang="en-US" sz="1100" dirty="0">
                <a:solidFill>
                  <a:srgbClr val="9CA3AF"/>
                </a:solidFill>
                <a:latin typeface="Calibri" pitchFamily="34" charset="0"/>
                <a:ea typeface="Calibri" pitchFamily="34" charset="-122"/>
                <a:cs typeface="Calibri" pitchFamily="34" charset="-120"/>
              </a:rPr>
              <a:t>Amazon Bedrock  ·  Amazon Polly  ·  Amazon Rekognition  ·  AWS Lambda  ·  API Gateway  ·  S3  ·  DynamoDB  ·  Amplify</a:t>
            </a:r>
            <a:endParaRPr lang="en-US" sz="1100" dirty="0"/>
          </a:p>
        </p:txBody>
      </p:sp>
      <p:sp>
        <p:nvSpPr>
          <p:cNvPr id="15" name="Text 13"/>
          <p:cNvSpPr txBox="1"/>
          <p:nvPr/>
        </p:nvSpPr>
        <p:spPr>
          <a:xfrm>
            <a:off x="548640" y="3383280"/>
            <a:ext cx="8046720" cy="1005840"/>
          </a:xfrm>
          <a:prstGeom prst="rect">
            <a:avLst/>
          </a:prstGeom>
          <a:noFill/>
          <a:ln/>
        </p:spPr>
        <p:txBody>
          <a:bodyPr wrap="square" lIns="0" tIns="0" rIns="0" bIns="0" rtlCol="0" anchor="ctr"/>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Presented by: </a:t>
            </a:r>
            <a:pPr indent="0" marL="0">
              <a:spcAft>
                <a:spcPts val="400"/>
              </a:spcAft>
              <a:buNone/>
            </a:pPr>
            <a:r>
              <a:rPr lang="en-US" sz="1200" dirty="0">
                <a:solidFill>
                  <a:srgbClr val="D1D5DB"/>
                </a:solidFill>
                <a:latin typeface="Calibri" pitchFamily="34" charset="0"/>
                <a:ea typeface="Calibri" pitchFamily="34" charset="-122"/>
                <a:cs typeface="Calibri" pitchFamily="34" charset="-120"/>
              </a:rPr>
              <a:t>Mohak Mandwani (App ID: 2406506)</a:t>
            </a:r>
            <a:endParaRPr lang="en-US" sz="1200" dirty="0"/>
          </a:p>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Supervisor: </a:t>
            </a:r>
            <a:pPr indent="0" marL="0">
              <a:spcAft>
                <a:spcPts val="400"/>
              </a:spcAft>
              <a:buNone/>
            </a:pPr>
            <a:r>
              <a:rPr lang="en-US" sz="1200" dirty="0">
                <a:solidFill>
                  <a:srgbClr val="D1D5DB"/>
                </a:solidFill>
                <a:latin typeface="Calibri" pitchFamily="34" charset="0"/>
                <a:ea typeface="Calibri" pitchFamily="34" charset="-122"/>
                <a:cs typeface="Calibri" pitchFamily="34" charset="-120"/>
              </a:rPr>
              <a:t>Dr. Kunal Meher (Assistant Professor)</a:t>
            </a:r>
            <a:endParaRPr lang="en-US" sz="1200" dirty="0"/>
          </a:p>
          <a:p>
            <a:pPr indent="0" marL="0">
              <a:spcAft>
                <a:spcPts val="400"/>
              </a:spcAft>
              <a:buNone/>
            </a:pPr>
            <a:r>
              <a:rPr lang="en-US" sz="1200" dirty="0">
                <a:solidFill>
                  <a:srgbClr val="D1D5DB"/>
                </a:solidFill>
                <a:latin typeface="Calibri" pitchFamily="34" charset="0"/>
                <a:ea typeface="Calibri" pitchFamily="34" charset="-122"/>
                <a:cs typeface="Calibri" pitchFamily="34" charset="-120"/>
              </a:rPr>
              <a:t>Cloud Application Development (CAP 303)  ·  TY B.Tech Sem V  ·  uGDX School of Technology  ·  AY 2026-27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Everyday life runs on paper, but not everyone can read it comfortably</a:t>
            </a:r>
            <a:endParaRPr lang="en-US" sz="1400" dirty="0"/>
          </a:p>
        </p:txBody>
      </p:sp>
      <p:sp>
        <p:nvSpPr>
          <p:cNvPr id="4" name="Shape 2"/>
          <p:cNvSpPr/>
          <p:nvPr/>
        </p:nvSpPr>
        <p:spPr>
          <a:xfrm>
            <a:off x="457200" y="1463040"/>
            <a:ext cx="2606040" cy="3017520"/>
          </a:xfrm>
          <a:prstGeom prst="roundRect">
            <a:avLst>
              <a:gd name="adj" fmla="val 4211"/>
            </a:avLst>
          </a:prstGeom>
          <a:solidFill>
            <a:srgbClr val="F3F4F6"/>
          </a:solidFill>
          <a:ln/>
        </p:spPr>
      </p:sp>
      <p:sp>
        <p:nvSpPr>
          <p:cNvPr id="5" name="Shape 3"/>
          <p:cNvSpPr/>
          <p:nvPr/>
        </p:nvSpPr>
        <p:spPr>
          <a:xfrm>
            <a:off x="731520" y="1737360"/>
            <a:ext cx="685800" cy="685800"/>
          </a:xfrm>
          <a:prstGeom prst="ellipse">
            <a:avLst/>
          </a:prstGeom>
          <a:solidFill>
            <a:srgbClr val="FBE6D9"/>
          </a:solidFill>
          <a:ln w="12700">
            <a:solidFill>
              <a:srgbClr val="FBE6D9"/>
            </a:solidFill>
            <a:prstDash val="solid"/>
          </a:ln>
        </p:spPr>
      </p:sp>
      <p:pic>
        <p:nvPicPr>
          <p:cNvPr id="6" name="Image 0" descr="preencoded.png">    </p:cNvPr>
          <p:cNvPicPr>
            <a:picLocks noChangeAspect="1"/>
          </p:cNvPicPr>
          <p:nvPr/>
        </p:nvPicPr>
        <p:blipFill>
          <a:blip r:embed="rId1"/>
          <a:stretch>
            <a:fillRect/>
          </a:stretch>
        </p:blipFill>
        <p:spPr>
          <a:xfrm>
            <a:off x="909828" y="1915668"/>
            <a:ext cx="329184" cy="329184"/>
          </a:xfrm>
          <a:prstGeom prst="rect">
            <a:avLst/>
          </a:prstGeom>
        </p:spPr>
      </p:pic>
      <p:sp>
        <p:nvSpPr>
          <p:cNvPr id="7" name="Text 4"/>
          <p:cNvSpPr txBox="1"/>
          <p:nvPr/>
        </p:nvSpPr>
        <p:spPr>
          <a:xfrm>
            <a:off x="73152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Low vision &amp; elderly</a:t>
            </a:r>
            <a:endParaRPr lang="en-US" sz="1700" dirty="0"/>
          </a:p>
        </p:txBody>
      </p:sp>
      <p:sp>
        <p:nvSpPr>
          <p:cNvPr id="8" name="Text 5"/>
          <p:cNvSpPr txBox="1"/>
          <p:nvPr/>
        </p:nvSpPr>
        <p:spPr>
          <a:xfrm>
            <a:off x="73152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Small print on prescriptions and bills is hard to read, and mistakes with doses or due dates have real consequences.</a:t>
            </a:r>
            <a:endParaRPr lang="en-US" sz="1300" dirty="0"/>
          </a:p>
        </p:txBody>
      </p:sp>
      <p:sp>
        <p:nvSpPr>
          <p:cNvPr id="9" name="Shape 6"/>
          <p:cNvSpPr/>
          <p:nvPr/>
        </p:nvSpPr>
        <p:spPr>
          <a:xfrm>
            <a:off x="3246120" y="1463040"/>
            <a:ext cx="2606040" cy="3017520"/>
          </a:xfrm>
          <a:prstGeom prst="roundRect">
            <a:avLst>
              <a:gd name="adj" fmla="val 4211"/>
            </a:avLst>
          </a:prstGeom>
          <a:solidFill>
            <a:srgbClr val="F3F4F6"/>
          </a:solidFill>
          <a:ln/>
        </p:spPr>
      </p:sp>
      <p:sp>
        <p:nvSpPr>
          <p:cNvPr id="10" name="Shape 7"/>
          <p:cNvSpPr/>
          <p:nvPr/>
        </p:nvSpPr>
        <p:spPr>
          <a:xfrm>
            <a:off x="3520440" y="1737360"/>
            <a:ext cx="685800" cy="685800"/>
          </a:xfrm>
          <a:prstGeom prst="ellipse">
            <a:avLst/>
          </a:prstGeom>
          <a:solidFill>
            <a:srgbClr val="FBE6D9"/>
          </a:solidFill>
          <a:ln w="12700">
            <a:solidFill>
              <a:srgbClr val="FBE6D9"/>
            </a:solidFill>
            <a:prstDash val="solid"/>
          </a:ln>
        </p:spPr>
      </p:sp>
      <p:pic>
        <p:nvPicPr>
          <p:cNvPr id="11" name="Image 1" descr="preencoded.png">    </p:cNvPr>
          <p:cNvPicPr>
            <a:picLocks noChangeAspect="1"/>
          </p:cNvPicPr>
          <p:nvPr/>
        </p:nvPicPr>
        <p:blipFill>
          <a:blip r:embed="rId2"/>
          <a:stretch>
            <a:fillRect/>
          </a:stretch>
        </p:blipFill>
        <p:spPr>
          <a:xfrm>
            <a:off x="3698748" y="1915668"/>
            <a:ext cx="329184" cy="329184"/>
          </a:xfrm>
          <a:prstGeom prst="rect">
            <a:avLst/>
          </a:prstGeom>
        </p:spPr>
      </p:pic>
      <p:sp>
        <p:nvSpPr>
          <p:cNvPr id="12" name="Text 8"/>
          <p:cNvSpPr txBox="1"/>
          <p:nvPr/>
        </p:nvSpPr>
        <p:spPr>
          <a:xfrm>
            <a:off x="352044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Limited literacy</a:t>
            </a:r>
            <a:endParaRPr lang="en-US" sz="1700" dirty="0"/>
          </a:p>
        </p:txBody>
      </p:sp>
      <p:sp>
        <p:nvSpPr>
          <p:cNvPr id="13" name="Text 9"/>
          <p:cNvSpPr txBox="1"/>
          <p:nvPr/>
        </p:nvSpPr>
        <p:spPr>
          <a:xfrm>
            <a:off x="352044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Official notices and forms use formal, technical language that is hard to understand even when it can be read.</a:t>
            </a:r>
            <a:endParaRPr lang="en-US" sz="1300" dirty="0"/>
          </a:p>
        </p:txBody>
      </p:sp>
      <p:sp>
        <p:nvSpPr>
          <p:cNvPr id="14" name="Shape 10"/>
          <p:cNvSpPr/>
          <p:nvPr/>
        </p:nvSpPr>
        <p:spPr>
          <a:xfrm>
            <a:off x="6035040" y="1463040"/>
            <a:ext cx="2606040" cy="3017520"/>
          </a:xfrm>
          <a:prstGeom prst="roundRect">
            <a:avLst>
              <a:gd name="adj" fmla="val 4211"/>
            </a:avLst>
          </a:prstGeom>
          <a:solidFill>
            <a:srgbClr val="F3F4F6"/>
          </a:solidFill>
          <a:ln/>
        </p:spPr>
      </p:sp>
      <p:sp>
        <p:nvSpPr>
          <p:cNvPr id="15" name="Shape 11"/>
          <p:cNvSpPr/>
          <p:nvPr/>
        </p:nvSpPr>
        <p:spPr>
          <a:xfrm>
            <a:off x="6309360" y="1737360"/>
            <a:ext cx="685800" cy="685800"/>
          </a:xfrm>
          <a:prstGeom prst="ellipse">
            <a:avLst/>
          </a:prstGeom>
          <a:solidFill>
            <a:srgbClr val="FBE6D9"/>
          </a:solidFill>
          <a:ln w="12700">
            <a:solidFill>
              <a:srgbClr val="FBE6D9"/>
            </a:solidFill>
            <a:prstDash val="solid"/>
          </a:ln>
        </p:spPr>
      </p:sp>
      <p:pic>
        <p:nvPicPr>
          <p:cNvPr id="16" name="Image 2" descr="preencoded.png">    </p:cNvPr>
          <p:cNvPicPr>
            <a:picLocks noChangeAspect="1"/>
          </p:cNvPicPr>
          <p:nvPr/>
        </p:nvPicPr>
        <p:blipFill>
          <a:blip r:embed="rId3"/>
          <a:stretch>
            <a:fillRect/>
          </a:stretch>
        </p:blipFill>
        <p:spPr>
          <a:xfrm>
            <a:off x="6487668" y="1915668"/>
            <a:ext cx="329184" cy="329184"/>
          </a:xfrm>
          <a:prstGeom prst="rect">
            <a:avLst/>
          </a:prstGeom>
        </p:spPr>
      </p:pic>
      <p:sp>
        <p:nvSpPr>
          <p:cNvPr id="17" name="Text 12"/>
          <p:cNvSpPr txBox="1"/>
          <p:nvPr/>
        </p:nvSpPr>
        <p:spPr>
          <a:xfrm>
            <a:off x="630936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Language barrier</a:t>
            </a:r>
            <a:endParaRPr lang="en-US" sz="1700" dirty="0"/>
          </a:p>
        </p:txBody>
      </p:sp>
      <p:sp>
        <p:nvSpPr>
          <p:cNvPr id="18" name="Text 13"/>
          <p:cNvSpPr txBox="1"/>
          <p:nvPr/>
        </p:nvSpPr>
        <p:spPr>
          <a:xfrm>
            <a:off x="630936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Migrants and students often receive documents in a language they do not read, such as a Hindi bill for a non-Hindi reader.</a:t>
            </a:r>
            <a:endParaRPr lang="en-US" sz="1300" dirty="0"/>
          </a:p>
        </p:txBody>
      </p:sp>
      <p:sp>
        <p:nvSpPr>
          <p:cNvPr id="19" name="Text 14"/>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Our solution: VaaniSetu</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Photograph a document and hear it explained in your language in about 10 seconds</a:t>
            </a:r>
            <a:endParaRPr lang="en-US" sz="1400" dirty="0"/>
          </a:p>
        </p:txBody>
      </p:sp>
      <p:sp>
        <p:nvSpPr>
          <p:cNvPr id="4" name="Shape 2"/>
          <p:cNvSpPr/>
          <p:nvPr/>
        </p:nvSpPr>
        <p:spPr>
          <a:xfrm>
            <a:off x="457200" y="1463040"/>
            <a:ext cx="640080" cy="640080"/>
          </a:xfrm>
          <a:prstGeom prst="ellipse">
            <a:avLst/>
          </a:prstGeom>
          <a:solidFill>
            <a:srgbClr val="C2410C"/>
          </a:solidFill>
          <a:ln w="12700">
            <a:solidFill>
              <a:srgbClr val="C2410C"/>
            </a:solidFill>
            <a:prstDash val="solid"/>
          </a:ln>
        </p:spPr>
      </p:sp>
      <p:pic>
        <p:nvPicPr>
          <p:cNvPr id="5" name="Image 0" descr="preencoded.png">    </p:cNvPr>
          <p:cNvPicPr>
            <a:picLocks noChangeAspect="1"/>
          </p:cNvPicPr>
          <p:nvPr/>
        </p:nvPicPr>
        <p:blipFill>
          <a:blip r:embed="rId1"/>
          <a:stretch>
            <a:fillRect/>
          </a:stretch>
        </p:blipFill>
        <p:spPr>
          <a:xfrm>
            <a:off x="623621" y="1629461"/>
            <a:ext cx="307238" cy="307238"/>
          </a:xfrm>
          <a:prstGeom prst="rect">
            <a:avLst/>
          </a:prstGeom>
        </p:spPr>
      </p:pic>
      <p:sp>
        <p:nvSpPr>
          <p:cNvPr id="6" name="Text 3"/>
          <p:cNvSpPr txBox="1"/>
          <p:nvPr/>
        </p:nvSpPr>
        <p:spPr>
          <a:xfrm>
            <a:off x="1280160" y="1481328"/>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Snap</a:t>
            </a:r>
            <a:endParaRPr lang="en-US" sz="1700" dirty="0"/>
          </a:p>
        </p:txBody>
      </p:sp>
      <p:sp>
        <p:nvSpPr>
          <p:cNvPr id="7" name="Text 4"/>
          <p:cNvSpPr txBox="1"/>
          <p:nvPr/>
        </p:nvSpPr>
        <p:spPr>
          <a:xfrm>
            <a:off x="1280160" y="1792224"/>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Take a photo of a prescription, bill, notice or form</a:t>
            </a:r>
            <a:endParaRPr lang="en-US" sz="1250" dirty="0"/>
          </a:p>
        </p:txBody>
      </p:sp>
      <p:sp>
        <p:nvSpPr>
          <p:cNvPr id="8" name="Shape 5"/>
          <p:cNvSpPr/>
          <p:nvPr/>
        </p:nvSpPr>
        <p:spPr>
          <a:xfrm>
            <a:off x="457200" y="2487168"/>
            <a:ext cx="640080" cy="640080"/>
          </a:xfrm>
          <a:prstGeom prst="ellipse">
            <a:avLst/>
          </a:prstGeom>
          <a:solidFill>
            <a:srgbClr val="0F766E"/>
          </a:solidFill>
          <a:ln w="12700">
            <a:solidFill>
              <a:srgbClr val="0F766E"/>
            </a:solidFill>
            <a:prstDash val="solid"/>
          </a:ln>
        </p:spPr>
      </p:sp>
      <p:pic>
        <p:nvPicPr>
          <p:cNvPr id="9" name="Image 1" descr="preencoded.png">    </p:cNvPr>
          <p:cNvPicPr>
            <a:picLocks noChangeAspect="1"/>
          </p:cNvPicPr>
          <p:nvPr/>
        </p:nvPicPr>
        <p:blipFill>
          <a:blip r:embed="rId2"/>
          <a:stretch>
            <a:fillRect/>
          </a:stretch>
        </p:blipFill>
        <p:spPr>
          <a:xfrm>
            <a:off x="623621" y="2653589"/>
            <a:ext cx="307238" cy="307238"/>
          </a:xfrm>
          <a:prstGeom prst="rect">
            <a:avLst/>
          </a:prstGeom>
        </p:spPr>
      </p:pic>
      <p:sp>
        <p:nvSpPr>
          <p:cNvPr id="10" name="Text 6"/>
          <p:cNvSpPr txBox="1"/>
          <p:nvPr/>
        </p:nvSpPr>
        <p:spPr>
          <a:xfrm>
            <a:off x="1280160" y="2505456"/>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Understand</a:t>
            </a:r>
            <a:endParaRPr lang="en-US" sz="1700" dirty="0"/>
          </a:p>
        </p:txBody>
      </p:sp>
      <p:sp>
        <p:nvSpPr>
          <p:cNvPr id="11" name="Text 7"/>
          <p:cNvSpPr txBox="1"/>
          <p:nvPr/>
        </p:nvSpPr>
        <p:spPr>
          <a:xfrm>
            <a:off x="1280160" y="2816352"/>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AI reads it and explains what it means and what to do</a:t>
            </a:r>
            <a:endParaRPr lang="en-US" sz="1250" dirty="0"/>
          </a:p>
        </p:txBody>
      </p:sp>
      <p:sp>
        <p:nvSpPr>
          <p:cNvPr id="12" name="Shape 8"/>
          <p:cNvSpPr/>
          <p:nvPr/>
        </p:nvSpPr>
        <p:spPr>
          <a:xfrm>
            <a:off x="457200" y="3511296"/>
            <a:ext cx="640080" cy="640080"/>
          </a:xfrm>
          <a:prstGeom prst="ellipse">
            <a:avLst/>
          </a:prstGeom>
          <a:solidFill>
            <a:srgbClr val="C2410C"/>
          </a:solidFill>
          <a:ln w="12700">
            <a:solidFill>
              <a:srgbClr val="C2410C"/>
            </a:solidFill>
            <a:prstDash val="solid"/>
          </a:ln>
        </p:spPr>
      </p:sp>
      <p:pic>
        <p:nvPicPr>
          <p:cNvPr id="13" name="Image 2" descr="preencoded.png">    </p:cNvPr>
          <p:cNvPicPr>
            <a:picLocks noChangeAspect="1"/>
          </p:cNvPicPr>
          <p:nvPr/>
        </p:nvPicPr>
        <p:blipFill>
          <a:blip r:embed="rId3"/>
          <a:stretch>
            <a:fillRect/>
          </a:stretch>
        </p:blipFill>
        <p:spPr>
          <a:xfrm>
            <a:off x="623621" y="3677717"/>
            <a:ext cx="307238" cy="307238"/>
          </a:xfrm>
          <a:prstGeom prst="rect">
            <a:avLst/>
          </a:prstGeom>
        </p:spPr>
      </p:pic>
      <p:sp>
        <p:nvSpPr>
          <p:cNvPr id="14" name="Text 9"/>
          <p:cNvSpPr txBox="1"/>
          <p:nvPr/>
        </p:nvSpPr>
        <p:spPr>
          <a:xfrm>
            <a:off x="1280160" y="3529584"/>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Listen</a:t>
            </a:r>
            <a:endParaRPr lang="en-US" sz="1700" dirty="0"/>
          </a:p>
        </p:txBody>
      </p:sp>
      <p:sp>
        <p:nvSpPr>
          <p:cNvPr id="15" name="Text 10"/>
          <p:cNvSpPr txBox="1"/>
          <p:nvPr/>
        </p:nvSpPr>
        <p:spPr>
          <a:xfrm>
            <a:off x="1280160" y="3840480"/>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A natural neural voice reads the explanation aloud</a:t>
            </a:r>
            <a:endParaRPr lang="en-US" sz="1250" dirty="0"/>
          </a:p>
        </p:txBody>
      </p:sp>
      <p:pic>
        <p:nvPicPr>
          <p:cNvPr id="16" name="Image 3" descr="C:\Users\MOHAK\AppData\Roaming\Claude\scratch-workspaces\f2c6d378-d886-42df-9f4c-719dd5cf9513\45ae0831-b88f-478b-b917-cc13a7ce82a4\scratch-2026-09-29-7d1471\vaanisetu\report\screenshots\01-home.jpg">    </p:cNvPr>
          <p:cNvPicPr>
            <a:picLocks noChangeAspect="1"/>
          </p:cNvPicPr>
          <p:nvPr/>
        </p:nvPicPr>
        <p:blipFill>
          <a:blip r:embed="rId4"/>
          <a:stretch>
            <a:fillRect/>
          </a:stretch>
        </p:blipFill>
        <p:spPr>
          <a:xfrm>
            <a:off x="4160520" y="1417320"/>
            <a:ext cx="4526280" cy="2304288"/>
          </a:xfrm>
          <a:prstGeom prst="rect">
            <a:avLst/>
          </a:prstGeom>
          <a:effectLst>
            <a:outerShdw sx="100000" sy="100000" kx="0" ky="0" algn="bl" rotWithShape="0" blurRad="76200" dist="25400" dir="5400000">
              <a:srgbClr val="000000">
                <a:alpha val="18000"/>
              </a:srgbClr>
            </a:outerShdw>
          </a:effectLst>
        </p:spPr>
      </p:pic>
      <p:sp>
        <p:nvSpPr>
          <p:cNvPr id="17" name="Text 11"/>
          <p:cNvSpPr txBox="1"/>
          <p:nvPr/>
        </p:nvSpPr>
        <p:spPr>
          <a:xfrm>
            <a:off x="4160520" y="3931920"/>
            <a:ext cx="4526280" cy="274320"/>
          </a:xfrm>
          <a:prstGeom prst="rect">
            <a:avLst/>
          </a:prstGeom>
          <a:noFill/>
          <a:ln/>
        </p:spPr>
        <p:txBody>
          <a:bodyPr wrap="square" lIns="0" tIns="0" rIns="0" bIns="0" rtlCol="0" anchor="ctr"/>
          <a:lstStyle/>
          <a:p>
            <a:pPr algn="ctr" indent="0" marL="0">
              <a:buNone/>
            </a:pPr>
            <a:r>
              <a:rPr lang="en-US" sz="1100" i="1" dirty="0">
                <a:solidFill>
                  <a:srgbClr val="C2410C"/>
                </a:solidFill>
                <a:latin typeface="Calibri" pitchFamily="34" charset="0"/>
                <a:ea typeface="Calibri" pitchFamily="34" charset="-122"/>
                <a:cs typeface="Calibri" pitchFamily="34" charset="-120"/>
              </a:rPr>
              <a:t>7 output languages  ·  any input language  ·  key points &amp; action items  ·  history</a:t>
            </a:r>
            <a:endParaRPr lang="en-US" sz="1100" dirty="0"/>
          </a:p>
        </p:txBody>
      </p:sp>
      <p:sp>
        <p:nvSpPr>
          <p:cNvPr id="18" name="Text 1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Block diagram</a:t>
            </a:r>
            <a:endParaRPr lang="en-US" sz="3000" dirty="0"/>
          </a:p>
        </p:txBody>
      </p:sp>
      <p:pic>
        <p:nvPicPr>
          <p:cNvPr id="3" name="Image 0" descr="C:\Users\MOHAK\AppData\Roaming\Claude\scratch-workspaces\f2c6d378-d886-42df-9f4c-719dd5cf9513\45ae0831-b88f-478b-b917-cc13a7ce82a4\scratch-2026-09-29-7d1471\vaanisetu\report\block-diagram.png">    </p:cNvPr>
          <p:cNvPicPr>
            <a:picLocks noChangeAspect="1"/>
          </p:cNvPicPr>
          <p:nvPr/>
        </p:nvPicPr>
        <p:blipFill>
          <a:blip r:embed="rId1"/>
          <a:stretch>
            <a:fillRect/>
          </a:stretch>
        </p:blipFill>
        <p:spPr>
          <a:xfrm>
            <a:off x="1188720" y="914400"/>
            <a:ext cx="6766560" cy="3806190"/>
          </a:xfrm>
          <a:prstGeom prst="rect">
            <a:avLst/>
          </a:prstGeom>
        </p:spPr>
      </p:pic>
      <p:sp>
        <p:nvSpPr>
          <p:cNvPr id="4" name="Text 1"/>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How a request flows</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One photo, five AWS services, about 10 seconds</a:t>
            </a:r>
            <a:endParaRPr lang="en-US" sz="1400" dirty="0"/>
          </a:p>
        </p:txBody>
      </p:sp>
      <p:sp>
        <p:nvSpPr>
          <p:cNvPr id="4" name="Shape 2"/>
          <p:cNvSpPr/>
          <p:nvPr/>
        </p:nvSpPr>
        <p:spPr>
          <a:xfrm>
            <a:off x="457200" y="1600200"/>
            <a:ext cx="1499616" cy="2286000"/>
          </a:xfrm>
          <a:prstGeom prst="roundRect">
            <a:avLst>
              <a:gd name="adj" fmla="val 6098"/>
            </a:avLst>
          </a:prstGeom>
          <a:solidFill>
            <a:srgbClr val="F3F4F6"/>
          </a:solidFill>
          <a:ln/>
        </p:spPr>
      </p:sp>
      <p:sp>
        <p:nvSpPr>
          <p:cNvPr id="5" name="Shape 3"/>
          <p:cNvSpPr/>
          <p:nvPr/>
        </p:nvSpPr>
        <p:spPr>
          <a:xfrm>
            <a:off x="978408" y="1783080"/>
            <a:ext cx="457200" cy="457200"/>
          </a:xfrm>
          <a:prstGeom prst="ellipse">
            <a:avLst/>
          </a:prstGeom>
          <a:solidFill>
            <a:srgbClr val="C2410C"/>
          </a:solidFill>
          <a:ln/>
        </p:spPr>
      </p:sp>
      <p:sp>
        <p:nvSpPr>
          <p:cNvPr id="6" name="Text 4"/>
          <p:cNvSpPr txBox="1"/>
          <p:nvPr/>
        </p:nvSpPr>
        <p:spPr>
          <a:xfrm>
            <a:off x="978408"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548640"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S3</a:t>
            </a:r>
            <a:endParaRPr lang="en-US" sz="1400" dirty="0"/>
          </a:p>
        </p:txBody>
      </p:sp>
      <p:sp>
        <p:nvSpPr>
          <p:cNvPr id="8" name="Text 6"/>
          <p:cNvSpPr txBox="1"/>
          <p:nvPr/>
        </p:nvSpPr>
        <p:spPr>
          <a:xfrm>
            <a:off x="548640" y="2697480"/>
            <a:ext cx="1316736" cy="274320"/>
          </a:xfrm>
          <a:prstGeom prst="rect">
            <a:avLst/>
          </a:prstGeom>
          <a:noFill/>
          <a:ln/>
        </p:spPr>
        <p:txBody>
          <a:bodyPr wrap="square" lIns="0" tIns="0" rIns="0" bIns="0" rtlCol="0" anchor="ctr"/>
          <a:lstStyle/>
          <a:p>
            <a:pPr algn="ctr" indent="0" marL="0">
              <a:buNone/>
            </a:pPr>
            <a:r>
              <a:rPr lang="en-US" sz="1100" b="1" dirty="0">
                <a:solidFill>
                  <a:srgbClr val="C2410C"/>
                </a:solidFill>
                <a:latin typeface="Calibri" pitchFamily="34" charset="0"/>
                <a:ea typeface="Calibri" pitchFamily="34" charset="-122"/>
                <a:cs typeface="Calibri" pitchFamily="34" charset="-120"/>
              </a:rPr>
              <a:t>Pre-signed upload</a:t>
            </a:r>
            <a:endParaRPr lang="en-US" sz="1100" dirty="0"/>
          </a:p>
        </p:txBody>
      </p:sp>
      <p:sp>
        <p:nvSpPr>
          <p:cNvPr id="9" name="Text 7"/>
          <p:cNvSpPr txBox="1"/>
          <p:nvPr/>
        </p:nvSpPr>
        <p:spPr>
          <a:xfrm>
            <a:off x="566928"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Browser uploads the photo directly to a private bucket</a:t>
            </a:r>
            <a:endParaRPr lang="en-US" sz="1050" dirty="0"/>
          </a:p>
        </p:txBody>
      </p:sp>
      <p:sp>
        <p:nvSpPr>
          <p:cNvPr id="10" name="Shape 8"/>
          <p:cNvSpPr/>
          <p:nvPr/>
        </p:nvSpPr>
        <p:spPr>
          <a:xfrm>
            <a:off x="1975104" y="2651760"/>
            <a:ext cx="146304" cy="201168"/>
          </a:xfrm>
          <a:prstGeom prst="rightArrow">
            <a:avLst/>
          </a:prstGeom>
          <a:solidFill>
            <a:srgbClr val="9CA3AF"/>
          </a:solidFill>
          <a:ln/>
        </p:spPr>
      </p:sp>
      <p:sp>
        <p:nvSpPr>
          <p:cNvPr id="11" name="Shape 9"/>
          <p:cNvSpPr/>
          <p:nvPr/>
        </p:nvSpPr>
        <p:spPr>
          <a:xfrm>
            <a:off x="2139696" y="1600200"/>
            <a:ext cx="1499616" cy="2286000"/>
          </a:xfrm>
          <a:prstGeom prst="roundRect">
            <a:avLst>
              <a:gd name="adj" fmla="val 6098"/>
            </a:avLst>
          </a:prstGeom>
          <a:solidFill>
            <a:srgbClr val="F3F4F6"/>
          </a:solidFill>
          <a:ln/>
        </p:spPr>
      </p:sp>
      <p:sp>
        <p:nvSpPr>
          <p:cNvPr id="12" name="Shape 10"/>
          <p:cNvSpPr/>
          <p:nvPr/>
        </p:nvSpPr>
        <p:spPr>
          <a:xfrm>
            <a:off x="2660904" y="1783080"/>
            <a:ext cx="457200" cy="457200"/>
          </a:xfrm>
          <a:prstGeom prst="ellipse">
            <a:avLst/>
          </a:prstGeom>
          <a:solidFill>
            <a:srgbClr val="0F766E"/>
          </a:solidFill>
          <a:ln/>
        </p:spPr>
      </p:sp>
      <p:sp>
        <p:nvSpPr>
          <p:cNvPr id="13" name="Text 11"/>
          <p:cNvSpPr txBox="1"/>
          <p:nvPr/>
        </p:nvSpPr>
        <p:spPr>
          <a:xfrm>
            <a:off x="2660904"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2231136"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Rekognition</a:t>
            </a:r>
            <a:endParaRPr lang="en-US" sz="1400" dirty="0"/>
          </a:p>
        </p:txBody>
      </p:sp>
      <p:sp>
        <p:nvSpPr>
          <p:cNvPr id="15" name="Text 13"/>
          <p:cNvSpPr txBox="1"/>
          <p:nvPr/>
        </p:nvSpPr>
        <p:spPr>
          <a:xfrm>
            <a:off x="2231136"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Text check</a:t>
            </a:r>
            <a:endParaRPr lang="en-US" sz="1100" dirty="0"/>
          </a:p>
        </p:txBody>
      </p:sp>
      <p:sp>
        <p:nvSpPr>
          <p:cNvPr id="16" name="Text 14"/>
          <p:cNvSpPr txBox="1"/>
          <p:nvPr/>
        </p:nvSpPr>
        <p:spPr>
          <a:xfrm>
            <a:off x="2249424"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DetectText rejects photos with no readable text</a:t>
            </a:r>
            <a:endParaRPr lang="en-US" sz="1050" dirty="0"/>
          </a:p>
        </p:txBody>
      </p:sp>
      <p:sp>
        <p:nvSpPr>
          <p:cNvPr id="17" name="Shape 15"/>
          <p:cNvSpPr/>
          <p:nvPr/>
        </p:nvSpPr>
        <p:spPr>
          <a:xfrm>
            <a:off x="3657600" y="2651760"/>
            <a:ext cx="146304" cy="201168"/>
          </a:xfrm>
          <a:prstGeom prst="rightArrow">
            <a:avLst/>
          </a:prstGeom>
          <a:solidFill>
            <a:srgbClr val="9CA3AF"/>
          </a:solidFill>
          <a:ln/>
        </p:spPr>
      </p:sp>
      <p:sp>
        <p:nvSpPr>
          <p:cNvPr id="18" name="Shape 16"/>
          <p:cNvSpPr/>
          <p:nvPr/>
        </p:nvSpPr>
        <p:spPr>
          <a:xfrm>
            <a:off x="3822192" y="1600200"/>
            <a:ext cx="1499616" cy="2286000"/>
          </a:xfrm>
          <a:prstGeom prst="roundRect">
            <a:avLst>
              <a:gd name="adj" fmla="val 6098"/>
            </a:avLst>
          </a:prstGeom>
          <a:solidFill>
            <a:srgbClr val="F3F4F6"/>
          </a:solidFill>
          <a:ln/>
        </p:spPr>
      </p:sp>
      <p:sp>
        <p:nvSpPr>
          <p:cNvPr id="19" name="Shape 17"/>
          <p:cNvSpPr/>
          <p:nvPr/>
        </p:nvSpPr>
        <p:spPr>
          <a:xfrm>
            <a:off x="4343400" y="1783080"/>
            <a:ext cx="457200" cy="457200"/>
          </a:xfrm>
          <a:prstGeom prst="ellipse">
            <a:avLst/>
          </a:prstGeom>
          <a:solidFill>
            <a:srgbClr val="0F766E"/>
          </a:solidFill>
          <a:ln/>
        </p:spPr>
      </p:sp>
      <p:sp>
        <p:nvSpPr>
          <p:cNvPr id="20" name="Text 18"/>
          <p:cNvSpPr txBox="1"/>
          <p:nvPr/>
        </p:nvSpPr>
        <p:spPr>
          <a:xfrm>
            <a:off x="434340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txBox="1"/>
          <p:nvPr/>
        </p:nvSpPr>
        <p:spPr>
          <a:xfrm>
            <a:off x="3913632"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Bedrock</a:t>
            </a:r>
            <a:endParaRPr lang="en-US" sz="1400" dirty="0"/>
          </a:p>
        </p:txBody>
      </p:sp>
      <p:sp>
        <p:nvSpPr>
          <p:cNvPr id="22" name="Text 20"/>
          <p:cNvSpPr txBox="1"/>
          <p:nvPr/>
        </p:nvSpPr>
        <p:spPr>
          <a:xfrm>
            <a:off x="3913632"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Understand</a:t>
            </a:r>
            <a:endParaRPr lang="en-US" sz="1100" dirty="0"/>
          </a:p>
        </p:txBody>
      </p:sp>
      <p:sp>
        <p:nvSpPr>
          <p:cNvPr id="23" name="Text 21"/>
          <p:cNvSpPr txBox="1"/>
          <p:nvPr/>
        </p:nvSpPr>
        <p:spPr>
          <a:xfrm>
            <a:off x="3931920"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Nova 2 Lite transcribes, explains and translates</a:t>
            </a:r>
            <a:endParaRPr lang="en-US" sz="1050" dirty="0"/>
          </a:p>
        </p:txBody>
      </p:sp>
      <p:sp>
        <p:nvSpPr>
          <p:cNvPr id="24" name="Shape 22"/>
          <p:cNvSpPr/>
          <p:nvPr/>
        </p:nvSpPr>
        <p:spPr>
          <a:xfrm>
            <a:off x="5340096" y="2651760"/>
            <a:ext cx="146304" cy="201168"/>
          </a:xfrm>
          <a:prstGeom prst="rightArrow">
            <a:avLst/>
          </a:prstGeom>
          <a:solidFill>
            <a:srgbClr val="9CA3AF"/>
          </a:solidFill>
          <a:ln/>
        </p:spPr>
      </p:sp>
      <p:sp>
        <p:nvSpPr>
          <p:cNvPr id="25" name="Shape 23"/>
          <p:cNvSpPr/>
          <p:nvPr/>
        </p:nvSpPr>
        <p:spPr>
          <a:xfrm>
            <a:off x="5504688" y="1600200"/>
            <a:ext cx="1499616" cy="2286000"/>
          </a:xfrm>
          <a:prstGeom prst="roundRect">
            <a:avLst>
              <a:gd name="adj" fmla="val 6098"/>
            </a:avLst>
          </a:prstGeom>
          <a:solidFill>
            <a:srgbClr val="F3F4F6"/>
          </a:solidFill>
          <a:ln/>
        </p:spPr>
      </p:sp>
      <p:sp>
        <p:nvSpPr>
          <p:cNvPr id="26" name="Shape 24"/>
          <p:cNvSpPr/>
          <p:nvPr/>
        </p:nvSpPr>
        <p:spPr>
          <a:xfrm>
            <a:off x="6025896" y="1783080"/>
            <a:ext cx="457200" cy="457200"/>
          </a:xfrm>
          <a:prstGeom prst="ellipse">
            <a:avLst/>
          </a:prstGeom>
          <a:solidFill>
            <a:srgbClr val="0F766E"/>
          </a:solidFill>
          <a:ln/>
        </p:spPr>
      </p:sp>
      <p:sp>
        <p:nvSpPr>
          <p:cNvPr id="27" name="Text 25"/>
          <p:cNvSpPr txBox="1"/>
          <p:nvPr/>
        </p:nvSpPr>
        <p:spPr>
          <a:xfrm>
            <a:off x="6025896"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8" name="Text 26"/>
          <p:cNvSpPr txBox="1"/>
          <p:nvPr/>
        </p:nvSpPr>
        <p:spPr>
          <a:xfrm>
            <a:off x="5596128"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Polly</a:t>
            </a:r>
            <a:endParaRPr lang="en-US" sz="1400" dirty="0"/>
          </a:p>
        </p:txBody>
      </p:sp>
      <p:sp>
        <p:nvSpPr>
          <p:cNvPr id="29" name="Text 27"/>
          <p:cNvSpPr txBox="1"/>
          <p:nvPr/>
        </p:nvSpPr>
        <p:spPr>
          <a:xfrm>
            <a:off x="5596128"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Speak</a:t>
            </a:r>
            <a:endParaRPr lang="en-US" sz="1100" dirty="0"/>
          </a:p>
        </p:txBody>
      </p:sp>
      <p:sp>
        <p:nvSpPr>
          <p:cNvPr id="30" name="Text 28"/>
          <p:cNvSpPr txBox="1"/>
          <p:nvPr/>
        </p:nvSpPr>
        <p:spPr>
          <a:xfrm>
            <a:off x="5614416"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Neural voice produces an MP3, saved to S3</a:t>
            </a:r>
            <a:endParaRPr lang="en-US" sz="1050" dirty="0"/>
          </a:p>
        </p:txBody>
      </p:sp>
      <p:sp>
        <p:nvSpPr>
          <p:cNvPr id="31" name="Shape 29"/>
          <p:cNvSpPr/>
          <p:nvPr/>
        </p:nvSpPr>
        <p:spPr>
          <a:xfrm>
            <a:off x="7022592" y="2651760"/>
            <a:ext cx="146304" cy="201168"/>
          </a:xfrm>
          <a:prstGeom prst="rightArrow">
            <a:avLst/>
          </a:prstGeom>
          <a:solidFill>
            <a:srgbClr val="9CA3AF"/>
          </a:solidFill>
          <a:ln/>
        </p:spPr>
      </p:sp>
      <p:sp>
        <p:nvSpPr>
          <p:cNvPr id="32" name="Shape 30"/>
          <p:cNvSpPr/>
          <p:nvPr/>
        </p:nvSpPr>
        <p:spPr>
          <a:xfrm>
            <a:off x="7187184" y="1600200"/>
            <a:ext cx="1499616" cy="2286000"/>
          </a:xfrm>
          <a:prstGeom prst="roundRect">
            <a:avLst>
              <a:gd name="adj" fmla="val 6098"/>
            </a:avLst>
          </a:prstGeom>
          <a:solidFill>
            <a:srgbClr val="F3F4F6"/>
          </a:solidFill>
          <a:ln/>
        </p:spPr>
      </p:sp>
      <p:sp>
        <p:nvSpPr>
          <p:cNvPr id="33" name="Shape 31"/>
          <p:cNvSpPr/>
          <p:nvPr/>
        </p:nvSpPr>
        <p:spPr>
          <a:xfrm>
            <a:off x="7708392" y="1783080"/>
            <a:ext cx="457200" cy="457200"/>
          </a:xfrm>
          <a:prstGeom prst="ellipse">
            <a:avLst/>
          </a:prstGeom>
          <a:solidFill>
            <a:srgbClr val="C2410C"/>
          </a:solidFill>
          <a:ln/>
        </p:spPr>
      </p:sp>
      <p:sp>
        <p:nvSpPr>
          <p:cNvPr id="34" name="Text 32"/>
          <p:cNvSpPr txBox="1"/>
          <p:nvPr/>
        </p:nvSpPr>
        <p:spPr>
          <a:xfrm>
            <a:off x="7708392"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5" name="Text 33"/>
          <p:cNvSpPr txBox="1"/>
          <p:nvPr/>
        </p:nvSpPr>
        <p:spPr>
          <a:xfrm>
            <a:off x="7278624"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DynamoDB</a:t>
            </a:r>
            <a:endParaRPr lang="en-US" sz="1400" dirty="0"/>
          </a:p>
        </p:txBody>
      </p:sp>
      <p:sp>
        <p:nvSpPr>
          <p:cNvPr id="36" name="Text 34"/>
          <p:cNvSpPr txBox="1"/>
          <p:nvPr/>
        </p:nvSpPr>
        <p:spPr>
          <a:xfrm>
            <a:off x="7278624" y="2697480"/>
            <a:ext cx="1316736" cy="274320"/>
          </a:xfrm>
          <a:prstGeom prst="rect">
            <a:avLst/>
          </a:prstGeom>
          <a:noFill/>
          <a:ln/>
        </p:spPr>
        <p:txBody>
          <a:bodyPr wrap="square" lIns="0" tIns="0" rIns="0" bIns="0" rtlCol="0" anchor="ctr"/>
          <a:lstStyle/>
          <a:p>
            <a:pPr algn="ctr" indent="0" marL="0">
              <a:buNone/>
            </a:pPr>
            <a:r>
              <a:rPr lang="en-US" sz="1100" b="1" dirty="0">
                <a:solidFill>
                  <a:srgbClr val="C2410C"/>
                </a:solidFill>
                <a:latin typeface="Calibri" pitchFamily="34" charset="0"/>
                <a:ea typeface="Calibri" pitchFamily="34" charset="-122"/>
                <a:cs typeface="Calibri" pitchFamily="34" charset="-120"/>
              </a:rPr>
              <a:t>Remember</a:t>
            </a:r>
            <a:endParaRPr lang="en-US" sz="1100" dirty="0"/>
          </a:p>
        </p:txBody>
      </p:sp>
      <p:sp>
        <p:nvSpPr>
          <p:cNvPr id="37" name="Text 35"/>
          <p:cNvSpPr txBox="1"/>
          <p:nvPr/>
        </p:nvSpPr>
        <p:spPr>
          <a:xfrm>
            <a:off x="7296912"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Result stored and shown in history</a:t>
            </a:r>
            <a:endParaRPr lang="en-US" sz="1050" dirty="0"/>
          </a:p>
        </p:txBody>
      </p:sp>
      <p:sp>
        <p:nvSpPr>
          <p:cNvPr id="38" name="Text 36"/>
          <p:cNvSpPr txBox="1"/>
          <p:nvPr/>
        </p:nvSpPr>
        <p:spPr>
          <a:xfrm>
            <a:off x="457200" y="4114800"/>
            <a:ext cx="8229600" cy="320040"/>
          </a:xfrm>
          <a:prstGeom prst="rect">
            <a:avLst/>
          </a:prstGeom>
          <a:noFill/>
          <a:ln/>
        </p:spPr>
        <p:txBody>
          <a:bodyPr wrap="square" lIns="0" tIns="0" rIns="0" bIns="0" rtlCol="0" anchor="ctr"/>
          <a:lstStyle/>
          <a:p>
            <a:pPr algn="ctr" indent="0" marL="0">
              <a:buNone/>
            </a:pPr>
            <a:r>
              <a:rPr lang="en-US" sz="1200" dirty="0">
                <a:solidFill>
                  <a:srgbClr val="5B524B"/>
                </a:solidFill>
                <a:latin typeface="Calibri" pitchFamily="34" charset="0"/>
                <a:ea typeface="Calibri" pitchFamily="34" charset="-122"/>
                <a:cs typeface="Calibri" pitchFamily="34" charset="-120"/>
              </a:rPr>
              <a:t>API Gateway (HTTP API) → AWS Lambda orchestrates every step  ·  IAM least-privilege role  ·  CloudWatch logs</a:t>
            </a:r>
            <a:endParaRPr lang="en-US" sz="1200" dirty="0"/>
          </a:p>
        </p:txBody>
      </p:sp>
      <p:sp>
        <p:nvSpPr>
          <p:cNvPr id="39" name="Text 37"/>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Cloud services used</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8 core AWS services plus IAM and CloudWatch, all serverless or fully managed</a:t>
            </a:r>
            <a:endParaRPr lang="en-US" sz="1400" dirty="0"/>
          </a:p>
        </p:txBody>
      </p:sp>
      <p:sp>
        <p:nvSpPr>
          <p:cNvPr id="4" name="Shape 2"/>
          <p:cNvSpPr/>
          <p:nvPr/>
        </p:nvSpPr>
        <p:spPr>
          <a:xfrm>
            <a:off x="457200" y="1417320"/>
            <a:ext cx="1536192" cy="1481328"/>
          </a:xfrm>
          <a:prstGeom prst="roundRect">
            <a:avLst>
              <a:gd name="adj" fmla="val 6173"/>
            </a:avLst>
          </a:prstGeom>
          <a:solidFill>
            <a:srgbClr val="F3F4F6"/>
          </a:solidFill>
          <a:ln/>
        </p:spPr>
      </p:sp>
      <p:sp>
        <p:nvSpPr>
          <p:cNvPr id="5" name="Shape 3"/>
          <p:cNvSpPr/>
          <p:nvPr/>
        </p:nvSpPr>
        <p:spPr>
          <a:xfrm>
            <a:off x="969264" y="1545336"/>
            <a:ext cx="512064" cy="512064"/>
          </a:xfrm>
          <a:prstGeom prst="ellipse">
            <a:avLst/>
          </a:prstGeom>
          <a:solidFill>
            <a:srgbClr val="FBE6D9"/>
          </a:solidFill>
          <a:ln w="12700">
            <a:solidFill>
              <a:srgbClr val="FBE6D9"/>
            </a:solidFill>
            <a:prstDash val="solid"/>
          </a:ln>
        </p:spPr>
      </p:sp>
      <p:pic>
        <p:nvPicPr>
          <p:cNvPr id="6" name="Image 0" descr="preencoded.png">    </p:cNvPr>
          <p:cNvPicPr>
            <a:picLocks noChangeAspect="1"/>
          </p:cNvPicPr>
          <p:nvPr/>
        </p:nvPicPr>
        <p:blipFill>
          <a:blip r:embed="rId1"/>
          <a:stretch>
            <a:fillRect/>
          </a:stretch>
        </p:blipFill>
        <p:spPr>
          <a:xfrm>
            <a:off x="1102401" y="1678473"/>
            <a:ext cx="245791" cy="245791"/>
          </a:xfrm>
          <a:prstGeom prst="rect">
            <a:avLst/>
          </a:prstGeom>
        </p:spPr>
      </p:pic>
      <p:sp>
        <p:nvSpPr>
          <p:cNvPr id="7" name="Text 4"/>
          <p:cNvSpPr txBox="1"/>
          <p:nvPr/>
        </p:nvSpPr>
        <p:spPr>
          <a:xfrm>
            <a:off x="512064"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S3</a:t>
            </a:r>
            <a:endParaRPr lang="en-US" sz="1250" dirty="0"/>
          </a:p>
        </p:txBody>
      </p:sp>
      <p:sp>
        <p:nvSpPr>
          <p:cNvPr id="8" name="Text 5"/>
          <p:cNvSpPr txBox="1"/>
          <p:nvPr/>
        </p:nvSpPr>
        <p:spPr>
          <a:xfrm>
            <a:off x="548640"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Photos &amp; MP3 audio, private + encrypted</a:t>
            </a:r>
            <a:endParaRPr lang="en-US" sz="950" dirty="0"/>
          </a:p>
        </p:txBody>
      </p:sp>
      <p:sp>
        <p:nvSpPr>
          <p:cNvPr id="9" name="Shape 6"/>
          <p:cNvSpPr/>
          <p:nvPr/>
        </p:nvSpPr>
        <p:spPr>
          <a:xfrm>
            <a:off x="2121408" y="1417320"/>
            <a:ext cx="1536192" cy="1481328"/>
          </a:xfrm>
          <a:prstGeom prst="roundRect">
            <a:avLst>
              <a:gd name="adj" fmla="val 6173"/>
            </a:avLst>
          </a:prstGeom>
          <a:solidFill>
            <a:srgbClr val="F3F4F6"/>
          </a:solidFill>
          <a:ln/>
        </p:spPr>
      </p:sp>
      <p:sp>
        <p:nvSpPr>
          <p:cNvPr id="10" name="Shape 7"/>
          <p:cNvSpPr/>
          <p:nvPr/>
        </p:nvSpPr>
        <p:spPr>
          <a:xfrm>
            <a:off x="2633472" y="1545336"/>
            <a:ext cx="512064" cy="512064"/>
          </a:xfrm>
          <a:prstGeom prst="ellipse">
            <a:avLst/>
          </a:prstGeom>
          <a:solidFill>
            <a:srgbClr val="FBE6D9"/>
          </a:solidFill>
          <a:ln w="12700">
            <a:solidFill>
              <a:srgbClr val="FBE6D9"/>
            </a:solidFill>
            <a:prstDash val="solid"/>
          </a:ln>
        </p:spPr>
      </p:sp>
      <p:pic>
        <p:nvPicPr>
          <p:cNvPr id="11" name="Image 1" descr="preencoded.png">    </p:cNvPr>
          <p:cNvPicPr>
            <a:picLocks noChangeAspect="1"/>
          </p:cNvPicPr>
          <p:nvPr/>
        </p:nvPicPr>
        <p:blipFill>
          <a:blip r:embed="rId2"/>
          <a:stretch>
            <a:fillRect/>
          </a:stretch>
        </p:blipFill>
        <p:spPr>
          <a:xfrm>
            <a:off x="2766609" y="1678473"/>
            <a:ext cx="245791" cy="245791"/>
          </a:xfrm>
          <a:prstGeom prst="rect">
            <a:avLst/>
          </a:prstGeom>
        </p:spPr>
      </p:pic>
      <p:sp>
        <p:nvSpPr>
          <p:cNvPr id="12" name="Text 8"/>
          <p:cNvSpPr txBox="1"/>
          <p:nvPr/>
        </p:nvSpPr>
        <p:spPr>
          <a:xfrm>
            <a:off x="2176272"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AWS Lambda</a:t>
            </a:r>
            <a:endParaRPr lang="en-US" sz="1250" dirty="0"/>
          </a:p>
        </p:txBody>
      </p:sp>
      <p:sp>
        <p:nvSpPr>
          <p:cNvPr id="13" name="Text 9"/>
          <p:cNvSpPr txBox="1"/>
          <p:nvPr/>
        </p:nvSpPr>
        <p:spPr>
          <a:xfrm>
            <a:off x="2212848"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Python 3.12 backend orchestrating the AI pipeline</a:t>
            </a:r>
            <a:endParaRPr lang="en-US" sz="950" dirty="0"/>
          </a:p>
        </p:txBody>
      </p:sp>
      <p:sp>
        <p:nvSpPr>
          <p:cNvPr id="14" name="Shape 10"/>
          <p:cNvSpPr/>
          <p:nvPr/>
        </p:nvSpPr>
        <p:spPr>
          <a:xfrm>
            <a:off x="3785616" y="1417320"/>
            <a:ext cx="1536192" cy="1481328"/>
          </a:xfrm>
          <a:prstGeom prst="roundRect">
            <a:avLst>
              <a:gd name="adj" fmla="val 6173"/>
            </a:avLst>
          </a:prstGeom>
          <a:solidFill>
            <a:srgbClr val="F3F4F6"/>
          </a:solidFill>
          <a:ln/>
        </p:spPr>
      </p:sp>
      <p:sp>
        <p:nvSpPr>
          <p:cNvPr id="15" name="Shape 11"/>
          <p:cNvSpPr/>
          <p:nvPr/>
        </p:nvSpPr>
        <p:spPr>
          <a:xfrm>
            <a:off x="4297680" y="1545336"/>
            <a:ext cx="512064" cy="512064"/>
          </a:xfrm>
          <a:prstGeom prst="ellipse">
            <a:avLst/>
          </a:prstGeom>
          <a:solidFill>
            <a:srgbClr val="FBE6D9"/>
          </a:solidFill>
          <a:ln w="12700">
            <a:solidFill>
              <a:srgbClr val="FBE6D9"/>
            </a:solidFill>
            <a:prstDash val="solid"/>
          </a:ln>
        </p:spPr>
      </p:sp>
      <p:pic>
        <p:nvPicPr>
          <p:cNvPr id="16" name="Image 2" descr="preencoded.png">    </p:cNvPr>
          <p:cNvPicPr>
            <a:picLocks noChangeAspect="1"/>
          </p:cNvPicPr>
          <p:nvPr/>
        </p:nvPicPr>
        <p:blipFill>
          <a:blip r:embed="rId3"/>
          <a:stretch>
            <a:fillRect/>
          </a:stretch>
        </p:blipFill>
        <p:spPr>
          <a:xfrm>
            <a:off x="4430817" y="1678473"/>
            <a:ext cx="245791" cy="245791"/>
          </a:xfrm>
          <a:prstGeom prst="rect">
            <a:avLst/>
          </a:prstGeom>
        </p:spPr>
      </p:pic>
      <p:sp>
        <p:nvSpPr>
          <p:cNvPr id="17" name="Text 12"/>
          <p:cNvSpPr txBox="1"/>
          <p:nvPr/>
        </p:nvSpPr>
        <p:spPr>
          <a:xfrm>
            <a:off x="3840480"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API Gateway</a:t>
            </a:r>
            <a:endParaRPr lang="en-US" sz="1250" dirty="0"/>
          </a:p>
        </p:txBody>
      </p:sp>
      <p:sp>
        <p:nvSpPr>
          <p:cNvPr id="18" name="Text 13"/>
          <p:cNvSpPr txBox="1"/>
          <p:nvPr/>
        </p:nvSpPr>
        <p:spPr>
          <a:xfrm>
            <a:off x="3877056"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HTTP API: /upload-url, /process, /history</a:t>
            </a:r>
            <a:endParaRPr lang="en-US" sz="950" dirty="0"/>
          </a:p>
        </p:txBody>
      </p:sp>
      <p:sp>
        <p:nvSpPr>
          <p:cNvPr id="19" name="Shape 14"/>
          <p:cNvSpPr/>
          <p:nvPr/>
        </p:nvSpPr>
        <p:spPr>
          <a:xfrm>
            <a:off x="5449824" y="1417320"/>
            <a:ext cx="1536192" cy="1481328"/>
          </a:xfrm>
          <a:prstGeom prst="roundRect">
            <a:avLst>
              <a:gd name="adj" fmla="val 6173"/>
            </a:avLst>
          </a:prstGeom>
          <a:solidFill>
            <a:srgbClr val="F3F4F6"/>
          </a:solidFill>
          <a:ln/>
        </p:spPr>
      </p:sp>
      <p:sp>
        <p:nvSpPr>
          <p:cNvPr id="20" name="Shape 15"/>
          <p:cNvSpPr/>
          <p:nvPr/>
        </p:nvSpPr>
        <p:spPr>
          <a:xfrm>
            <a:off x="5961888" y="1545336"/>
            <a:ext cx="512064" cy="512064"/>
          </a:xfrm>
          <a:prstGeom prst="ellipse">
            <a:avLst/>
          </a:prstGeom>
          <a:solidFill>
            <a:srgbClr val="FBE6D9"/>
          </a:solidFill>
          <a:ln w="12700">
            <a:solidFill>
              <a:srgbClr val="FBE6D9"/>
            </a:solidFill>
            <a:prstDash val="solid"/>
          </a:ln>
        </p:spPr>
      </p:sp>
      <p:pic>
        <p:nvPicPr>
          <p:cNvPr id="21" name="Image 3" descr="preencoded.png">    </p:cNvPr>
          <p:cNvPicPr>
            <a:picLocks noChangeAspect="1"/>
          </p:cNvPicPr>
          <p:nvPr/>
        </p:nvPicPr>
        <p:blipFill>
          <a:blip r:embed="rId4"/>
          <a:stretch>
            <a:fillRect/>
          </a:stretch>
        </p:blipFill>
        <p:spPr>
          <a:xfrm>
            <a:off x="6095025" y="1678473"/>
            <a:ext cx="245791" cy="245791"/>
          </a:xfrm>
          <a:prstGeom prst="rect">
            <a:avLst/>
          </a:prstGeom>
        </p:spPr>
      </p:pic>
      <p:sp>
        <p:nvSpPr>
          <p:cNvPr id="22" name="Text 16"/>
          <p:cNvSpPr txBox="1"/>
          <p:nvPr/>
        </p:nvSpPr>
        <p:spPr>
          <a:xfrm>
            <a:off x="5504688"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Bedrock</a:t>
            </a:r>
            <a:endParaRPr lang="en-US" sz="1250" dirty="0"/>
          </a:p>
        </p:txBody>
      </p:sp>
      <p:sp>
        <p:nvSpPr>
          <p:cNvPr id="23" name="Text 17"/>
          <p:cNvSpPr txBox="1"/>
          <p:nvPr/>
        </p:nvSpPr>
        <p:spPr>
          <a:xfrm>
            <a:off x="5541264"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Amazon Nova 2 Lite reads, explains, translates</a:t>
            </a:r>
            <a:endParaRPr lang="en-US" sz="950" dirty="0"/>
          </a:p>
        </p:txBody>
      </p:sp>
      <p:sp>
        <p:nvSpPr>
          <p:cNvPr id="24" name="Shape 18"/>
          <p:cNvSpPr/>
          <p:nvPr/>
        </p:nvSpPr>
        <p:spPr>
          <a:xfrm>
            <a:off x="7114032" y="1417320"/>
            <a:ext cx="1536192" cy="1481328"/>
          </a:xfrm>
          <a:prstGeom prst="roundRect">
            <a:avLst>
              <a:gd name="adj" fmla="val 6173"/>
            </a:avLst>
          </a:prstGeom>
          <a:solidFill>
            <a:srgbClr val="F3F4F6"/>
          </a:solidFill>
          <a:ln/>
        </p:spPr>
      </p:sp>
      <p:sp>
        <p:nvSpPr>
          <p:cNvPr id="25" name="Shape 19"/>
          <p:cNvSpPr/>
          <p:nvPr/>
        </p:nvSpPr>
        <p:spPr>
          <a:xfrm>
            <a:off x="7626096" y="1545336"/>
            <a:ext cx="512064" cy="512064"/>
          </a:xfrm>
          <a:prstGeom prst="ellipse">
            <a:avLst/>
          </a:prstGeom>
          <a:solidFill>
            <a:srgbClr val="FBE6D9"/>
          </a:solidFill>
          <a:ln w="12700">
            <a:solidFill>
              <a:srgbClr val="FBE6D9"/>
            </a:solidFill>
            <a:prstDash val="solid"/>
          </a:ln>
        </p:spPr>
      </p:sp>
      <p:pic>
        <p:nvPicPr>
          <p:cNvPr id="26" name="Image 4" descr="preencoded.png">    </p:cNvPr>
          <p:cNvPicPr>
            <a:picLocks noChangeAspect="1"/>
          </p:cNvPicPr>
          <p:nvPr/>
        </p:nvPicPr>
        <p:blipFill>
          <a:blip r:embed="rId5"/>
          <a:stretch>
            <a:fillRect/>
          </a:stretch>
        </p:blipFill>
        <p:spPr>
          <a:xfrm>
            <a:off x="7759233" y="1678473"/>
            <a:ext cx="245791" cy="245791"/>
          </a:xfrm>
          <a:prstGeom prst="rect">
            <a:avLst/>
          </a:prstGeom>
        </p:spPr>
      </p:pic>
      <p:sp>
        <p:nvSpPr>
          <p:cNvPr id="27" name="Text 20"/>
          <p:cNvSpPr txBox="1"/>
          <p:nvPr/>
        </p:nvSpPr>
        <p:spPr>
          <a:xfrm>
            <a:off x="7168896"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Rekognition</a:t>
            </a:r>
            <a:endParaRPr lang="en-US" sz="1250" dirty="0"/>
          </a:p>
        </p:txBody>
      </p:sp>
      <p:sp>
        <p:nvSpPr>
          <p:cNvPr id="28" name="Text 21"/>
          <p:cNvSpPr txBox="1"/>
          <p:nvPr/>
        </p:nvSpPr>
        <p:spPr>
          <a:xfrm>
            <a:off x="7205472"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DetectText gate before the AI model runs</a:t>
            </a:r>
            <a:endParaRPr lang="en-US" sz="950" dirty="0"/>
          </a:p>
        </p:txBody>
      </p:sp>
      <p:sp>
        <p:nvSpPr>
          <p:cNvPr id="29" name="Shape 22"/>
          <p:cNvSpPr/>
          <p:nvPr/>
        </p:nvSpPr>
        <p:spPr>
          <a:xfrm>
            <a:off x="457200" y="3063240"/>
            <a:ext cx="1536192" cy="1481328"/>
          </a:xfrm>
          <a:prstGeom prst="roundRect">
            <a:avLst>
              <a:gd name="adj" fmla="val 6173"/>
            </a:avLst>
          </a:prstGeom>
          <a:solidFill>
            <a:srgbClr val="F3F4F6"/>
          </a:solidFill>
          <a:ln/>
        </p:spPr>
      </p:sp>
      <p:sp>
        <p:nvSpPr>
          <p:cNvPr id="30" name="Shape 23"/>
          <p:cNvSpPr/>
          <p:nvPr/>
        </p:nvSpPr>
        <p:spPr>
          <a:xfrm>
            <a:off x="969264" y="3191256"/>
            <a:ext cx="512064" cy="512064"/>
          </a:xfrm>
          <a:prstGeom prst="ellipse">
            <a:avLst/>
          </a:prstGeom>
          <a:solidFill>
            <a:srgbClr val="FBE6D9"/>
          </a:solidFill>
          <a:ln w="12700">
            <a:solidFill>
              <a:srgbClr val="FBE6D9"/>
            </a:solidFill>
            <a:prstDash val="solid"/>
          </a:ln>
        </p:spPr>
      </p:sp>
      <p:pic>
        <p:nvPicPr>
          <p:cNvPr id="31" name="Image 5" descr="preencoded.png">    </p:cNvPr>
          <p:cNvPicPr>
            <a:picLocks noChangeAspect="1"/>
          </p:cNvPicPr>
          <p:nvPr/>
        </p:nvPicPr>
        <p:blipFill>
          <a:blip r:embed="rId6"/>
          <a:stretch>
            <a:fillRect/>
          </a:stretch>
        </p:blipFill>
        <p:spPr>
          <a:xfrm>
            <a:off x="1102401" y="3324393"/>
            <a:ext cx="245791" cy="245791"/>
          </a:xfrm>
          <a:prstGeom prst="rect">
            <a:avLst/>
          </a:prstGeom>
        </p:spPr>
      </p:pic>
      <p:sp>
        <p:nvSpPr>
          <p:cNvPr id="32" name="Text 24"/>
          <p:cNvSpPr txBox="1"/>
          <p:nvPr/>
        </p:nvSpPr>
        <p:spPr>
          <a:xfrm>
            <a:off x="512064"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Polly</a:t>
            </a:r>
            <a:endParaRPr lang="en-US" sz="1250" dirty="0"/>
          </a:p>
        </p:txBody>
      </p:sp>
      <p:sp>
        <p:nvSpPr>
          <p:cNvPr id="33" name="Text 25"/>
          <p:cNvSpPr txBox="1"/>
          <p:nvPr/>
        </p:nvSpPr>
        <p:spPr>
          <a:xfrm>
            <a:off x="548640"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Neural voices in 7 languages</a:t>
            </a:r>
            <a:endParaRPr lang="en-US" sz="950" dirty="0"/>
          </a:p>
        </p:txBody>
      </p:sp>
      <p:sp>
        <p:nvSpPr>
          <p:cNvPr id="34" name="Shape 26"/>
          <p:cNvSpPr/>
          <p:nvPr/>
        </p:nvSpPr>
        <p:spPr>
          <a:xfrm>
            <a:off x="2121408" y="3063240"/>
            <a:ext cx="1536192" cy="1481328"/>
          </a:xfrm>
          <a:prstGeom prst="roundRect">
            <a:avLst>
              <a:gd name="adj" fmla="val 6173"/>
            </a:avLst>
          </a:prstGeom>
          <a:solidFill>
            <a:srgbClr val="F3F4F6"/>
          </a:solidFill>
          <a:ln/>
        </p:spPr>
      </p:sp>
      <p:sp>
        <p:nvSpPr>
          <p:cNvPr id="35" name="Shape 27"/>
          <p:cNvSpPr/>
          <p:nvPr/>
        </p:nvSpPr>
        <p:spPr>
          <a:xfrm>
            <a:off x="2633472" y="3191256"/>
            <a:ext cx="512064" cy="512064"/>
          </a:xfrm>
          <a:prstGeom prst="ellipse">
            <a:avLst/>
          </a:prstGeom>
          <a:solidFill>
            <a:srgbClr val="FBE6D9"/>
          </a:solidFill>
          <a:ln w="12700">
            <a:solidFill>
              <a:srgbClr val="FBE6D9"/>
            </a:solidFill>
            <a:prstDash val="solid"/>
          </a:ln>
        </p:spPr>
      </p:sp>
      <p:pic>
        <p:nvPicPr>
          <p:cNvPr id="36" name="Image 6" descr="preencoded.png">    </p:cNvPr>
          <p:cNvPicPr>
            <a:picLocks noChangeAspect="1"/>
          </p:cNvPicPr>
          <p:nvPr/>
        </p:nvPicPr>
        <p:blipFill>
          <a:blip r:embed="rId7"/>
          <a:stretch>
            <a:fillRect/>
          </a:stretch>
        </p:blipFill>
        <p:spPr>
          <a:xfrm>
            <a:off x="2766609" y="3324393"/>
            <a:ext cx="245791" cy="245791"/>
          </a:xfrm>
          <a:prstGeom prst="rect">
            <a:avLst/>
          </a:prstGeom>
        </p:spPr>
      </p:pic>
      <p:sp>
        <p:nvSpPr>
          <p:cNvPr id="37" name="Text 28"/>
          <p:cNvSpPr txBox="1"/>
          <p:nvPr/>
        </p:nvSpPr>
        <p:spPr>
          <a:xfrm>
            <a:off x="2176272"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DynamoDB</a:t>
            </a:r>
            <a:endParaRPr lang="en-US" sz="1250" dirty="0"/>
          </a:p>
        </p:txBody>
      </p:sp>
      <p:sp>
        <p:nvSpPr>
          <p:cNvPr id="38" name="Text 29"/>
          <p:cNvSpPr txBox="1"/>
          <p:nvPr/>
        </p:nvSpPr>
        <p:spPr>
          <a:xfrm>
            <a:off x="2212848"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On-demand table for document history</a:t>
            </a:r>
            <a:endParaRPr lang="en-US" sz="950" dirty="0"/>
          </a:p>
        </p:txBody>
      </p:sp>
      <p:sp>
        <p:nvSpPr>
          <p:cNvPr id="39" name="Shape 30"/>
          <p:cNvSpPr/>
          <p:nvPr/>
        </p:nvSpPr>
        <p:spPr>
          <a:xfrm>
            <a:off x="3785616" y="3063240"/>
            <a:ext cx="1536192" cy="1481328"/>
          </a:xfrm>
          <a:prstGeom prst="roundRect">
            <a:avLst>
              <a:gd name="adj" fmla="val 6173"/>
            </a:avLst>
          </a:prstGeom>
          <a:solidFill>
            <a:srgbClr val="F3F4F6"/>
          </a:solidFill>
          <a:ln/>
        </p:spPr>
      </p:sp>
      <p:sp>
        <p:nvSpPr>
          <p:cNvPr id="40" name="Shape 31"/>
          <p:cNvSpPr/>
          <p:nvPr/>
        </p:nvSpPr>
        <p:spPr>
          <a:xfrm>
            <a:off x="4297680" y="3191256"/>
            <a:ext cx="512064" cy="512064"/>
          </a:xfrm>
          <a:prstGeom prst="ellipse">
            <a:avLst/>
          </a:prstGeom>
          <a:solidFill>
            <a:srgbClr val="FBE6D9"/>
          </a:solidFill>
          <a:ln w="12700">
            <a:solidFill>
              <a:srgbClr val="FBE6D9"/>
            </a:solidFill>
            <a:prstDash val="solid"/>
          </a:ln>
        </p:spPr>
      </p:sp>
      <p:pic>
        <p:nvPicPr>
          <p:cNvPr id="41" name="Image 7" descr="preencoded.png">    </p:cNvPr>
          <p:cNvPicPr>
            <a:picLocks noChangeAspect="1"/>
          </p:cNvPicPr>
          <p:nvPr/>
        </p:nvPicPr>
        <p:blipFill>
          <a:blip r:embed="rId8"/>
          <a:stretch>
            <a:fillRect/>
          </a:stretch>
        </p:blipFill>
        <p:spPr>
          <a:xfrm>
            <a:off x="4430817" y="3324393"/>
            <a:ext cx="245791" cy="245791"/>
          </a:xfrm>
          <a:prstGeom prst="rect">
            <a:avLst/>
          </a:prstGeom>
        </p:spPr>
      </p:pic>
      <p:sp>
        <p:nvSpPr>
          <p:cNvPr id="42" name="Text 32"/>
          <p:cNvSpPr txBox="1"/>
          <p:nvPr/>
        </p:nvSpPr>
        <p:spPr>
          <a:xfrm>
            <a:off x="3840480"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Amplify Hosting</a:t>
            </a:r>
            <a:endParaRPr lang="en-US" sz="1250" dirty="0"/>
          </a:p>
        </p:txBody>
      </p:sp>
      <p:sp>
        <p:nvSpPr>
          <p:cNvPr id="43" name="Text 33"/>
          <p:cNvSpPr txBox="1"/>
          <p:nvPr/>
        </p:nvSpPr>
        <p:spPr>
          <a:xfrm>
            <a:off x="3877056"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HTTPS hosting + CDN for the web app</a:t>
            </a:r>
            <a:endParaRPr lang="en-US" sz="950" dirty="0"/>
          </a:p>
        </p:txBody>
      </p:sp>
      <p:sp>
        <p:nvSpPr>
          <p:cNvPr id="44" name="Shape 34"/>
          <p:cNvSpPr/>
          <p:nvPr/>
        </p:nvSpPr>
        <p:spPr>
          <a:xfrm>
            <a:off x="5449824" y="3063240"/>
            <a:ext cx="1536192" cy="1481328"/>
          </a:xfrm>
          <a:prstGeom prst="roundRect">
            <a:avLst>
              <a:gd name="adj" fmla="val 6173"/>
            </a:avLst>
          </a:prstGeom>
          <a:solidFill>
            <a:srgbClr val="F9FAFB"/>
          </a:solidFill>
          <a:ln/>
        </p:spPr>
      </p:sp>
      <p:sp>
        <p:nvSpPr>
          <p:cNvPr id="45" name="Shape 35"/>
          <p:cNvSpPr/>
          <p:nvPr/>
        </p:nvSpPr>
        <p:spPr>
          <a:xfrm>
            <a:off x="5961888" y="3191256"/>
            <a:ext cx="512064" cy="512064"/>
          </a:xfrm>
          <a:prstGeom prst="ellipse">
            <a:avLst/>
          </a:prstGeom>
          <a:solidFill>
            <a:srgbClr val="D8EFEC"/>
          </a:solidFill>
          <a:ln w="12700">
            <a:solidFill>
              <a:srgbClr val="D8EFEC"/>
            </a:solidFill>
            <a:prstDash val="solid"/>
          </a:ln>
        </p:spPr>
      </p:sp>
      <p:pic>
        <p:nvPicPr>
          <p:cNvPr id="46" name="Image 8" descr="preencoded.png">    </p:cNvPr>
          <p:cNvPicPr>
            <a:picLocks noChangeAspect="1"/>
          </p:cNvPicPr>
          <p:nvPr/>
        </p:nvPicPr>
        <p:blipFill>
          <a:blip r:embed="rId9"/>
          <a:stretch>
            <a:fillRect/>
          </a:stretch>
        </p:blipFill>
        <p:spPr>
          <a:xfrm>
            <a:off x="6095025" y="3324393"/>
            <a:ext cx="245791" cy="245791"/>
          </a:xfrm>
          <a:prstGeom prst="rect">
            <a:avLst/>
          </a:prstGeom>
        </p:spPr>
      </p:pic>
      <p:sp>
        <p:nvSpPr>
          <p:cNvPr id="47" name="Text 36"/>
          <p:cNvSpPr txBox="1"/>
          <p:nvPr/>
        </p:nvSpPr>
        <p:spPr>
          <a:xfrm>
            <a:off x="5504688"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AWS IAM</a:t>
            </a:r>
            <a:endParaRPr lang="en-US" sz="1250" dirty="0"/>
          </a:p>
        </p:txBody>
      </p:sp>
      <p:sp>
        <p:nvSpPr>
          <p:cNvPr id="48" name="Text 37"/>
          <p:cNvSpPr txBox="1"/>
          <p:nvPr/>
        </p:nvSpPr>
        <p:spPr>
          <a:xfrm>
            <a:off x="5541264"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Least-privilege Lambda execution role</a:t>
            </a:r>
            <a:endParaRPr lang="en-US" sz="950" dirty="0"/>
          </a:p>
        </p:txBody>
      </p:sp>
      <p:sp>
        <p:nvSpPr>
          <p:cNvPr id="49" name="Shape 38"/>
          <p:cNvSpPr/>
          <p:nvPr/>
        </p:nvSpPr>
        <p:spPr>
          <a:xfrm>
            <a:off x="7114032" y="3063240"/>
            <a:ext cx="1536192" cy="1481328"/>
          </a:xfrm>
          <a:prstGeom prst="roundRect">
            <a:avLst>
              <a:gd name="adj" fmla="val 6173"/>
            </a:avLst>
          </a:prstGeom>
          <a:solidFill>
            <a:srgbClr val="F9FAFB"/>
          </a:solidFill>
          <a:ln/>
        </p:spPr>
      </p:sp>
      <p:sp>
        <p:nvSpPr>
          <p:cNvPr id="50" name="Shape 39"/>
          <p:cNvSpPr/>
          <p:nvPr/>
        </p:nvSpPr>
        <p:spPr>
          <a:xfrm>
            <a:off x="7626096" y="3191256"/>
            <a:ext cx="512064" cy="512064"/>
          </a:xfrm>
          <a:prstGeom prst="ellipse">
            <a:avLst/>
          </a:prstGeom>
          <a:solidFill>
            <a:srgbClr val="D8EFEC"/>
          </a:solidFill>
          <a:ln w="12700">
            <a:solidFill>
              <a:srgbClr val="D8EFEC"/>
            </a:solidFill>
            <a:prstDash val="solid"/>
          </a:ln>
        </p:spPr>
      </p:sp>
      <p:pic>
        <p:nvPicPr>
          <p:cNvPr id="51" name="Image 9" descr="preencoded.png">    </p:cNvPr>
          <p:cNvPicPr>
            <a:picLocks noChangeAspect="1"/>
          </p:cNvPicPr>
          <p:nvPr/>
        </p:nvPicPr>
        <p:blipFill>
          <a:blip r:embed="rId10"/>
          <a:stretch>
            <a:fillRect/>
          </a:stretch>
        </p:blipFill>
        <p:spPr>
          <a:xfrm>
            <a:off x="7759233" y="3324393"/>
            <a:ext cx="245791" cy="245791"/>
          </a:xfrm>
          <a:prstGeom prst="rect">
            <a:avLst/>
          </a:prstGeom>
        </p:spPr>
      </p:pic>
      <p:sp>
        <p:nvSpPr>
          <p:cNvPr id="52" name="Text 40"/>
          <p:cNvSpPr txBox="1"/>
          <p:nvPr/>
        </p:nvSpPr>
        <p:spPr>
          <a:xfrm>
            <a:off x="7168896"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CloudWatch</a:t>
            </a:r>
            <a:endParaRPr lang="en-US" sz="1250" dirty="0"/>
          </a:p>
        </p:txBody>
      </p:sp>
      <p:sp>
        <p:nvSpPr>
          <p:cNvPr id="53" name="Text 41"/>
          <p:cNvSpPr txBox="1"/>
          <p:nvPr/>
        </p:nvSpPr>
        <p:spPr>
          <a:xfrm>
            <a:off x="7205472"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Logs &amp; metrics for every request</a:t>
            </a:r>
            <a:endParaRPr lang="en-US" sz="950" dirty="0"/>
          </a:p>
        </p:txBody>
      </p:sp>
      <p:sp>
        <p:nvSpPr>
          <p:cNvPr id="54" name="Text 4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Development technologies</a:t>
            </a:r>
            <a:endParaRPr lang="en-US" sz="3000" dirty="0"/>
          </a:p>
        </p:txBody>
      </p:sp>
      <p:sp>
        <p:nvSpPr>
          <p:cNvPr id="3" name="Shape 1"/>
          <p:cNvSpPr/>
          <p:nvPr/>
        </p:nvSpPr>
        <p:spPr>
          <a:xfrm>
            <a:off x="457200" y="1097280"/>
            <a:ext cx="548640" cy="548640"/>
          </a:xfrm>
          <a:prstGeom prst="ellipse">
            <a:avLst/>
          </a:prstGeom>
          <a:solidFill>
            <a:srgbClr val="FBE6D9"/>
          </a:solidFill>
          <a:ln w="12700">
            <a:solidFill>
              <a:srgbClr val="FBE6D9"/>
            </a:solidFill>
            <a:prstDash val="solid"/>
          </a:ln>
        </p:spPr>
      </p:sp>
      <p:pic>
        <p:nvPicPr>
          <p:cNvPr id="4" name="Image 0" descr="preencoded.png">    </p:cNvPr>
          <p:cNvPicPr>
            <a:picLocks noChangeAspect="1"/>
          </p:cNvPicPr>
          <p:nvPr/>
        </p:nvPicPr>
        <p:blipFill>
          <a:blip r:embed="rId1"/>
          <a:stretch>
            <a:fillRect/>
          </a:stretch>
        </p:blipFill>
        <p:spPr>
          <a:xfrm>
            <a:off x="599846" y="1239926"/>
            <a:ext cx="263347" cy="263347"/>
          </a:xfrm>
          <a:prstGeom prst="rect">
            <a:avLst/>
          </a:prstGeom>
        </p:spPr>
      </p:pic>
      <p:sp>
        <p:nvSpPr>
          <p:cNvPr id="5" name="Text 2"/>
          <p:cNvSpPr txBox="1"/>
          <p:nvPr/>
        </p:nvSpPr>
        <p:spPr>
          <a:xfrm>
            <a:off x="118872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Python 3.12 + Boto3</a:t>
            </a:r>
            <a:endParaRPr lang="en-US" sz="1500" dirty="0"/>
          </a:p>
        </p:txBody>
      </p:sp>
      <p:sp>
        <p:nvSpPr>
          <p:cNvPr id="6" name="Text 3"/>
          <p:cNvSpPr txBox="1"/>
          <p:nvPr/>
        </p:nvSpPr>
        <p:spPr>
          <a:xfrm>
            <a:off x="1188720" y="138988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Lambda backend calling S3, Rekognition, Bedrock Converse API, Polly and DynamoDB</a:t>
            </a:r>
            <a:endParaRPr lang="en-US" sz="1150" dirty="0"/>
          </a:p>
        </p:txBody>
      </p:sp>
      <p:sp>
        <p:nvSpPr>
          <p:cNvPr id="7" name="Shape 4"/>
          <p:cNvSpPr/>
          <p:nvPr/>
        </p:nvSpPr>
        <p:spPr>
          <a:xfrm>
            <a:off x="457200" y="1965960"/>
            <a:ext cx="548640" cy="548640"/>
          </a:xfrm>
          <a:prstGeom prst="ellipse">
            <a:avLst/>
          </a:prstGeom>
          <a:solidFill>
            <a:srgbClr val="FBE6D9"/>
          </a:solidFill>
          <a:ln w="12700">
            <a:solidFill>
              <a:srgbClr val="FBE6D9"/>
            </a:solidFill>
            <a:prstDash val="solid"/>
          </a:ln>
        </p:spPr>
      </p:sp>
      <p:pic>
        <p:nvPicPr>
          <p:cNvPr id="8" name="Image 1" descr="preencoded.png">    </p:cNvPr>
          <p:cNvPicPr>
            <a:picLocks noChangeAspect="1"/>
          </p:cNvPicPr>
          <p:nvPr/>
        </p:nvPicPr>
        <p:blipFill>
          <a:blip r:embed="rId2"/>
          <a:stretch>
            <a:fillRect/>
          </a:stretch>
        </p:blipFill>
        <p:spPr>
          <a:xfrm>
            <a:off x="599846" y="2108606"/>
            <a:ext cx="263347" cy="263347"/>
          </a:xfrm>
          <a:prstGeom prst="rect">
            <a:avLst/>
          </a:prstGeom>
        </p:spPr>
      </p:pic>
      <p:sp>
        <p:nvSpPr>
          <p:cNvPr id="9" name="Text 5"/>
          <p:cNvSpPr txBox="1"/>
          <p:nvPr/>
        </p:nvSpPr>
        <p:spPr>
          <a:xfrm>
            <a:off x="1188720" y="196596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HTML5</a:t>
            </a:r>
            <a:endParaRPr lang="en-US" sz="1500" dirty="0"/>
          </a:p>
        </p:txBody>
      </p:sp>
      <p:sp>
        <p:nvSpPr>
          <p:cNvPr id="10" name="Text 6"/>
          <p:cNvSpPr txBox="1"/>
          <p:nvPr/>
        </p:nvSpPr>
        <p:spPr>
          <a:xfrm>
            <a:off x="1188720" y="225856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Semantic, accessible page structure with a skip link and ARIA roles</a:t>
            </a:r>
            <a:endParaRPr lang="en-US" sz="1150" dirty="0"/>
          </a:p>
        </p:txBody>
      </p:sp>
      <p:sp>
        <p:nvSpPr>
          <p:cNvPr id="11" name="Shape 7"/>
          <p:cNvSpPr/>
          <p:nvPr/>
        </p:nvSpPr>
        <p:spPr>
          <a:xfrm>
            <a:off x="457200" y="2834640"/>
            <a:ext cx="548640" cy="548640"/>
          </a:xfrm>
          <a:prstGeom prst="ellipse">
            <a:avLst/>
          </a:prstGeom>
          <a:solidFill>
            <a:srgbClr val="FBE6D9"/>
          </a:solidFill>
          <a:ln w="12700">
            <a:solidFill>
              <a:srgbClr val="FBE6D9"/>
            </a:solidFill>
            <a:prstDash val="solid"/>
          </a:ln>
        </p:spPr>
      </p:sp>
      <p:pic>
        <p:nvPicPr>
          <p:cNvPr id="12" name="Image 2" descr="preencoded.png">    </p:cNvPr>
          <p:cNvPicPr>
            <a:picLocks noChangeAspect="1"/>
          </p:cNvPicPr>
          <p:nvPr/>
        </p:nvPicPr>
        <p:blipFill>
          <a:blip r:embed="rId3"/>
          <a:stretch>
            <a:fillRect/>
          </a:stretch>
        </p:blipFill>
        <p:spPr>
          <a:xfrm>
            <a:off x="599846" y="2977286"/>
            <a:ext cx="263347" cy="263347"/>
          </a:xfrm>
          <a:prstGeom prst="rect">
            <a:avLst/>
          </a:prstGeom>
        </p:spPr>
      </p:pic>
      <p:sp>
        <p:nvSpPr>
          <p:cNvPr id="13" name="Text 8"/>
          <p:cNvSpPr txBox="1"/>
          <p:nvPr/>
        </p:nvSpPr>
        <p:spPr>
          <a:xfrm>
            <a:off x="1188720" y="283464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CSS3</a:t>
            </a:r>
            <a:endParaRPr lang="en-US" sz="1500" dirty="0"/>
          </a:p>
        </p:txBody>
      </p:sp>
      <p:sp>
        <p:nvSpPr>
          <p:cNvPr id="14" name="Text 9"/>
          <p:cNvSpPr txBox="1"/>
          <p:nvPr/>
        </p:nvSpPr>
        <p:spPr>
          <a:xfrm>
            <a:off x="1188720" y="312724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Responsive grid, design tokens, animated pipeline tracker, reduced-motion support</a:t>
            </a:r>
            <a:endParaRPr lang="en-US" sz="1150" dirty="0"/>
          </a:p>
        </p:txBody>
      </p:sp>
      <p:sp>
        <p:nvSpPr>
          <p:cNvPr id="15" name="Shape 10"/>
          <p:cNvSpPr/>
          <p:nvPr/>
        </p:nvSpPr>
        <p:spPr>
          <a:xfrm>
            <a:off x="457200" y="3703320"/>
            <a:ext cx="548640" cy="548640"/>
          </a:xfrm>
          <a:prstGeom prst="ellipse">
            <a:avLst/>
          </a:prstGeom>
          <a:solidFill>
            <a:srgbClr val="FBE6D9"/>
          </a:solidFill>
          <a:ln w="12700">
            <a:solidFill>
              <a:srgbClr val="FBE6D9"/>
            </a:solidFill>
            <a:prstDash val="solid"/>
          </a:ln>
        </p:spPr>
      </p:sp>
      <p:pic>
        <p:nvPicPr>
          <p:cNvPr id="16" name="Image 3" descr="preencoded.png">    </p:cNvPr>
          <p:cNvPicPr>
            <a:picLocks noChangeAspect="1"/>
          </p:cNvPicPr>
          <p:nvPr/>
        </p:nvPicPr>
        <p:blipFill>
          <a:blip r:embed="rId4"/>
          <a:stretch>
            <a:fillRect/>
          </a:stretch>
        </p:blipFill>
        <p:spPr>
          <a:xfrm>
            <a:off x="599846" y="3845966"/>
            <a:ext cx="263347" cy="263347"/>
          </a:xfrm>
          <a:prstGeom prst="rect">
            <a:avLst/>
          </a:prstGeom>
        </p:spPr>
      </p:pic>
      <p:sp>
        <p:nvSpPr>
          <p:cNvPr id="17" name="Text 11"/>
          <p:cNvSpPr txBox="1"/>
          <p:nvPr/>
        </p:nvSpPr>
        <p:spPr>
          <a:xfrm>
            <a:off x="1188720" y="370332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JavaScript (ES2020)</a:t>
            </a:r>
            <a:endParaRPr lang="en-US" sz="1500" dirty="0"/>
          </a:p>
        </p:txBody>
      </p:sp>
      <p:sp>
        <p:nvSpPr>
          <p:cNvPr id="18" name="Text 12"/>
          <p:cNvSpPr txBox="1"/>
          <p:nvPr/>
        </p:nvSpPr>
        <p:spPr>
          <a:xfrm>
            <a:off x="1188720" y="399592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Camera / drag-and-drop upload, Canvas resizing, Fetch API, audio playback</a:t>
            </a:r>
            <a:endParaRPr lang="en-US" sz="1150" dirty="0"/>
          </a:p>
        </p:txBody>
      </p:sp>
      <p:sp>
        <p:nvSpPr>
          <p:cNvPr id="19" name="Shape 13"/>
          <p:cNvSpPr/>
          <p:nvPr/>
        </p:nvSpPr>
        <p:spPr>
          <a:xfrm>
            <a:off x="4892040" y="1005840"/>
            <a:ext cx="3794760" cy="2834640"/>
          </a:xfrm>
          <a:prstGeom prst="roundRect">
            <a:avLst>
              <a:gd name="adj" fmla="val 3871"/>
            </a:avLst>
          </a:prstGeom>
          <a:solidFill>
            <a:srgbClr val="F3F4F6"/>
          </a:solidFill>
          <a:ln/>
        </p:spPr>
      </p:sp>
      <p:sp>
        <p:nvSpPr>
          <p:cNvPr id="20" name="Shape 14"/>
          <p:cNvSpPr/>
          <p:nvPr/>
        </p:nvSpPr>
        <p:spPr>
          <a:xfrm>
            <a:off x="5120640" y="1097280"/>
            <a:ext cx="548640" cy="548640"/>
          </a:xfrm>
          <a:prstGeom prst="ellipse">
            <a:avLst/>
          </a:prstGeom>
          <a:solidFill>
            <a:srgbClr val="FBE6D9"/>
          </a:solidFill>
          <a:ln w="12700">
            <a:solidFill>
              <a:srgbClr val="FBE6D9"/>
            </a:solidFill>
            <a:prstDash val="solid"/>
          </a:ln>
        </p:spPr>
      </p:sp>
      <p:pic>
        <p:nvPicPr>
          <p:cNvPr id="21" name="Image 4" descr="preencoded.png">    </p:cNvPr>
          <p:cNvPicPr>
            <a:picLocks noChangeAspect="1"/>
          </p:cNvPicPr>
          <p:nvPr/>
        </p:nvPicPr>
        <p:blipFill>
          <a:blip r:embed="rId5"/>
          <a:stretch>
            <a:fillRect/>
          </a:stretch>
        </p:blipFill>
        <p:spPr>
          <a:xfrm>
            <a:off x="5263286" y="1239926"/>
            <a:ext cx="263347" cy="263347"/>
          </a:xfrm>
          <a:prstGeom prst="rect">
            <a:avLst/>
          </a:prstGeom>
        </p:spPr>
      </p:pic>
      <p:sp>
        <p:nvSpPr>
          <p:cNvPr id="22" name="Text 15"/>
          <p:cNvSpPr txBox="1"/>
          <p:nvPr/>
        </p:nvSpPr>
        <p:spPr>
          <a:xfrm>
            <a:off x="5852160" y="109728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AWS CLI + Bash</a:t>
            </a:r>
            <a:endParaRPr lang="en-US" sz="1500" dirty="0"/>
          </a:p>
        </p:txBody>
      </p:sp>
      <p:sp>
        <p:nvSpPr>
          <p:cNvPr id="23" name="Text 16"/>
          <p:cNvSpPr txBox="1"/>
          <p:nvPr/>
        </p:nvSpPr>
        <p:spPr>
          <a:xfrm>
            <a:off x="5852160" y="138988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One repeatable script provisions every resource</a:t>
            </a:r>
            <a:endParaRPr lang="en-US" sz="1150" dirty="0"/>
          </a:p>
        </p:txBody>
      </p:sp>
      <p:sp>
        <p:nvSpPr>
          <p:cNvPr id="24" name="Shape 17"/>
          <p:cNvSpPr/>
          <p:nvPr/>
        </p:nvSpPr>
        <p:spPr>
          <a:xfrm>
            <a:off x="5120640" y="1965960"/>
            <a:ext cx="548640" cy="548640"/>
          </a:xfrm>
          <a:prstGeom prst="ellipse">
            <a:avLst/>
          </a:prstGeom>
          <a:solidFill>
            <a:srgbClr val="FBE6D9"/>
          </a:solidFill>
          <a:ln w="12700">
            <a:solidFill>
              <a:srgbClr val="FBE6D9"/>
            </a:solidFill>
            <a:prstDash val="solid"/>
          </a:ln>
        </p:spPr>
      </p:sp>
      <p:pic>
        <p:nvPicPr>
          <p:cNvPr id="25" name="Image 5" descr="preencoded.png">    </p:cNvPr>
          <p:cNvPicPr>
            <a:picLocks noChangeAspect="1"/>
          </p:cNvPicPr>
          <p:nvPr/>
        </p:nvPicPr>
        <p:blipFill>
          <a:blip r:embed="rId6"/>
          <a:stretch>
            <a:fillRect/>
          </a:stretch>
        </p:blipFill>
        <p:spPr>
          <a:xfrm>
            <a:off x="5263286" y="2108606"/>
            <a:ext cx="263347" cy="263347"/>
          </a:xfrm>
          <a:prstGeom prst="rect">
            <a:avLst/>
          </a:prstGeom>
        </p:spPr>
      </p:pic>
      <p:sp>
        <p:nvSpPr>
          <p:cNvPr id="26" name="Text 18"/>
          <p:cNvSpPr txBox="1"/>
          <p:nvPr/>
        </p:nvSpPr>
        <p:spPr>
          <a:xfrm>
            <a:off x="5852160" y="196596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Git + GitHub</a:t>
            </a:r>
            <a:endParaRPr lang="en-US" sz="1500" dirty="0"/>
          </a:p>
        </p:txBody>
      </p:sp>
      <p:sp>
        <p:nvSpPr>
          <p:cNvPr id="27" name="Text 19"/>
          <p:cNvSpPr txBox="1"/>
          <p:nvPr/>
        </p:nvSpPr>
        <p:spPr>
          <a:xfrm>
            <a:off x="5852160" y="225856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Version control with small, atomic commits</a:t>
            </a:r>
            <a:endParaRPr lang="en-US" sz="1150" dirty="0"/>
          </a:p>
        </p:txBody>
      </p:sp>
      <p:sp>
        <p:nvSpPr>
          <p:cNvPr id="28" name="Shape 20"/>
          <p:cNvSpPr/>
          <p:nvPr/>
        </p:nvSpPr>
        <p:spPr>
          <a:xfrm>
            <a:off x="5120640" y="2834640"/>
            <a:ext cx="548640" cy="548640"/>
          </a:xfrm>
          <a:prstGeom prst="ellipse">
            <a:avLst/>
          </a:prstGeom>
          <a:solidFill>
            <a:srgbClr val="FBE6D9"/>
          </a:solidFill>
          <a:ln w="12700">
            <a:solidFill>
              <a:srgbClr val="FBE6D9"/>
            </a:solidFill>
            <a:prstDash val="solid"/>
          </a:ln>
        </p:spPr>
      </p:sp>
      <p:pic>
        <p:nvPicPr>
          <p:cNvPr id="29" name="Image 6" descr="preencoded.png">    </p:cNvPr>
          <p:cNvPicPr>
            <a:picLocks noChangeAspect="1"/>
          </p:cNvPicPr>
          <p:nvPr/>
        </p:nvPicPr>
        <p:blipFill>
          <a:blip r:embed="rId7"/>
          <a:stretch>
            <a:fillRect/>
          </a:stretch>
        </p:blipFill>
        <p:spPr>
          <a:xfrm>
            <a:off x="5263286" y="2977286"/>
            <a:ext cx="263347" cy="263347"/>
          </a:xfrm>
          <a:prstGeom prst="rect">
            <a:avLst/>
          </a:prstGeom>
        </p:spPr>
      </p:pic>
      <p:sp>
        <p:nvSpPr>
          <p:cNvPr id="30" name="Text 21"/>
          <p:cNvSpPr txBox="1"/>
          <p:nvPr/>
        </p:nvSpPr>
        <p:spPr>
          <a:xfrm>
            <a:off x="5852160" y="283464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JSON</a:t>
            </a:r>
            <a:endParaRPr lang="en-US" sz="1500" dirty="0"/>
          </a:p>
        </p:txBody>
      </p:sp>
      <p:sp>
        <p:nvSpPr>
          <p:cNvPr id="31" name="Text 22"/>
          <p:cNvSpPr txBox="1"/>
          <p:nvPr/>
        </p:nvSpPr>
        <p:spPr>
          <a:xfrm>
            <a:off x="5852160" y="312724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API payloads, structured AI output and IAM policies</a:t>
            </a:r>
            <a:endParaRPr lang="en-US" sz="1150" dirty="0"/>
          </a:p>
        </p:txBody>
      </p:sp>
      <p:sp>
        <p:nvSpPr>
          <p:cNvPr id="32" name="Text 2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Demo: English notice → Hindi speech</a:t>
            </a:r>
            <a:endParaRPr lang="en-US" sz="3000" dirty="0"/>
          </a:p>
        </p:txBody>
      </p:sp>
      <p:pic>
        <p:nvPicPr>
          <p:cNvPr id="3" name="Image 0" descr="C:\Users\MOHAK\AppData\Roaming\Claude\scratch-workspaces\f2c6d378-d886-42df-9f4c-719dd5cf9513\45ae0831-b88f-478b-b917-cc13a7ce82a4\scratch-2026-09-29-7d1471\vaanisetu\report\screenshots\02-result-hindi-notice.jpg">    </p:cNvPr>
          <p:cNvPicPr>
            <a:picLocks noChangeAspect="1"/>
          </p:cNvPicPr>
          <p:nvPr/>
        </p:nvPicPr>
        <p:blipFill>
          <a:blip r:embed="rId1"/>
          <a:stretch>
            <a:fillRect/>
          </a:stretch>
        </p:blipFill>
        <p:spPr>
          <a:xfrm>
            <a:off x="457200" y="960120"/>
            <a:ext cx="5760720" cy="293273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6400800" y="1005840"/>
            <a:ext cx="228600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Document type detected: exam notice</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Summary written and spoken in Hindi by Polly (Kajal, neural)</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Key points and action items with deadlines</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All five pipeline stages complete</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OCR confidence 98.3%</a:t>
            </a:r>
            <a:endParaRPr lang="en-US" sz="1250" dirty="0"/>
          </a:p>
        </p:txBody>
      </p:sp>
      <p:sp>
        <p:nvSpPr>
          <p:cNvPr id="5" name="Text 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Demo: Hindi bill → English, and history</a:t>
            </a:r>
            <a:endParaRPr lang="en-US" sz="3000" dirty="0"/>
          </a:p>
        </p:txBody>
      </p:sp>
      <p:pic>
        <p:nvPicPr>
          <p:cNvPr id="3" name="Image 0" descr="C:\Users\MOHAK\AppData\Roaming\Claude\scratch-workspaces\f2c6d378-d886-42df-9f4c-719dd5cf9513\45ae0831-b88f-478b-b917-cc13a7ce82a4\scratch-2026-09-29-7d1471\vaanisetu\report\screenshots\03-result-english-bill.jpg">    </p:cNvPr>
          <p:cNvPicPr>
            <a:picLocks noChangeAspect="1"/>
          </p:cNvPicPr>
          <p:nvPr/>
        </p:nvPicPr>
        <p:blipFill>
          <a:blip r:embed="rId1"/>
          <a:stretch>
            <a:fillRect/>
          </a:stretch>
        </p:blipFill>
        <p:spPr>
          <a:xfrm>
            <a:off x="457200" y="960120"/>
            <a:ext cx="4023360" cy="2048256"/>
          </a:xfrm>
          <a:prstGeom prst="rect">
            <a:avLst/>
          </a:prstGeom>
          <a:effectLst>
            <a:outerShdw sx="100000" sy="100000" kx="0" ky="0" algn="bl" rotWithShape="0" blurRad="76200" dist="25400" dir="5400000">
              <a:srgbClr val="000000">
                <a:alpha val="18000"/>
              </a:srgbClr>
            </a:outerShdw>
          </a:effectLst>
        </p:spPr>
      </p:pic>
      <p:pic>
        <p:nvPicPr>
          <p:cNvPr id="4" name="Image 1" descr="C:\Users\MOHAK\AppData\Roaming\Claude\scratch-workspaces\f2c6d378-d886-42df-9f4c-719dd5cf9513\45ae0831-b88f-478b-b917-cc13a7ce82a4\scratch-2026-09-29-7d1471\vaanisetu\report\screenshots\04-history.jpg">    </p:cNvPr>
          <p:cNvPicPr>
            <a:picLocks noChangeAspect="1"/>
          </p:cNvPicPr>
          <p:nvPr/>
        </p:nvPicPr>
        <p:blipFill>
          <a:blip r:embed="rId2"/>
          <a:stretch>
            <a:fillRect/>
          </a:stretch>
        </p:blipFill>
        <p:spPr>
          <a:xfrm>
            <a:off x="4663440" y="960120"/>
            <a:ext cx="4023360" cy="2048256"/>
          </a:xfrm>
          <a:prstGeom prst="rect">
            <a:avLst/>
          </a:prstGeom>
          <a:effectLst>
            <a:outerShdw sx="100000" sy="100000" kx="0" ky="0" algn="bl" rotWithShape="0" blurRad="76200" dist="25400" dir="5400000">
              <a:srgbClr val="000000">
                <a:alpha val="18000"/>
              </a:srgbClr>
            </a:outerShdw>
          </a:effectLst>
        </p:spPr>
      </p:pic>
      <p:sp>
        <p:nvSpPr>
          <p:cNvPr id="5" name="Text 1"/>
          <p:cNvSpPr txBox="1"/>
          <p:nvPr/>
        </p:nvSpPr>
        <p:spPr>
          <a:xfrm>
            <a:off x="457200" y="3200400"/>
            <a:ext cx="4023360" cy="731520"/>
          </a:xfrm>
          <a:prstGeom prst="rect">
            <a:avLst/>
          </a:prstGeom>
          <a:noFill/>
          <a:ln/>
        </p:spPr>
        <p:txBody>
          <a:bodyPr wrap="square" lIns="0" tIns="0" rIns="0" bIns="0" rtlCol="0" anchor="t"/>
          <a:lstStyle/>
          <a:p>
            <a:pPr indent="0" marL="0">
              <a:buNone/>
            </a:pPr>
            <a:r>
              <a:rPr lang="en-US" sz="1200" dirty="0">
                <a:solidFill>
                  <a:srgbClr val="5B524B"/>
                </a:solidFill>
                <a:latin typeface="Calibri" pitchFamily="34" charset="0"/>
                <a:ea typeface="Calibri" pitchFamily="34" charset="-122"/>
                <a:cs typeface="Calibri" pitchFamily="34" charset="-120"/>
              </a:rPr>
              <a:t>A bill printed in Hindi is explained in English: amount due ₹2,170.50, due date 10 October 2026, late fee ₹50.</a:t>
            </a:r>
            <a:endParaRPr lang="en-US" sz="1200" dirty="0"/>
          </a:p>
        </p:txBody>
      </p:sp>
      <p:sp>
        <p:nvSpPr>
          <p:cNvPr id="6" name="Text 2"/>
          <p:cNvSpPr txBox="1"/>
          <p:nvPr/>
        </p:nvSpPr>
        <p:spPr>
          <a:xfrm>
            <a:off x="4663440" y="3200400"/>
            <a:ext cx="4023360" cy="731520"/>
          </a:xfrm>
          <a:prstGeom prst="rect">
            <a:avLst/>
          </a:prstGeom>
          <a:noFill/>
          <a:ln/>
        </p:spPr>
        <p:txBody>
          <a:bodyPr wrap="square" lIns="0" tIns="0" rIns="0" bIns="0" rtlCol="0" anchor="t"/>
          <a:lstStyle/>
          <a:p>
            <a:pPr indent="0" marL="0">
              <a:buNone/>
            </a:pPr>
            <a:r>
              <a:rPr lang="en-US" sz="1200" dirty="0">
                <a:solidFill>
                  <a:srgbClr val="5B524B"/>
                </a:solidFill>
                <a:latin typeface="Calibri" pitchFamily="34" charset="0"/>
                <a:ea typeface="Calibri" pitchFamily="34" charset="-122"/>
                <a:cs typeface="Calibri" pitchFamily="34" charset="-120"/>
              </a:rPr>
              <a:t>Every result is saved in DynamoDB. Tapping a card replays the explanation and audio.</a:t>
            </a:r>
            <a:endParaRPr lang="en-US" sz="1200" dirty="0"/>
          </a:p>
        </p:txBody>
      </p:sp>
      <p:sp>
        <p:nvSpPr>
          <p:cNvPr id="7"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Deployed on AWS (ap-south-1)</a:t>
            </a:r>
            <a:endParaRPr lang="en-US" sz="3000" dirty="0"/>
          </a:p>
        </p:txBody>
      </p:sp>
      <p:pic>
        <p:nvPicPr>
          <p:cNvPr id="3" name="Image 0" descr="C:\Users\MOHAK\AppData\Roaming\Claude\scratch-workspaces\f2c6d378-d886-42df-9f4c-719dd5cf9513\45ae0831-b88f-478b-b917-cc13a7ce82a4\scratch-2026-09-29-7d1471\vaanisetu\report\screenshots\05-lambda.jpg">    </p:cNvPr>
          <p:cNvPicPr>
            <a:picLocks noChangeAspect="1"/>
          </p:cNvPicPr>
          <p:nvPr/>
        </p:nvPicPr>
        <p:blipFill>
          <a:blip r:embed="rId1"/>
          <a:stretch>
            <a:fillRect/>
          </a:stretch>
        </p:blipFill>
        <p:spPr>
          <a:xfrm>
            <a:off x="457200" y="960120"/>
            <a:ext cx="3017520" cy="153619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3566160" y="150876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Lambda: vaanisetu-api</a:t>
            </a:r>
            <a:endParaRPr lang="en-US" sz="1100" dirty="0"/>
          </a:p>
        </p:txBody>
      </p:sp>
      <p:pic>
        <p:nvPicPr>
          <p:cNvPr id="5" name="Image 1" descr="C:\Users\MOHAK\AppData\Roaming\Claude\scratch-workspaces\f2c6d378-d886-42df-9f4c-719dd5cf9513\45ae0831-b88f-478b-b917-cc13a7ce82a4\scratch-2026-09-29-7d1471\vaanisetu\report\screenshots\06-api-gateway.jpg">    </p:cNvPr>
          <p:cNvPicPr>
            <a:picLocks noChangeAspect="1"/>
          </p:cNvPicPr>
          <p:nvPr/>
        </p:nvPicPr>
        <p:blipFill>
          <a:blip r:embed="rId2"/>
          <a:stretch>
            <a:fillRect/>
          </a:stretch>
        </p:blipFill>
        <p:spPr>
          <a:xfrm>
            <a:off x="4663440" y="960120"/>
            <a:ext cx="3017520" cy="1536192"/>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7772400" y="150876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API Gateway routes</a:t>
            </a:r>
            <a:endParaRPr lang="en-US" sz="1100" dirty="0"/>
          </a:p>
        </p:txBody>
      </p:sp>
      <p:pic>
        <p:nvPicPr>
          <p:cNvPr id="7" name="Image 2" descr="C:\Users\MOHAK\AppData\Roaming\Claude\scratch-workspaces\f2c6d378-d886-42df-9f4c-719dd5cf9513\45ae0831-b88f-478b-b917-cc13a7ce82a4\scratch-2026-09-29-7d1471\vaanisetu\report\screenshots\07-s3-audio.jpg">    </p:cNvPr>
          <p:cNvPicPr>
            <a:picLocks noChangeAspect="1"/>
          </p:cNvPicPr>
          <p:nvPr/>
        </p:nvPicPr>
        <p:blipFill>
          <a:blip r:embed="rId3"/>
          <a:stretch>
            <a:fillRect/>
          </a:stretch>
        </p:blipFill>
        <p:spPr>
          <a:xfrm>
            <a:off x="457200" y="2880360"/>
            <a:ext cx="3017520" cy="1536192"/>
          </a:xfrm>
          <a:prstGeom prst="rect">
            <a:avLst/>
          </a:prstGeom>
          <a:effectLst>
            <a:outerShdw sx="100000" sy="100000" kx="0" ky="0" algn="bl" rotWithShape="0" blurRad="76200" dist="25400" dir="5400000">
              <a:srgbClr val="000000">
                <a:alpha val="18000"/>
              </a:srgbClr>
            </a:outerShdw>
          </a:effectLst>
        </p:spPr>
      </p:pic>
      <p:sp>
        <p:nvSpPr>
          <p:cNvPr id="8" name="Text 3"/>
          <p:cNvSpPr txBox="1"/>
          <p:nvPr/>
        </p:nvSpPr>
        <p:spPr>
          <a:xfrm>
            <a:off x="3566160" y="342900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S3: Polly MP3 files</a:t>
            </a:r>
            <a:endParaRPr lang="en-US" sz="1100" dirty="0"/>
          </a:p>
        </p:txBody>
      </p:sp>
      <p:pic>
        <p:nvPicPr>
          <p:cNvPr id="9" name="Image 3" descr="C:\Users\MOHAK\AppData\Roaming\Claude\scratch-workspaces\f2c6d378-d886-42df-9f4c-719dd5cf9513\45ae0831-b88f-478b-b917-cc13a7ce82a4\scratch-2026-09-29-7d1471\vaanisetu\report\screenshots\08-dynamodb.jpg">    </p:cNvPr>
          <p:cNvPicPr>
            <a:picLocks noChangeAspect="1"/>
          </p:cNvPicPr>
          <p:nvPr/>
        </p:nvPicPr>
        <p:blipFill>
          <a:blip r:embed="rId4"/>
          <a:stretch>
            <a:fillRect/>
          </a:stretch>
        </p:blipFill>
        <p:spPr>
          <a:xfrm>
            <a:off x="4663440" y="2880360"/>
            <a:ext cx="3017520" cy="1536192"/>
          </a:xfrm>
          <a:prstGeom prst="rect">
            <a:avLst/>
          </a:prstGeom>
          <a:effectLst>
            <a:outerShdw sx="100000" sy="100000" kx="0" ky="0" algn="bl" rotWithShape="0" blurRad="76200" dist="25400" dir="5400000">
              <a:srgbClr val="000000">
                <a:alpha val="18000"/>
              </a:srgbClr>
            </a:outerShdw>
          </a:effectLst>
        </p:spPr>
      </p:pic>
      <p:sp>
        <p:nvSpPr>
          <p:cNvPr id="10" name="Text 4"/>
          <p:cNvSpPr txBox="1"/>
          <p:nvPr/>
        </p:nvSpPr>
        <p:spPr>
          <a:xfrm>
            <a:off x="7772400" y="342900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DynamoDB items</a:t>
            </a:r>
            <a:endParaRPr lang="en-US" sz="1100" dirty="0"/>
          </a:p>
        </p:txBody>
      </p:sp>
      <p:sp>
        <p:nvSpPr>
          <p:cNvPr id="11" name="Text 5"/>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Performance at a glance</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Measured per document during testing</a:t>
            </a:r>
            <a:endParaRPr lang="en-US" sz="1400" dirty="0"/>
          </a:p>
        </p:txBody>
      </p:sp>
      <p:sp>
        <p:nvSpPr>
          <p:cNvPr id="4" name="Text 2"/>
          <p:cNvSpPr txBox="1"/>
          <p:nvPr/>
        </p:nvSpPr>
        <p:spPr>
          <a:xfrm>
            <a:off x="45720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~1 s</a:t>
            </a:r>
            <a:endParaRPr lang="en-US" sz="4400" dirty="0"/>
          </a:p>
        </p:txBody>
      </p:sp>
      <p:sp>
        <p:nvSpPr>
          <p:cNvPr id="5" name="Text 3"/>
          <p:cNvSpPr txBox="1"/>
          <p:nvPr/>
        </p:nvSpPr>
        <p:spPr>
          <a:xfrm>
            <a:off x="45720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Rekognition text check</a:t>
            </a:r>
            <a:endParaRPr lang="en-US" sz="1250" dirty="0"/>
          </a:p>
        </p:txBody>
      </p:sp>
      <p:sp>
        <p:nvSpPr>
          <p:cNvPr id="6" name="Text 4"/>
          <p:cNvSpPr txBox="1"/>
          <p:nvPr/>
        </p:nvSpPr>
        <p:spPr>
          <a:xfrm>
            <a:off x="256032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~4 s</a:t>
            </a:r>
            <a:endParaRPr lang="en-US" sz="4400" dirty="0"/>
          </a:p>
        </p:txBody>
      </p:sp>
      <p:sp>
        <p:nvSpPr>
          <p:cNvPr id="7" name="Text 5"/>
          <p:cNvSpPr txBox="1"/>
          <p:nvPr/>
        </p:nvSpPr>
        <p:spPr>
          <a:xfrm>
            <a:off x="256032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Bedrock understanding</a:t>
            </a:r>
            <a:endParaRPr lang="en-US" sz="1250" dirty="0"/>
          </a:p>
        </p:txBody>
      </p:sp>
      <p:sp>
        <p:nvSpPr>
          <p:cNvPr id="8" name="Text 6"/>
          <p:cNvSpPr txBox="1"/>
          <p:nvPr/>
        </p:nvSpPr>
        <p:spPr>
          <a:xfrm>
            <a:off x="466344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~2 s</a:t>
            </a:r>
            <a:endParaRPr lang="en-US" sz="4400" dirty="0"/>
          </a:p>
        </p:txBody>
      </p:sp>
      <p:sp>
        <p:nvSpPr>
          <p:cNvPr id="9" name="Text 7"/>
          <p:cNvSpPr txBox="1"/>
          <p:nvPr/>
        </p:nvSpPr>
        <p:spPr>
          <a:xfrm>
            <a:off x="466344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Polly neural speech</a:t>
            </a:r>
            <a:endParaRPr lang="en-US" sz="1250" dirty="0"/>
          </a:p>
        </p:txBody>
      </p:sp>
      <p:sp>
        <p:nvSpPr>
          <p:cNvPr id="10" name="Text 8"/>
          <p:cNvSpPr txBox="1"/>
          <p:nvPr/>
        </p:nvSpPr>
        <p:spPr>
          <a:xfrm>
            <a:off x="6766560" y="1554480"/>
            <a:ext cx="1920240" cy="822960"/>
          </a:xfrm>
          <a:prstGeom prst="rect">
            <a:avLst/>
          </a:prstGeom>
          <a:noFill/>
          <a:ln/>
        </p:spPr>
        <p:txBody>
          <a:bodyPr wrap="square" lIns="0" tIns="0" rIns="0" bIns="0" rtlCol="0" anchor="ctr"/>
          <a:lstStyle/>
          <a:p>
            <a:pPr indent="0" marL="0">
              <a:buNone/>
            </a:pPr>
            <a:r>
              <a:rPr lang="en-US" sz="4400" b="1" dirty="0">
                <a:solidFill>
                  <a:srgbClr val="C2410C"/>
                </a:solidFill>
                <a:latin typeface="Cambria" pitchFamily="34" charset="0"/>
                <a:ea typeface="Cambria" pitchFamily="34" charset="-122"/>
                <a:cs typeface="Cambria" pitchFamily="34" charset="-120"/>
              </a:rPr>
              <a:t>~10 s</a:t>
            </a:r>
            <a:endParaRPr lang="en-US" sz="4400" dirty="0"/>
          </a:p>
        </p:txBody>
      </p:sp>
      <p:sp>
        <p:nvSpPr>
          <p:cNvPr id="11" name="Text 9"/>
          <p:cNvSpPr txBox="1"/>
          <p:nvPr/>
        </p:nvSpPr>
        <p:spPr>
          <a:xfrm>
            <a:off x="676656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Photo to speech, end to end</a:t>
            </a:r>
            <a:endParaRPr lang="en-US" sz="1250" dirty="0"/>
          </a:p>
        </p:txBody>
      </p:sp>
      <p:sp>
        <p:nvSpPr>
          <p:cNvPr id="12" name="Shape 10"/>
          <p:cNvSpPr/>
          <p:nvPr/>
        </p:nvSpPr>
        <p:spPr>
          <a:xfrm>
            <a:off x="457200" y="3154680"/>
            <a:ext cx="2606040" cy="1005840"/>
          </a:xfrm>
          <a:prstGeom prst="roundRect">
            <a:avLst>
              <a:gd name="adj" fmla="val 9091"/>
            </a:avLst>
          </a:prstGeom>
          <a:solidFill>
            <a:srgbClr val="FBE6D9"/>
          </a:solidFill>
          <a:ln/>
        </p:spPr>
      </p:sp>
      <p:sp>
        <p:nvSpPr>
          <p:cNvPr id="13" name="Text 11"/>
          <p:cNvSpPr txBox="1"/>
          <p:nvPr/>
        </p:nvSpPr>
        <p:spPr>
          <a:xfrm>
            <a:off x="68580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7</a:t>
            </a:r>
            <a:endParaRPr lang="en-US" sz="3400" dirty="0"/>
          </a:p>
        </p:txBody>
      </p:sp>
      <p:sp>
        <p:nvSpPr>
          <p:cNvPr id="14" name="Text 12"/>
          <p:cNvSpPr txBox="1"/>
          <p:nvPr/>
        </p:nvSpPr>
        <p:spPr>
          <a:xfrm>
            <a:off x="160020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output languages</a:t>
            </a:r>
            <a:endParaRPr lang="en-US" sz="1400" dirty="0"/>
          </a:p>
        </p:txBody>
      </p:sp>
      <p:sp>
        <p:nvSpPr>
          <p:cNvPr id="15" name="Shape 13"/>
          <p:cNvSpPr/>
          <p:nvPr/>
        </p:nvSpPr>
        <p:spPr>
          <a:xfrm>
            <a:off x="3246120" y="3154680"/>
            <a:ext cx="2606040" cy="1005840"/>
          </a:xfrm>
          <a:prstGeom prst="roundRect">
            <a:avLst>
              <a:gd name="adj" fmla="val 9091"/>
            </a:avLst>
          </a:prstGeom>
          <a:solidFill>
            <a:srgbClr val="F3F4F6"/>
          </a:solidFill>
          <a:ln/>
        </p:spPr>
      </p:sp>
      <p:sp>
        <p:nvSpPr>
          <p:cNvPr id="16" name="Text 14"/>
          <p:cNvSpPr txBox="1"/>
          <p:nvPr/>
        </p:nvSpPr>
        <p:spPr>
          <a:xfrm>
            <a:off x="347472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10</a:t>
            </a:r>
            <a:endParaRPr lang="en-US" sz="3400" dirty="0"/>
          </a:p>
        </p:txBody>
      </p:sp>
      <p:sp>
        <p:nvSpPr>
          <p:cNvPr id="17" name="Text 15"/>
          <p:cNvSpPr txBox="1"/>
          <p:nvPr/>
        </p:nvSpPr>
        <p:spPr>
          <a:xfrm>
            <a:off x="438912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AWS services</a:t>
            </a:r>
            <a:endParaRPr lang="en-US" sz="1400" dirty="0"/>
          </a:p>
        </p:txBody>
      </p:sp>
      <p:sp>
        <p:nvSpPr>
          <p:cNvPr id="18" name="Shape 16"/>
          <p:cNvSpPr/>
          <p:nvPr/>
        </p:nvSpPr>
        <p:spPr>
          <a:xfrm>
            <a:off x="6035040" y="3154680"/>
            <a:ext cx="2606040" cy="1005840"/>
          </a:xfrm>
          <a:prstGeom prst="roundRect">
            <a:avLst>
              <a:gd name="adj" fmla="val 9091"/>
            </a:avLst>
          </a:prstGeom>
          <a:solidFill>
            <a:srgbClr val="F3F4F6"/>
          </a:solidFill>
          <a:ln/>
        </p:spPr>
      </p:sp>
      <p:sp>
        <p:nvSpPr>
          <p:cNvPr id="19" name="Text 17"/>
          <p:cNvSpPr txBox="1"/>
          <p:nvPr/>
        </p:nvSpPr>
        <p:spPr>
          <a:xfrm>
            <a:off x="626364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₹0</a:t>
            </a:r>
            <a:endParaRPr lang="en-US" sz="3400" dirty="0"/>
          </a:p>
        </p:txBody>
      </p:sp>
      <p:sp>
        <p:nvSpPr>
          <p:cNvPr id="20" name="Text 18"/>
          <p:cNvSpPr txBox="1"/>
          <p:nvPr/>
        </p:nvSpPr>
        <p:spPr>
          <a:xfrm>
            <a:off x="717804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cost while idle</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Security &amp; cost by design</a:t>
            </a:r>
            <a:endParaRPr lang="en-US" sz="3000" dirty="0"/>
          </a:p>
        </p:txBody>
      </p:sp>
      <p:sp>
        <p:nvSpPr>
          <p:cNvPr id="3" name="Shape 1"/>
          <p:cNvSpPr/>
          <p:nvPr/>
        </p:nvSpPr>
        <p:spPr>
          <a:xfrm>
            <a:off x="457200" y="1097280"/>
            <a:ext cx="566928" cy="566928"/>
          </a:xfrm>
          <a:prstGeom prst="ellipse">
            <a:avLst/>
          </a:prstGeom>
          <a:solidFill>
            <a:srgbClr val="FBE6D9"/>
          </a:solidFill>
          <a:ln w="12700">
            <a:solidFill>
              <a:srgbClr val="FBE6D9"/>
            </a:solidFill>
            <a:prstDash val="solid"/>
          </a:ln>
        </p:spPr>
      </p:sp>
      <p:pic>
        <p:nvPicPr>
          <p:cNvPr id="4" name="Image 0" descr="preencoded.png">    </p:cNvPr>
          <p:cNvPicPr>
            <a:picLocks noChangeAspect="1"/>
          </p:cNvPicPr>
          <p:nvPr/>
        </p:nvPicPr>
        <p:blipFill>
          <a:blip r:embed="rId1"/>
          <a:stretch>
            <a:fillRect/>
          </a:stretch>
        </p:blipFill>
        <p:spPr>
          <a:xfrm>
            <a:off x="604601" y="1244681"/>
            <a:ext cx="272125" cy="272125"/>
          </a:xfrm>
          <a:prstGeom prst="rect">
            <a:avLst/>
          </a:prstGeom>
        </p:spPr>
      </p:pic>
      <p:sp>
        <p:nvSpPr>
          <p:cNvPr id="5" name="Text 2"/>
          <p:cNvSpPr txBox="1"/>
          <p:nvPr/>
        </p:nvSpPr>
        <p:spPr>
          <a:xfrm>
            <a:off x="118872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Private storage</a:t>
            </a:r>
            <a:endParaRPr lang="en-US" sz="1500" dirty="0"/>
          </a:p>
        </p:txBody>
      </p:sp>
      <p:sp>
        <p:nvSpPr>
          <p:cNvPr id="6" name="Text 3"/>
          <p:cNvSpPr txBox="1"/>
          <p:nvPr/>
        </p:nvSpPr>
        <p:spPr>
          <a:xfrm>
            <a:off x="1188720" y="1389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S3 public access blocked, SSE-S3 encryption at rest, uploads expire after 30 days</a:t>
            </a:r>
            <a:endParaRPr lang="en-US" sz="1150" dirty="0"/>
          </a:p>
        </p:txBody>
      </p:sp>
      <p:sp>
        <p:nvSpPr>
          <p:cNvPr id="7" name="Shape 4"/>
          <p:cNvSpPr/>
          <p:nvPr/>
        </p:nvSpPr>
        <p:spPr>
          <a:xfrm>
            <a:off x="4663440" y="1097280"/>
            <a:ext cx="566928" cy="566928"/>
          </a:xfrm>
          <a:prstGeom prst="ellipse">
            <a:avLst/>
          </a:prstGeom>
          <a:solidFill>
            <a:srgbClr val="D8EFEC"/>
          </a:solidFill>
          <a:ln w="12700">
            <a:solidFill>
              <a:srgbClr val="D8EFEC"/>
            </a:solidFill>
            <a:prstDash val="solid"/>
          </a:ln>
        </p:spPr>
      </p:sp>
      <p:pic>
        <p:nvPicPr>
          <p:cNvPr id="8" name="Image 1" descr="preencoded.png">    </p:cNvPr>
          <p:cNvPicPr>
            <a:picLocks noChangeAspect="1"/>
          </p:cNvPicPr>
          <p:nvPr/>
        </p:nvPicPr>
        <p:blipFill>
          <a:blip r:embed="rId2"/>
          <a:stretch>
            <a:fillRect/>
          </a:stretch>
        </p:blipFill>
        <p:spPr>
          <a:xfrm>
            <a:off x="4810841" y="1244681"/>
            <a:ext cx="272125" cy="272125"/>
          </a:xfrm>
          <a:prstGeom prst="rect">
            <a:avLst/>
          </a:prstGeom>
        </p:spPr>
      </p:pic>
      <p:sp>
        <p:nvSpPr>
          <p:cNvPr id="9" name="Text 5"/>
          <p:cNvSpPr txBox="1"/>
          <p:nvPr/>
        </p:nvSpPr>
        <p:spPr>
          <a:xfrm>
            <a:off x="539496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Pre-signed URLs</a:t>
            </a:r>
            <a:endParaRPr lang="en-US" sz="1500" dirty="0"/>
          </a:p>
        </p:txBody>
      </p:sp>
      <p:sp>
        <p:nvSpPr>
          <p:cNvPr id="10" name="Text 6"/>
          <p:cNvSpPr txBox="1"/>
          <p:nvPr/>
        </p:nvSpPr>
        <p:spPr>
          <a:xfrm>
            <a:off x="5394960" y="1389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Browser gets 5-minute upload and 1-hour download links, never AWS keys</a:t>
            </a:r>
            <a:endParaRPr lang="en-US" sz="1150" dirty="0"/>
          </a:p>
        </p:txBody>
      </p:sp>
      <p:sp>
        <p:nvSpPr>
          <p:cNvPr id="11" name="Shape 7"/>
          <p:cNvSpPr/>
          <p:nvPr/>
        </p:nvSpPr>
        <p:spPr>
          <a:xfrm>
            <a:off x="457200" y="2240280"/>
            <a:ext cx="566928" cy="566928"/>
          </a:xfrm>
          <a:prstGeom prst="ellipse">
            <a:avLst/>
          </a:prstGeom>
          <a:solidFill>
            <a:srgbClr val="FBE6D9"/>
          </a:solidFill>
          <a:ln w="12700">
            <a:solidFill>
              <a:srgbClr val="FBE6D9"/>
            </a:solidFill>
            <a:prstDash val="solid"/>
          </a:ln>
        </p:spPr>
      </p:sp>
      <p:pic>
        <p:nvPicPr>
          <p:cNvPr id="12" name="Image 2" descr="preencoded.png">    </p:cNvPr>
          <p:cNvPicPr>
            <a:picLocks noChangeAspect="1"/>
          </p:cNvPicPr>
          <p:nvPr/>
        </p:nvPicPr>
        <p:blipFill>
          <a:blip r:embed="rId3"/>
          <a:stretch>
            <a:fillRect/>
          </a:stretch>
        </p:blipFill>
        <p:spPr>
          <a:xfrm>
            <a:off x="604601" y="2387681"/>
            <a:ext cx="272125" cy="272125"/>
          </a:xfrm>
          <a:prstGeom prst="rect">
            <a:avLst/>
          </a:prstGeom>
        </p:spPr>
      </p:pic>
      <p:sp>
        <p:nvSpPr>
          <p:cNvPr id="13" name="Text 8"/>
          <p:cNvSpPr txBox="1"/>
          <p:nvPr/>
        </p:nvSpPr>
        <p:spPr>
          <a:xfrm>
            <a:off x="1188720" y="2240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Least privilege</a:t>
            </a:r>
            <a:endParaRPr lang="en-US" sz="1500" dirty="0"/>
          </a:p>
        </p:txBody>
      </p:sp>
      <p:sp>
        <p:nvSpPr>
          <p:cNvPr id="14" name="Text 9"/>
          <p:cNvSpPr txBox="1"/>
          <p:nvPr/>
        </p:nvSpPr>
        <p:spPr>
          <a:xfrm>
            <a:off x="1188720" y="2532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Lambda role may only use one bucket, one table, and the exact AI actions</a:t>
            </a:r>
            <a:endParaRPr lang="en-US" sz="1150" dirty="0"/>
          </a:p>
        </p:txBody>
      </p:sp>
      <p:sp>
        <p:nvSpPr>
          <p:cNvPr id="15" name="Shape 10"/>
          <p:cNvSpPr/>
          <p:nvPr/>
        </p:nvSpPr>
        <p:spPr>
          <a:xfrm>
            <a:off x="4663440" y="2240280"/>
            <a:ext cx="566928" cy="566928"/>
          </a:xfrm>
          <a:prstGeom prst="ellipse">
            <a:avLst/>
          </a:prstGeom>
          <a:solidFill>
            <a:srgbClr val="D8EFEC"/>
          </a:solidFill>
          <a:ln w="12700">
            <a:solidFill>
              <a:srgbClr val="D8EFEC"/>
            </a:solidFill>
            <a:prstDash val="solid"/>
          </a:ln>
        </p:spPr>
      </p:sp>
      <p:pic>
        <p:nvPicPr>
          <p:cNvPr id="16" name="Image 3" descr="preencoded.png">    </p:cNvPr>
          <p:cNvPicPr>
            <a:picLocks noChangeAspect="1"/>
          </p:cNvPicPr>
          <p:nvPr/>
        </p:nvPicPr>
        <p:blipFill>
          <a:blip r:embed="rId4"/>
          <a:stretch>
            <a:fillRect/>
          </a:stretch>
        </p:blipFill>
        <p:spPr>
          <a:xfrm>
            <a:off x="4810841" y="2387681"/>
            <a:ext cx="272125" cy="272125"/>
          </a:xfrm>
          <a:prstGeom prst="rect">
            <a:avLst/>
          </a:prstGeom>
        </p:spPr>
      </p:pic>
      <p:sp>
        <p:nvSpPr>
          <p:cNvPr id="17" name="Text 11"/>
          <p:cNvSpPr txBox="1"/>
          <p:nvPr/>
        </p:nvSpPr>
        <p:spPr>
          <a:xfrm>
            <a:off x="5394960" y="2240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Throttling</a:t>
            </a:r>
            <a:endParaRPr lang="en-US" sz="1500" dirty="0"/>
          </a:p>
        </p:txBody>
      </p:sp>
      <p:sp>
        <p:nvSpPr>
          <p:cNvPr id="18" name="Text 12"/>
          <p:cNvSpPr txBox="1"/>
          <p:nvPr/>
        </p:nvSpPr>
        <p:spPr>
          <a:xfrm>
            <a:off x="5394960" y="2532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API Gateway limits 10 req/s (burst 20) to protect the budget</a:t>
            </a:r>
            <a:endParaRPr lang="en-US" sz="1150" dirty="0"/>
          </a:p>
        </p:txBody>
      </p:sp>
      <p:sp>
        <p:nvSpPr>
          <p:cNvPr id="19" name="Shape 13"/>
          <p:cNvSpPr/>
          <p:nvPr/>
        </p:nvSpPr>
        <p:spPr>
          <a:xfrm>
            <a:off x="457200" y="3383280"/>
            <a:ext cx="566928" cy="566928"/>
          </a:xfrm>
          <a:prstGeom prst="ellipse">
            <a:avLst/>
          </a:prstGeom>
          <a:solidFill>
            <a:srgbClr val="FBE6D9"/>
          </a:solidFill>
          <a:ln w="12700">
            <a:solidFill>
              <a:srgbClr val="FBE6D9"/>
            </a:solidFill>
            <a:prstDash val="solid"/>
          </a:ln>
        </p:spPr>
      </p:sp>
      <p:pic>
        <p:nvPicPr>
          <p:cNvPr id="20" name="Image 4" descr="preencoded.png">    </p:cNvPr>
          <p:cNvPicPr>
            <a:picLocks noChangeAspect="1"/>
          </p:cNvPicPr>
          <p:nvPr/>
        </p:nvPicPr>
        <p:blipFill>
          <a:blip r:embed="rId5"/>
          <a:stretch>
            <a:fillRect/>
          </a:stretch>
        </p:blipFill>
        <p:spPr>
          <a:xfrm>
            <a:off x="604601" y="3530681"/>
            <a:ext cx="272125" cy="272125"/>
          </a:xfrm>
          <a:prstGeom prst="rect">
            <a:avLst/>
          </a:prstGeom>
        </p:spPr>
      </p:pic>
      <p:sp>
        <p:nvSpPr>
          <p:cNvPr id="21" name="Text 14"/>
          <p:cNvSpPr txBox="1"/>
          <p:nvPr/>
        </p:nvSpPr>
        <p:spPr>
          <a:xfrm>
            <a:off x="1188720" y="3383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Cost gate</a:t>
            </a:r>
            <a:endParaRPr lang="en-US" sz="1500" dirty="0"/>
          </a:p>
        </p:txBody>
      </p:sp>
      <p:sp>
        <p:nvSpPr>
          <p:cNvPr id="22" name="Text 15"/>
          <p:cNvSpPr txBox="1"/>
          <p:nvPr/>
        </p:nvSpPr>
        <p:spPr>
          <a:xfrm>
            <a:off x="1188720" y="3675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Rekognition blocks non-document photos before any AI charge</a:t>
            </a:r>
            <a:endParaRPr lang="en-US" sz="1150" dirty="0"/>
          </a:p>
        </p:txBody>
      </p:sp>
      <p:sp>
        <p:nvSpPr>
          <p:cNvPr id="23" name="Shape 16"/>
          <p:cNvSpPr/>
          <p:nvPr/>
        </p:nvSpPr>
        <p:spPr>
          <a:xfrm>
            <a:off x="4663440" y="3383280"/>
            <a:ext cx="566928" cy="566928"/>
          </a:xfrm>
          <a:prstGeom prst="ellipse">
            <a:avLst/>
          </a:prstGeom>
          <a:solidFill>
            <a:srgbClr val="D8EFEC"/>
          </a:solidFill>
          <a:ln w="12700">
            <a:solidFill>
              <a:srgbClr val="D8EFEC"/>
            </a:solidFill>
            <a:prstDash val="solid"/>
          </a:ln>
        </p:spPr>
      </p:sp>
      <p:pic>
        <p:nvPicPr>
          <p:cNvPr id="24" name="Image 5" descr="preencoded.png">    </p:cNvPr>
          <p:cNvPicPr>
            <a:picLocks noChangeAspect="1"/>
          </p:cNvPicPr>
          <p:nvPr/>
        </p:nvPicPr>
        <p:blipFill>
          <a:blip r:embed="rId6"/>
          <a:stretch>
            <a:fillRect/>
          </a:stretch>
        </p:blipFill>
        <p:spPr>
          <a:xfrm>
            <a:off x="4810841" y="3530681"/>
            <a:ext cx="272125" cy="272125"/>
          </a:xfrm>
          <a:prstGeom prst="rect">
            <a:avLst/>
          </a:prstGeom>
        </p:spPr>
      </p:pic>
      <p:sp>
        <p:nvSpPr>
          <p:cNvPr id="25" name="Text 17"/>
          <p:cNvSpPr txBox="1"/>
          <p:nvPr/>
        </p:nvSpPr>
        <p:spPr>
          <a:xfrm>
            <a:off x="5394960" y="3383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Serverless</a:t>
            </a:r>
            <a:endParaRPr lang="en-US" sz="1500" dirty="0"/>
          </a:p>
        </p:txBody>
      </p:sp>
      <p:sp>
        <p:nvSpPr>
          <p:cNvPr id="26" name="Text 18"/>
          <p:cNvSpPr txBox="1"/>
          <p:nvPr/>
        </p:nvSpPr>
        <p:spPr>
          <a:xfrm>
            <a:off x="5394960" y="3675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No servers to patch; pay only per request</a:t>
            </a:r>
            <a:endParaRPr lang="en-US" sz="1150" dirty="0"/>
          </a:p>
        </p:txBody>
      </p:sp>
      <p:sp>
        <p:nvSpPr>
          <p:cNvPr id="27" name="Text 19"/>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Challenges solved</a:t>
            </a:r>
            <a:endParaRPr lang="en-US" sz="3000" dirty="0"/>
          </a:p>
        </p:txBody>
      </p:sp>
      <p:sp>
        <p:nvSpPr>
          <p:cNvPr id="3" name="Text 1"/>
          <p:cNvSpPr txBox="1"/>
          <p:nvPr/>
        </p:nvSpPr>
        <p:spPr>
          <a:xfrm>
            <a:off x="457200" y="1005840"/>
            <a:ext cx="3840480" cy="320040"/>
          </a:xfrm>
          <a:prstGeom prst="rect">
            <a:avLst/>
          </a:prstGeom>
          <a:noFill/>
          <a:ln/>
        </p:spPr>
        <p:txBody>
          <a:bodyPr wrap="square" lIns="0" tIns="0" rIns="0" bIns="0" rtlCol="0" anchor="ctr"/>
          <a:lstStyle/>
          <a:p>
            <a:pPr indent="0" marL="0">
              <a:buNone/>
            </a:pPr>
            <a:r>
              <a:rPr lang="en-US" sz="1400" b="1" dirty="0">
                <a:solidFill>
                  <a:srgbClr val="C2410C"/>
                </a:solidFill>
                <a:latin typeface="Cambria" pitchFamily="34" charset="0"/>
                <a:ea typeface="Cambria" pitchFamily="34" charset="-122"/>
                <a:cs typeface="Cambria" pitchFamily="34" charset="-120"/>
              </a:rPr>
              <a:t>Challenge</a:t>
            </a:r>
            <a:endParaRPr lang="en-US" sz="1400" dirty="0"/>
          </a:p>
        </p:txBody>
      </p:sp>
      <p:sp>
        <p:nvSpPr>
          <p:cNvPr id="4" name="Text 2"/>
          <p:cNvSpPr txBox="1"/>
          <p:nvPr/>
        </p:nvSpPr>
        <p:spPr>
          <a:xfrm>
            <a:off x="4846320" y="1005840"/>
            <a:ext cx="3840480" cy="320040"/>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How it was solved</a:t>
            </a:r>
            <a:endParaRPr lang="en-US" sz="1400" dirty="0"/>
          </a:p>
        </p:txBody>
      </p:sp>
      <p:sp>
        <p:nvSpPr>
          <p:cNvPr id="5" name="Shape 3"/>
          <p:cNvSpPr/>
          <p:nvPr/>
        </p:nvSpPr>
        <p:spPr>
          <a:xfrm>
            <a:off x="457200" y="1417320"/>
            <a:ext cx="3931920" cy="685800"/>
          </a:xfrm>
          <a:prstGeom prst="roundRect">
            <a:avLst>
              <a:gd name="adj" fmla="val 10667"/>
            </a:avLst>
          </a:prstGeom>
          <a:solidFill>
            <a:srgbClr val="F3F4F6"/>
          </a:solidFill>
          <a:ln/>
        </p:spPr>
      </p:sp>
      <p:sp>
        <p:nvSpPr>
          <p:cNvPr id="6" name="Shape 4"/>
          <p:cNvSpPr/>
          <p:nvPr/>
        </p:nvSpPr>
        <p:spPr>
          <a:xfrm>
            <a:off x="4754880" y="1417320"/>
            <a:ext cx="3931920" cy="685800"/>
          </a:xfrm>
          <a:prstGeom prst="roundRect">
            <a:avLst>
              <a:gd name="adj" fmla="val 10667"/>
            </a:avLst>
          </a:prstGeom>
          <a:solidFill>
            <a:srgbClr val="D8EFEC"/>
          </a:solidFill>
          <a:ln/>
        </p:spPr>
      </p:sp>
      <p:sp>
        <p:nvSpPr>
          <p:cNvPr id="7" name="Shape 5"/>
          <p:cNvSpPr/>
          <p:nvPr/>
        </p:nvSpPr>
        <p:spPr>
          <a:xfrm>
            <a:off x="4462272" y="1655064"/>
            <a:ext cx="228600" cy="219456"/>
          </a:xfrm>
          <a:prstGeom prst="rightArrow">
            <a:avLst/>
          </a:prstGeom>
          <a:solidFill>
            <a:srgbClr val="9CA3AF"/>
          </a:solidFill>
          <a:ln/>
        </p:spPr>
      </p:sp>
      <p:sp>
        <p:nvSpPr>
          <p:cNvPr id="8" name="Text 6"/>
          <p:cNvSpPr txBox="1"/>
          <p:nvPr/>
        </p:nvSpPr>
        <p:spPr>
          <a:xfrm>
            <a:off x="594360" y="1417320"/>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Textract, Translate &amp; Comprehend blocked on the AWS Free plan</a:t>
            </a:r>
            <a:endParaRPr lang="en-US" sz="1200" dirty="0"/>
          </a:p>
        </p:txBody>
      </p:sp>
      <p:sp>
        <p:nvSpPr>
          <p:cNvPr id="9" name="Text 7"/>
          <p:cNvSpPr txBox="1"/>
          <p:nvPr/>
        </p:nvSpPr>
        <p:spPr>
          <a:xfrm>
            <a:off x="4892040" y="1417320"/>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One multimodal Bedrock model reads, translates and summarises in a single call</a:t>
            </a:r>
            <a:endParaRPr lang="en-US" sz="1200" dirty="0"/>
          </a:p>
        </p:txBody>
      </p:sp>
      <p:sp>
        <p:nvSpPr>
          <p:cNvPr id="10" name="Shape 8"/>
          <p:cNvSpPr/>
          <p:nvPr/>
        </p:nvSpPr>
        <p:spPr>
          <a:xfrm>
            <a:off x="457200" y="2221992"/>
            <a:ext cx="3931920" cy="685800"/>
          </a:xfrm>
          <a:prstGeom prst="roundRect">
            <a:avLst>
              <a:gd name="adj" fmla="val 10667"/>
            </a:avLst>
          </a:prstGeom>
          <a:solidFill>
            <a:srgbClr val="F3F4F6"/>
          </a:solidFill>
          <a:ln/>
        </p:spPr>
      </p:sp>
      <p:sp>
        <p:nvSpPr>
          <p:cNvPr id="11" name="Shape 9"/>
          <p:cNvSpPr/>
          <p:nvPr/>
        </p:nvSpPr>
        <p:spPr>
          <a:xfrm>
            <a:off x="4754880" y="2221992"/>
            <a:ext cx="3931920" cy="685800"/>
          </a:xfrm>
          <a:prstGeom prst="roundRect">
            <a:avLst>
              <a:gd name="adj" fmla="val 10667"/>
            </a:avLst>
          </a:prstGeom>
          <a:solidFill>
            <a:srgbClr val="D8EFEC"/>
          </a:solidFill>
          <a:ln/>
        </p:spPr>
      </p:sp>
      <p:sp>
        <p:nvSpPr>
          <p:cNvPr id="12" name="Shape 10"/>
          <p:cNvSpPr/>
          <p:nvPr/>
        </p:nvSpPr>
        <p:spPr>
          <a:xfrm>
            <a:off x="4462272" y="2459736"/>
            <a:ext cx="228600" cy="219456"/>
          </a:xfrm>
          <a:prstGeom prst="rightArrow">
            <a:avLst/>
          </a:prstGeom>
          <a:solidFill>
            <a:srgbClr val="9CA3AF"/>
          </a:solidFill>
          <a:ln/>
        </p:spPr>
      </p:sp>
      <p:sp>
        <p:nvSpPr>
          <p:cNvPr id="13" name="Text 11"/>
          <p:cNvSpPr txBox="1"/>
          <p:nvPr/>
        </p:nvSpPr>
        <p:spPr>
          <a:xfrm>
            <a:off x="594360" y="2221992"/>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CloudFront needs account verification for new accounts</a:t>
            </a:r>
            <a:endParaRPr lang="en-US" sz="1200" dirty="0"/>
          </a:p>
        </p:txBody>
      </p:sp>
      <p:sp>
        <p:nvSpPr>
          <p:cNvPr id="14" name="Text 12"/>
          <p:cNvSpPr txBox="1"/>
          <p:nvPr/>
        </p:nvSpPr>
        <p:spPr>
          <a:xfrm>
            <a:off x="4892040" y="2221992"/>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Hosted the frontend on AWS Amplify Hosting (HTTPS + CDN)</a:t>
            </a:r>
            <a:endParaRPr lang="en-US" sz="1200" dirty="0"/>
          </a:p>
        </p:txBody>
      </p:sp>
      <p:sp>
        <p:nvSpPr>
          <p:cNvPr id="15" name="Shape 13"/>
          <p:cNvSpPr/>
          <p:nvPr/>
        </p:nvSpPr>
        <p:spPr>
          <a:xfrm>
            <a:off x="457200" y="3026664"/>
            <a:ext cx="3931920" cy="685800"/>
          </a:xfrm>
          <a:prstGeom prst="roundRect">
            <a:avLst>
              <a:gd name="adj" fmla="val 10667"/>
            </a:avLst>
          </a:prstGeom>
          <a:solidFill>
            <a:srgbClr val="F3F4F6"/>
          </a:solidFill>
          <a:ln/>
        </p:spPr>
      </p:sp>
      <p:sp>
        <p:nvSpPr>
          <p:cNvPr id="16" name="Shape 14"/>
          <p:cNvSpPr/>
          <p:nvPr/>
        </p:nvSpPr>
        <p:spPr>
          <a:xfrm>
            <a:off x="4754880" y="3026664"/>
            <a:ext cx="3931920" cy="685800"/>
          </a:xfrm>
          <a:prstGeom prst="roundRect">
            <a:avLst>
              <a:gd name="adj" fmla="val 10667"/>
            </a:avLst>
          </a:prstGeom>
          <a:solidFill>
            <a:srgbClr val="D8EFEC"/>
          </a:solidFill>
          <a:ln/>
        </p:spPr>
      </p:sp>
      <p:sp>
        <p:nvSpPr>
          <p:cNvPr id="17" name="Shape 15"/>
          <p:cNvSpPr/>
          <p:nvPr/>
        </p:nvSpPr>
        <p:spPr>
          <a:xfrm>
            <a:off x="4462272" y="3264408"/>
            <a:ext cx="228600" cy="219456"/>
          </a:xfrm>
          <a:prstGeom prst="rightArrow">
            <a:avLst/>
          </a:prstGeom>
          <a:solidFill>
            <a:srgbClr val="9CA3AF"/>
          </a:solidFill>
          <a:ln/>
        </p:spPr>
      </p:sp>
      <p:sp>
        <p:nvSpPr>
          <p:cNvPr id="18" name="Text 16"/>
          <p:cNvSpPr txBox="1"/>
          <p:nvPr/>
        </p:nvSpPr>
        <p:spPr>
          <a:xfrm>
            <a:off x="594360" y="3026664"/>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Rekognition reads Latin script only</a:t>
            </a:r>
            <a:endParaRPr lang="en-US" sz="1200" dirty="0"/>
          </a:p>
        </p:txBody>
      </p:sp>
      <p:sp>
        <p:nvSpPr>
          <p:cNvPr id="19" name="Text 17"/>
          <p:cNvSpPr txBox="1"/>
          <p:nvPr/>
        </p:nvSpPr>
        <p:spPr>
          <a:xfrm>
            <a:off x="4892040" y="3026664"/>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Used as a fast "is there text?" gate; Bedrock handles Hindi and other scripts</a:t>
            </a:r>
            <a:endParaRPr lang="en-US" sz="1200" dirty="0"/>
          </a:p>
        </p:txBody>
      </p:sp>
      <p:sp>
        <p:nvSpPr>
          <p:cNvPr id="20" name="Shape 18"/>
          <p:cNvSpPr/>
          <p:nvPr/>
        </p:nvSpPr>
        <p:spPr>
          <a:xfrm>
            <a:off x="457200" y="3831336"/>
            <a:ext cx="3931920" cy="685800"/>
          </a:xfrm>
          <a:prstGeom prst="roundRect">
            <a:avLst>
              <a:gd name="adj" fmla="val 10667"/>
            </a:avLst>
          </a:prstGeom>
          <a:solidFill>
            <a:srgbClr val="F3F4F6"/>
          </a:solidFill>
          <a:ln/>
        </p:spPr>
      </p:sp>
      <p:sp>
        <p:nvSpPr>
          <p:cNvPr id="21" name="Shape 19"/>
          <p:cNvSpPr/>
          <p:nvPr/>
        </p:nvSpPr>
        <p:spPr>
          <a:xfrm>
            <a:off x="4754880" y="3831336"/>
            <a:ext cx="3931920" cy="685800"/>
          </a:xfrm>
          <a:prstGeom prst="roundRect">
            <a:avLst>
              <a:gd name="adj" fmla="val 10667"/>
            </a:avLst>
          </a:prstGeom>
          <a:solidFill>
            <a:srgbClr val="D8EFEC"/>
          </a:solidFill>
          <a:ln/>
        </p:spPr>
      </p:sp>
      <p:sp>
        <p:nvSpPr>
          <p:cNvPr id="22" name="Shape 20"/>
          <p:cNvSpPr/>
          <p:nvPr/>
        </p:nvSpPr>
        <p:spPr>
          <a:xfrm>
            <a:off x="4462272" y="4069080"/>
            <a:ext cx="228600" cy="219456"/>
          </a:xfrm>
          <a:prstGeom prst="rightArrow">
            <a:avLst/>
          </a:prstGeom>
          <a:solidFill>
            <a:srgbClr val="9CA3AF"/>
          </a:solidFill>
          <a:ln/>
        </p:spPr>
      </p:sp>
      <p:sp>
        <p:nvSpPr>
          <p:cNvPr id="23" name="Text 21"/>
          <p:cNvSpPr txBox="1"/>
          <p:nvPr/>
        </p:nvSpPr>
        <p:spPr>
          <a:xfrm>
            <a:off x="594360" y="3831336"/>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API Gateway's 29-second limit</a:t>
            </a:r>
            <a:endParaRPr lang="en-US" sz="1200" dirty="0"/>
          </a:p>
        </p:txBody>
      </p:sp>
      <p:sp>
        <p:nvSpPr>
          <p:cNvPr id="24" name="Text 22"/>
          <p:cNvSpPr txBox="1"/>
          <p:nvPr/>
        </p:nvSpPr>
        <p:spPr>
          <a:xfrm>
            <a:off x="4892040" y="3831336"/>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Direct-to-S3 uploads and a pipeline that finishes in about 10 seconds</a:t>
            </a:r>
            <a:endParaRPr lang="en-US" sz="12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A17"/>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 &amp; future scope</a:t>
            </a:r>
            <a:endParaRPr lang="en-US" sz="3000" dirty="0"/>
          </a:p>
        </p:txBody>
      </p:sp>
      <p:sp>
        <p:nvSpPr>
          <p:cNvPr id="3" name="Text 1"/>
          <p:cNvSpPr txBox="1"/>
          <p:nvPr/>
        </p:nvSpPr>
        <p:spPr>
          <a:xfrm>
            <a:off x="457200" y="1188720"/>
            <a:ext cx="3931920" cy="320040"/>
          </a:xfrm>
          <a:prstGeom prst="rect">
            <a:avLst/>
          </a:prstGeom>
          <a:noFill/>
          <a:ln/>
        </p:spPr>
        <p:txBody>
          <a:bodyPr wrap="square" lIns="0" tIns="0" rIns="0" bIns="0" rtlCol="0" anchor="ctr"/>
          <a:lstStyle/>
          <a:p>
            <a:pPr indent="0" marL="0">
              <a:buNone/>
            </a:pPr>
            <a:r>
              <a:rPr lang="en-US" sz="1600" b="1" dirty="0">
                <a:solidFill>
                  <a:srgbClr val="F4A57C"/>
                </a:solidFill>
                <a:latin typeface="Cambria" pitchFamily="34" charset="0"/>
                <a:ea typeface="Cambria" pitchFamily="34" charset="-122"/>
                <a:cs typeface="Cambria" pitchFamily="34" charset="-120"/>
              </a:rPr>
              <a:t>What was achieved</a:t>
            </a:r>
            <a:endParaRPr lang="en-US" sz="1600" dirty="0"/>
          </a:p>
        </p:txBody>
      </p:sp>
      <p:sp>
        <p:nvSpPr>
          <p:cNvPr id="4" name="Text 2"/>
          <p:cNvSpPr txBox="1"/>
          <p:nvPr/>
        </p:nvSpPr>
        <p:spPr>
          <a:xfrm>
            <a:off x="457200" y="1600200"/>
            <a:ext cx="3931920" cy="23774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A working, deployed serverless app that turns any document photo into spoken guidance</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8 core AWS services + IAM and CloudWatch, integrated end to end</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Secure, cheap to run, and deployed with one script</a:t>
            </a:r>
            <a:endParaRPr lang="en-US" sz="1350" dirty="0"/>
          </a:p>
        </p:txBody>
      </p:sp>
      <p:sp>
        <p:nvSpPr>
          <p:cNvPr id="5" name="Text 3"/>
          <p:cNvSpPr txBox="1"/>
          <p:nvPr/>
        </p:nvSpPr>
        <p:spPr>
          <a:xfrm>
            <a:off x="4846320" y="1188720"/>
            <a:ext cx="3840480" cy="320040"/>
          </a:xfrm>
          <a:prstGeom prst="rect">
            <a:avLst/>
          </a:prstGeom>
          <a:noFill/>
          <a:ln/>
        </p:spPr>
        <p:txBody>
          <a:bodyPr wrap="square" lIns="0" tIns="0" rIns="0" bIns="0" rtlCol="0" anchor="ctr"/>
          <a:lstStyle/>
          <a:p>
            <a:pPr indent="0" marL="0">
              <a:buNone/>
            </a:pPr>
            <a:r>
              <a:rPr lang="en-US" sz="1600" b="1" dirty="0">
                <a:solidFill>
                  <a:srgbClr val="5EEAD4"/>
                </a:solidFill>
                <a:latin typeface="Cambria" pitchFamily="34" charset="0"/>
                <a:ea typeface="Cambria" pitchFamily="34" charset="-122"/>
                <a:cs typeface="Cambria" pitchFamily="34" charset="-120"/>
              </a:rPr>
              <a:t>What comes next</a:t>
            </a:r>
            <a:endParaRPr lang="en-US" sz="1600" dirty="0"/>
          </a:p>
        </p:txBody>
      </p:sp>
      <p:sp>
        <p:nvSpPr>
          <p:cNvPr id="6" name="Text 4"/>
          <p:cNvSpPr txBox="1"/>
          <p:nvPr/>
        </p:nvSpPr>
        <p:spPr>
          <a:xfrm>
            <a:off x="4846320" y="1600200"/>
            <a:ext cx="3840480" cy="23774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Multi-page PDFs with SQS / Step Functions</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More Indian-language voices and a spoken Q&amp;A mode</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Private per-user history with Amazon Cognito</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WhatsApp / IVR channel for feature phones</a:t>
            </a:r>
            <a:endParaRPr lang="en-US" sz="1350" dirty="0"/>
          </a:p>
        </p:txBody>
      </p:sp>
      <p:sp>
        <p:nvSpPr>
          <p:cNvPr id="7" name="Text 5"/>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dirty="0">
                <a:solidFill>
                  <a:srgbClr val="9CA3AF"/>
                </a:solidFill>
                <a:latin typeface="Calibri" pitchFamily="34" charset="0"/>
                <a:ea typeface="Calibri" pitchFamily="34" charset="-122"/>
                <a:cs typeface="Calibri" pitchFamily="34" charset="-120"/>
              </a:rPr>
              <a:t>Live: main.dubqxztshiysh.amplifyapp.com   ·   Code: github.com/17mohak/vaanisetu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2410C"/>
        </a:solidFill>
      </p:bgPr>
    </p:bg>
    <p:spTree>
      <p:nvGrpSpPr>
        <p:cNvPr id="1" name=""/>
        <p:cNvGrpSpPr/>
        <p:nvPr/>
      </p:nvGrpSpPr>
      <p:grpSpPr>
        <a:xfrm>
          <a:off x="0" y="0"/>
          <a:ext cx="0" cy="0"/>
          <a:chOff x="0" y="0"/>
          <a:chExt cx="0" cy="0"/>
        </a:xfrm>
      </p:grpSpPr>
      <p:sp>
        <p:nvSpPr>
          <p:cNvPr id="2" name="Text 0"/>
          <p:cNvSpPr txBox="1"/>
          <p:nvPr/>
        </p:nvSpPr>
        <p:spPr>
          <a:xfrm>
            <a:off x="457200" y="1463040"/>
            <a:ext cx="8229600"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457200" y="2468880"/>
            <a:ext cx="8229600" cy="548640"/>
          </a:xfrm>
          <a:prstGeom prst="rect">
            <a:avLst/>
          </a:prstGeom>
          <a:noFill/>
          <a:ln/>
        </p:spPr>
        <p:txBody>
          <a:bodyPr wrap="square" lIns="0" tIns="0" rIns="0" bIns="0" rtlCol="0" anchor="ctr"/>
          <a:lstStyle/>
          <a:p>
            <a:pPr algn="ctr" indent="0" marL="0">
              <a:buNone/>
            </a:pPr>
            <a:r>
              <a:rPr lang="en-US" sz="2200" dirty="0">
                <a:solidFill>
                  <a:srgbClr val="FDE7D9"/>
                </a:solidFill>
                <a:latin typeface="Calibri" pitchFamily="34" charset="0"/>
                <a:ea typeface="Calibri" pitchFamily="34" charset="-122"/>
                <a:cs typeface="Calibri" pitchFamily="34" charset="-120"/>
              </a:rPr>
              <a:t>Questions?  ·  प्रश्न?</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VaaniSetu: AI-Powered Multilingual Document Reader on AWS</dc:title>
  <dc:subject>PptxGenJS Presentation</dc:subject>
  <dc:creator>PptxGenJS</dc:creator>
  <cp:lastModifiedBy>PptxGenJS</cp:lastModifiedBy>
  <cp:revision>1</cp:revision>
  <dcterms:created xsi:type="dcterms:W3CDTF">2026-09-29T03:51:39Z</dcterms:created>
  <dcterms:modified xsi:type="dcterms:W3CDTF">2026-09-29T03:51:39Z</dcterms:modified>
</cp:coreProperties>
</file>